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a45dc37-d9d8-28d3-b671-619cbf3d825e}">
          <p14:sldIdLst>
            <p14:sldId id="256"/>
            <p14:sldId id="257"/>
            <p14:sldId id="258"/>
            <p14:sldId id="259"/>
          </p14:sldIdLst>
        </p14:section>
        <p14:section name="Design" id="{feda0a0b-a039-f478-5b26-c8fe1e9ab889}">
          <p14:sldIdLst>
            <p14:sldId id="260"/>
            <p14:sldId id="261"/>
            <p14:sldId id="262"/>
          </p14:sldIdLst>
        </p14:section>
        <p14:section name="Security and AI" id="{567123f6-3e8e-7171-5100-41ae88d6ec1e}">
          <p14:sldIdLst>
            <p14:sldId id="263"/>
            <p14:sldId id="264"/>
            <p14:sldId id="265"/>
          </p14:sldIdLst>
        </p14:section>
        <p14:section name="Demo" id="{e8897cbb-169e-d80b-32bc-997eeaeaa27a}">
          <p14:sldIdLst>
            <p14:sldId id="266"/>
          </p14:sldIdLst>
        </p14:section>
        <p14:section name="Quality and delivery" id="{4fd3e907-45a9-4a23-08da-5b37aceb6b55}">
          <p14:sldIdLst>
            <p14:sldId id="267"/>
            <p14:sldId id="268"/>
          </p14:sldIdLst>
        </p14:section>
        <p14:section name="Process" id="{4f3f65e5-a1e7-320d-75de-79e6366c819a}">
          <p14:sldIdLst>
            <p14:sldId id="269"/>
            <p14:sldId id="270"/>
          </p14:sldIdLst>
        </p14:section>
        <p14:section name="Next" id="{c62b73e2-671c-e1bf-0267-bf5b59e81653}">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ALEXA:
Hi everyone, we're Team 3, and this is our Iteration 2 review of SafeDrop.
I'm Alexa Stein, the team lead. Alex Picard, our configuration lead, and Amber Rastella, our security lead, are presenting with me today. Mateus Silva and Orelmis Toribio recorded the live demo you'll see in the middle.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ALEXA:
Before the details, a quick reminder of what SafeDrop is for.
Universities, libraries and other organizations lend out a lot of equipment: laptops, cameras, projectors, even drones. Most of them track it in spreadsheets and email. So when something goes missing, nobody can say who had unit 247, who approved it, or whether it ever came back.
SafeDrop gives an organization one shared catalogue. Members browse it and request what they need, an approver decides, and the item comes back with its condition recorded. Every step is written to an audit log.
Iteration 1 built that basic loop. Iteration 2 was about letting each organization configure it: who approves, who is allowed to borrow, and who confirms a return.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ALEXA:
We closed Iteration 1 with four promises, so here is how we did.
Configurable approvals: delivered. An organization sets a default, and any asset can override it. We had planned user tiers; they became user groups, and groups decide who can borrow restricted equipment.
The two-step return: delivered. You'll see both of these in the demo.
Finishing SR-8, the database-level protection for the audit log: still open. Amber will cover that.
And pointing the backlog is partial. Every Iteration 2 story has story points, but our tasks and the Lab 3 stories don't.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ALEXA:
These are the desirable features from our Iteration 0 roadmap. Six of the eight stories are done and merged: configurable approvals, user groups, restricted equipment, two-sided custody, AI-assisted search, and AI-recommended alternatives.
Two are not. SCRUM-147, semantic retrieval for the AI search, was marked Done on our board, but the code isn't in main. We reopened it and moved it to Iteration 3. Search telemetry, SCRUM-206, didn't start, so it moved to Iteration 3 as well.
That puts us at 30 of 48 new story points. We also merged four smaller features from Lab 3, listed at the bottom of the slide.
[HAND-OFF: "Alex, over to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ALEX:
Thanks, Alexa. Here's what that looks like in the code.
We went from 16 to 19 screens and from 29 to 48 API routes. There's one new collection, UserGroup. The request lifecycle grew from 10 transitions to 15, and we now record 25 kinds of audit event, up from 13.
The structure didn't change. Groups got the same model, repository, service and route layers as everything else. We also acted on last iteration's code feedback: the two forms that were built inside the Members page now live in their own component files.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ALEX:
In Iteration 1 we put the approval rule behind a policy interface, the Strategy pattern in our SDD, because we knew this iteration would need it. That paid off: adding configurable approvals meant adding a new policy, not rewriting the approval code.
Here's how it decides. When a member submits a request, we look at the asset. If the asset says required or auto, that's the answer. If it says inherit, we use the organization's default.
Required means the request waits in the approval queue, and the approver still can't be the person who asked. Auto means it's approved immediately.
If the mode is missing or unrecognized, we treat it as required, so the rule fails closed. And auto-approvals get their own audit action, so the log never shows an approval with no approver behind it.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ALEX:
The lifecycle grew too, and it's still one transition table that every handler goes through. The new pieces are in amber.
Return pending: the borrower says the item is back, but the unit stays checked out to them until someone else confirms. If the return is rejected, it goes back to checked out. If the borrower happens to be the only approver in the organization, they're allowed to confirm it themselves, and the audit entry records that.
Expired: if an approved item isn't picked up within the pickup window, 48 hours by default, the approval expires and the unit is released.
[HAND-OFF: "Amber, over to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AMBER:
Thanks, Alex. Groups let an organization decide who may borrow restricted equipment. In the demo, the drone is restricted to a group called Certified Drone Pilots.
The server checks eligibility twice: when the member submits the request, and again when an approver approves it. So an approver can't approve someone who isn't eligible, even through a direct API call.
Restricted items stay visible in the catalogue with a badge, so members know the item exists and whom to ask. Every group change is audited, and another organization's group IDs return 404, like every other resource.
And a deactivated member gets the same error at sign-in as a wrong password, so the response doesn't reveal anything.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AMBER:
My story this iteration was AI-assisted search, and the design rule is simple: the model only ranks.
A member types in the search bar. The API takes the organization from the login token, never from the request. The backend then picks up to 100 candidate assets from that organization only, leaving out retired items.
Only those candidates go to Microsoft Foundry, and the model's job is to put them in order. If it returns an ID that wasn't in the list, we drop it. That means a prompt-injection attempt can't pull in another organization's data.
If the model is off, slow or gives a bad answer, we fall back to plain search, so search never breaks because the model did. We log a hash of the prompt, never what the member typed. Mateus reused this pipeline for "Similar items available now."
What didn't ship is the semantic part: choosing candidates by meaning with vector search. That's SCRUM-147, and it's now in our Iteration 3 sprint.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AMBER:
On security overall, here's what held. Separation of duties now covers returns as well as approvals. New rules fail closed. AI search adds a new input path, but the model can only reorder IDs we already chose for that organization. And we re-ran our tenant-isolation tests on the new pages.
One item is still open, and it's the same one as last time: SR-8. The insert-only database role for the audit log is written and tested, but it hasn't been applied on Atlas, because we're still blocked on console access. Until it is, audit immutability depends on the application layer, which is tested and holds.
We'd rather report it as open than claim a protection that isn't switched on.
Now let's go to the demo, recorded by Orelmis and Mateus on our staging site.
[Next slide, then start the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(No one speaks. Play Demo.mp4 in full: 11 minutes 31 seconds. The chapter times on the slide match the recording.)
[When the video ends, Alex picks up on slide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ALEX:
Welcome back. On testing: 1,508 automated tests pass, 587 more than in Iteration 1. Line coverage rose to 95.2 percent on the backend and 97.8 percent on the frontend, and there are no high-severity dependency findings.
Most stories were built test-first: each acceptance criterion was committed as a failing test before the code that makes it pass.
Last time you asked us to record our manual tests properly. MT-19 through MT-35 now each have steps and an expected result. Fifteen passed and two were partial: the dashboard's available count lags after maintenance, and request dates shift between time zones. Both are logged for Iteration 3.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ALEX:
On delivery: 16 pull requests merged this iteration, and nothing was committed straight to main. Every merge deployed to staging, and the demo you just watched ran there.
A few items from last review's pipeline notes are still open. Release tags don't trigger the security scan yet. The frontend production build isn't a CI step. There's a stray dependency in both package files, and the README lists the wrong Node version. They're all small fixes.
[HAND-OFF: "Amber?"]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AMBER:
Last review gave us eight action items. Four are done: the app runs live in the demo, we opened with the vision, manual tests are recorded properly, and the Members page forms moved into their own components.
Reviews improved: every change went through a pull request.
Story points and the SPPP items are partial, and the progress report row for this iteration is still open.
[HAND-OFF: "Alexa, back to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ALEXA:
Here's how the iteration ran. We shipped 30 of 48 new story points and six of eight desirable stories, plus four Lab 3 features.
Our main lesson is that the board drifted from the code. SCRUM-147 was marked Done but wasn't in main, and two merged search tasks were still sitting in review. We fixed those for this review. SCRUM-125 still shows Done while SR-8 is open, and some Iteration 1 stories were carried into this sprint.
From now on, a story is Done only when its pull request is merged and linked on the ticket, and someone checks the board against main before every review.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ALEXA:
For the final iteration, we'll finish SR-8, ship semantic search and its telemetry, take on the optional AI features from our SPPP, starting with borrower reliability, and close the loose ends from today.
Thank you for watching. We're happy to take questions in the discussion thread.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400800" cy="566928"/>
          </a:xfrm>
          <a:prstGeom prst="rect">
            <a:avLst/>
          </a:prstGeom>
          <a:noFill/>
          <a:ln/>
        </p:spPr>
        <p:txBody>
          <a:bodyPr wrap="square" rtlCol="0"/>
          <a:lstStyle>
            <a:lvl1pPr algn="l" indent="0" marL="0">
              <a:buNone/>
              <a:defRPr lang="en-US" sz="2600" b="1" dirty="0">
                <a:solidFill>
                  <a:schemeClr val="tx1"/>
                </a:solidFill>
                <a:latin typeface="Cambria" pitchFamily="34" charset="0"/>
                <a:ea typeface="Cambria" pitchFamily="34" charset="-122"/>
                <a:cs typeface="Cambria" pitchFamily="34" charset="-120"/>
              </a:defRPr>
            </a:lvl1pPr>
          </a:lstStyle>
          <a:p>
            <a:pPr algn="l" indent="0" marL="0">
              <a:buNone/>
            </a:pPr>
            <a:r>
              <a:rPr lang="en-US" sz="2600" b="1" dirty="0">
                <a:solidFill>
                  <a:schemeClr val="tx1"/>
                </a:solidFill>
                <a:latin typeface="Cambria" pitchFamily="34" charset="0"/>
                <a:ea typeface="Cambria" pitchFamily="34" charset="-122"/>
                <a:cs typeface="Cambria" pitchFamily="34" charset="-120"/>
              </a:rPr>
              <a:t>Title</a:t>
            </a:r>
            <a:endParaRPr lang="en-US" sz="2600" dirty="0"/>
          </a:p>
        </p:txBody>
      </p:sp>
      <p:sp>
        <p:nvSpPr>
          <p:cNvPr id="3" name="Text 0"/>
          <p:cNvSpPr/>
          <p:nvPr>
            <p:ph idx="101" type="body" hasCustomPrompt="1"/>
          </p:nvPr>
        </p:nvSpPr>
        <p:spPr>
          <a:xfrm>
            <a:off x="457200" y="4645152"/>
            <a:ext cx="8229600" cy="329184"/>
          </a:xfrm>
          <a:prstGeom prst="rect">
            <a:avLst/>
          </a:prstGeom>
          <a:noFill/>
          <a:ln/>
        </p:spPr>
        <p:txBody>
          <a:bodyPr wrap="square" rtlCol="0"/>
          <a:lstStyle>
            <a:lvl1pPr indent="0" marL="0">
              <a:buNone/>
              <a:defRPr lang="en-US" sz="1000" i="1" dirty="0">
                <a:solidFill>
                  <a:schemeClr val="accent5"/>
                </a:solidFill>
                <a:latin typeface="Calibri" pitchFamily="34" charset="0"/>
                <a:ea typeface="Calibri" pitchFamily="34" charset="-122"/>
                <a:cs typeface="Calibri"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8458200" y="473659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777240"/>
            <a:ext cx="8229600" cy="548640"/>
          </a:xfrm>
          <a:prstGeom prst="rect">
            <a:avLst/>
          </a:prstGeom>
          <a:noFill/>
          <a:ln/>
        </p:spPr>
        <p:txBody>
          <a:bodyPr wrap="square" rtlCol="0"/>
          <a:lstStyle>
            <a:lvl1pPr algn="l" indent="0" marL="0">
              <a:buNone/>
              <a:defRPr lang="en-US" sz="2600" b="1" dirty="0">
                <a:solidFill>
                  <a:schemeClr val="bg1"/>
                </a:solidFill>
                <a:latin typeface="Cambria" pitchFamily="34" charset="0"/>
                <a:ea typeface="Cambria" pitchFamily="34" charset="-122"/>
                <a:cs typeface="Cambria" pitchFamily="34" charset="-120"/>
              </a:defRPr>
            </a:lvl1pPr>
          </a:lstStyle>
          <a:p>
            <a:pPr algn="l" indent="0" marL="0">
              <a:buNone/>
            </a:pPr>
            <a:r>
              <a:rPr lang="en-US" sz="2600" b="1" dirty="0">
                <a:solidFill>
                  <a:schemeClr val="bg1"/>
                </a:solidFill>
                <a:latin typeface="Cambria" pitchFamily="34" charset="0"/>
                <a:ea typeface="Cambria" pitchFamily="34" charset="-122"/>
                <a:cs typeface="Cambria" pitchFamily="34" charset="-120"/>
              </a:rPr>
              <a:t>Title</a:t>
            </a:r>
            <a:endParaRPr lang="en-US" sz="2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58200" y="473659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badge"/>
          <p:cNvSpPr/>
          <p:nvPr/>
        </p:nvSpPr>
        <p:spPr>
          <a:xfrm>
            <a:off x="457200" y="502920"/>
            <a:ext cx="2377440" cy="320040"/>
          </a:xfrm>
          <a:prstGeom prst="roundRect">
            <a:avLst>
              <a:gd name="adj" fmla="val 50000"/>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CS673  ·  ITERATION 2</a:t>
            </a:r>
            <a:endParaRPr lang="en-US" sz="1100" dirty="0"/>
          </a:p>
        </p:txBody>
      </p:sp>
      <p:sp>
        <p:nvSpPr>
          <p:cNvPr id="3" name="Text 1"/>
          <p:cNvSpPr txBox="1"/>
          <p:nvPr/>
        </p:nvSpPr>
        <p:spPr>
          <a:xfrm>
            <a:off x="457200" y="914400"/>
            <a:ext cx="8229600" cy="868680"/>
          </a:xfrm>
          <a:prstGeom prst="rect">
            <a:avLst/>
          </a:prstGeom>
          <a:noFill/>
          <a:ln/>
        </p:spPr>
        <p:txBody>
          <a:bodyPr wrap="square" lIns="0" tIns="0" rIns="0" bIns="0" rtlCol="0" anchor="ctr"/>
          <a:lstStyle/>
          <a:p>
            <a:pPr indent="0" marL="0">
              <a:buNone/>
            </a:pPr>
            <a:r>
              <a:rPr lang="en-US" sz="5400" b="1" dirty="0">
                <a:solidFill>
                  <a:schemeClr val="bg1"/>
                </a:solidFill>
                <a:latin typeface="Cambria" pitchFamily="34" charset="0"/>
                <a:ea typeface="Cambria" pitchFamily="34" charset="-122"/>
                <a:cs typeface="Cambria" pitchFamily="34" charset="-120"/>
              </a:rPr>
              <a:t>SAFEDROP</a:t>
            </a:r>
            <a:endParaRPr lang="en-US" sz="5400" dirty="0"/>
          </a:p>
        </p:txBody>
      </p:sp>
      <p:sp>
        <p:nvSpPr>
          <p:cNvPr id="4" name="Text 2"/>
          <p:cNvSpPr txBox="1"/>
          <p:nvPr/>
        </p:nvSpPr>
        <p:spPr>
          <a:xfrm>
            <a:off x="457200" y="1828800"/>
            <a:ext cx="6400800" cy="365760"/>
          </a:xfrm>
          <a:prstGeom prst="rect">
            <a:avLst/>
          </a:prstGeom>
          <a:noFill/>
          <a:ln/>
        </p:spPr>
        <p:txBody>
          <a:bodyPr wrap="square" lIns="0" tIns="0" rIns="0" bIns="0" rtlCol="0" anchor="t"/>
          <a:lstStyle/>
          <a:p>
            <a:pPr indent="0" marL="0">
              <a:buNone/>
            </a:pPr>
            <a:r>
              <a:rPr lang="en-US" sz="1800" i="1" dirty="0">
                <a:solidFill>
                  <a:schemeClr val="accent1"/>
                </a:solidFill>
                <a:latin typeface="Calibri" pitchFamily="34" charset="0"/>
                <a:ea typeface="Calibri" pitchFamily="34" charset="-122"/>
                <a:cs typeface="Calibri" pitchFamily="34" charset="-120"/>
              </a:rPr>
              <a:t>Inventory Management &amp; Checkout Service</a:t>
            </a:r>
            <a:endParaRPr lang="en-US" sz="1800" dirty="0"/>
          </a:p>
        </p:txBody>
      </p:sp>
      <p:sp>
        <p:nvSpPr>
          <p:cNvPr id="5" name="Text 3"/>
          <p:cNvSpPr txBox="1"/>
          <p:nvPr/>
        </p:nvSpPr>
        <p:spPr>
          <a:xfrm>
            <a:off x="457200" y="2212848"/>
            <a:ext cx="6400800" cy="274320"/>
          </a:xfrm>
          <a:prstGeom prst="rect">
            <a:avLst/>
          </a:prstGeom>
          <a:noFill/>
          <a:ln/>
        </p:spPr>
        <p:txBody>
          <a:bodyPr wrap="square" lIns="0" tIns="0" rIns="0" bIns="0" rtlCol="0" anchor="t"/>
          <a:lstStyle/>
          <a:p>
            <a:pPr indent="0" marL="0">
              <a:buNone/>
            </a:pPr>
            <a:r>
              <a:rPr lang="en-US" sz="1300" dirty="0">
                <a:solidFill>
                  <a:schemeClr val="accent6"/>
                </a:solidFill>
                <a:latin typeface="Calibri" pitchFamily="34" charset="0"/>
                <a:ea typeface="Calibri" pitchFamily="34" charset="-122"/>
                <a:cs typeface="Calibri" pitchFamily="34" charset="-120"/>
              </a:rPr>
              <a:t>Team 3  ·  Iteration 2 Review  ·  October 2026</a:t>
            </a:r>
            <a:endParaRPr lang="en-US" sz="1300" dirty="0"/>
          </a:p>
        </p:txBody>
      </p:sp>
      <p:sp>
        <p:nvSpPr>
          <p:cNvPr id="6" name="card"/>
          <p:cNvSpPr/>
          <p:nvPr/>
        </p:nvSpPr>
        <p:spPr>
          <a:xfrm>
            <a:off x="457200" y="2697480"/>
            <a:ext cx="1581912" cy="914400"/>
          </a:xfrm>
          <a:prstGeom prst="roundRect">
            <a:avLst>
              <a:gd name="adj" fmla="val 6000"/>
            </a:avLst>
          </a:prstGeom>
          <a:solidFill>
            <a:schemeClr val="tx2"/>
          </a:solidFill>
          <a:ln w="12700">
            <a:solidFill>
              <a:schemeClr val="tx2"/>
            </a:solidFill>
            <a:prstDash val="solid"/>
          </a:ln>
        </p:spPr>
      </p:sp>
      <p:sp>
        <p:nvSpPr>
          <p:cNvPr id="7" name="Text 5"/>
          <p:cNvSpPr txBox="1"/>
          <p:nvPr/>
        </p:nvSpPr>
        <p:spPr>
          <a:xfrm>
            <a:off x="457200" y="2862072"/>
            <a:ext cx="1581912" cy="274320"/>
          </a:xfrm>
          <a:prstGeom prst="rect">
            <a:avLst/>
          </a:prstGeom>
          <a:noFill/>
          <a:ln/>
        </p:spPr>
        <p:txBody>
          <a:bodyPr wrap="square" lIns="0" tIns="0" rIns="0" bIns="0" rtlCol="0" anchor="t"/>
          <a:lstStyle/>
          <a:p>
            <a:pPr algn="ctr" indent="0" marL="0">
              <a:buNone/>
            </a:pPr>
            <a:r>
              <a:rPr lang="en-US" sz="1200" b="1" dirty="0">
                <a:solidFill>
                  <a:schemeClr val="bg1"/>
                </a:solidFill>
                <a:latin typeface="Calibri" pitchFamily="34" charset="0"/>
                <a:ea typeface="Calibri" pitchFamily="34" charset="-122"/>
                <a:cs typeface="Calibri" pitchFamily="34" charset="-120"/>
              </a:rPr>
              <a:t>Alexa Stein</a:t>
            </a:r>
            <a:endParaRPr lang="en-US" sz="1200" dirty="0"/>
          </a:p>
        </p:txBody>
      </p:sp>
      <p:sp>
        <p:nvSpPr>
          <p:cNvPr id="8" name="Text 6"/>
          <p:cNvSpPr txBox="1"/>
          <p:nvPr/>
        </p:nvSpPr>
        <p:spPr>
          <a:xfrm>
            <a:off x="457200" y="3154680"/>
            <a:ext cx="1581912" cy="274320"/>
          </a:xfrm>
          <a:prstGeom prst="rect">
            <a:avLst/>
          </a:prstGeom>
          <a:noFill/>
          <a:ln/>
        </p:spPr>
        <p:txBody>
          <a:bodyPr wrap="square" lIns="0" tIns="0" rIns="0" bIns="0" rtlCol="0" anchor="t"/>
          <a:lstStyle/>
          <a:p>
            <a:pPr algn="ctr" indent="0" marL="0">
              <a:buNone/>
            </a:pPr>
            <a:r>
              <a:rPr lang="en-US" sz="1000" dirty="0">
                <a:solidFill>
                  <a:schemeClr val="accent1"/>
                </a:solidFill>
                <a:latin typeface="Calibri" pitchFamily="34" charset="0"/>
                <a:ea typeface="Calibri" pitchFamily="34" charset="-122"/>
                <a:cs typeface="Calibri" pitchFamily="34" charset="-120"/>
              </a:rPr>
              <a:t>Team Lead</a:t>
            </a:r>
            <a:endParaRPr lang="en-US" sz="1000" dirty="0"/>
          </a:p>
        </p:txBody>
      </p:sp>
      <p:sp>
        <p:nvSpPr>
          <p:cNvPr id="9" name="card"/>
          <p:cNvSpPr/>
          <p:nvPr/>
        </p:nvSpPr>
        <p:spPr>
          <a:xfrm>
            <a:off x="2130552" y="2697480"/>
            <a:ext cx="1581912" cy="914400"/>
          </a:xfrm>
          <a:prstGeom prst="roundRect">
            <a:avLst>
              <a:gd name="adj" fmla="val 6000"/>
            </a:avLst>
          </a:prstGeom>
          <a:solidFill>
            <a:schemeClr val="tx2"/>
          </a:solidFill>
          <a:ln w="12700">
            <a:solidFill>
              <a:schemeClr val="tx2"/>
            </a:solidFill>
            <a:prstDash val="solid"/>
          </a:ln>
        </p:spPr>
      </p:sp>
      <p:sp>
        <p:nvSpPr>
          <p:cNvPr id="10" name="Text 8"/>
          <p:cNvSpPr txBox="1"/>
          <p:nvPr/>
        </p:nvSpPr>
        <p:spPr>
          <a:xfrm>
            <a:off x="2130552" y="2862072"/>
            <a:ext cx="1581912" cy="274320"/>
          </a:xfrm>
          <a:prstGeom prst="rect">
            <a:avLst/>
          </a:prstGeom>
          <a:noFill/>
          <a:ln/>
        </p:spPr>
        <p:txBody>
          <a:bodyPr wrap="square" lIns="0" tIns="0" rIns="0" bIns="0" rtlCol="0" anchor="t"/>
          <a:lstStyle/>
          <a:p>
            <a:pPr algn="ctr" indent="0" marL="0">
              <a:buNone/>
            </a:pPr>
            <a:r>
              <a:rPr lang="en-US" sz="1200" b="1" dirty="0">
                <a:solidFill>
                  <a:schemeClr val="bg1"/>
                </a:solidFill>
                <a:latin typeface="Calibri" pitchFamily="34" charset="0"/>
                <a:ea typeface="Calibri" pitchFamily="34" charset="-122"/>
                <a:cs typeface="Calibri" pitchFamily="34" charset="-120"/>
              </a:rPr>
              <a:t>Amber Rastella</a:t>
            </a:r>
            <a:endParaRPr lang="en-US" sz="1200" dirty="0"/>
          </a:p>
        </p:txBody>
      </p:sp>
      <p:sp>
        <p:nvSpPr>
          <p:cNvPr id="11" name="Text 9"/>
          <p:cNvSpPr txBox="1"/>
          <p:nvPr/>
        </p:nvSpPr>
        <p:spPr>
          <a:xfrm>
            <a:off x="2130552" y="3154680"/>
            <a:ext cx="1581912" cy="274320"/>
          </a:xfrm>
          <a:prstGeom prst="rect">
            <a:avLst/>
          </a:prstGeom>
          <a:noFill/>
          <a:ln/>
        </p:spPr>
        <p:txBody>
          <a:bodyPr wrap="square" lIns="0" tIns="0" rIns="0" bIns="0" rtlCol="0" anchor="t"/>
          <a:lstStyle/>
          <a:p>
            <a:pPr algn="ctr" indent="0" marL="0">
              <a:buNone/>
            </a:pPr>
            <a:r>
              <a:rPr lang="en-US" sz="1000" dirty="0">
                <a:solidFill>
                  <a:schemeClr val="accent1"/>
                </a:solidFill>
                <a:latin typeface="Calibri" pitchFamily="34" charset="0"/>
                <a:ea typeface="Calibri" pitchFamily="34" charset="-122"/>
                <a:cs typeface="Calibri" pitchFamily="34" charset="-120"/>
              </a:rPr>
              <a:t>Security Lead</a:t>
            </a:r>
            <a:endParaRPr lang="en-US" sz="1000" dirty="0"/>
          </a:p>
        </p:txBody>
      </p:sp>
      <p:sp>
        <p:nvSpPr>
          <p:cNvPr id="12" name="card"/>
          <p:cNvSpPr/>
          <p:nvPr/>
        </p:nvSpPr>
        <p:spPr>
          <a:xfrm>
            <a:off x="3803904" y="2697480"/>
            <a:ext cx="1581912" cy="914400"/>
          </a:xfrm>
          <a:prstGeom prst="roundRect">
            <a:avLst>
              <a:gd name="adj" fmla="val 6000"/>
            </a:avLst>
          </a:prstGeom>
          <a:solidFill>
            <a:schemeClr val="tx2"/>
          </a:solidFill>
          <a:ln w="12700">
            <a:solidFill>
              <a:schemeClr val="tx2"/>
            </a:solidFill>
            <a:prstDash val="solid"/>
          </a:ln>
        </p:spPr>
      </p:sp>
      <p:sp>
        <p:nvSpPr>
          <p:cNvPr id="13" name="Text 11"/>
          <p:cNvSpPr txBox="1"/>
          <p:nvPr/>
        </p:nvSpPr>
        <p:spPr>
          <a:xfrm>
            <a:off x="3803904" y="2862072"/>
            <a:ext cx="1581912" cy="274320"/>
          </a:xfrm>
          <a:prstGeom prst="rect">
            <a:avLst/>
          </a:prstGeom>
          <a:noFill/>
          <a:ln/>
        </p:spPr>
        <p:txBody>
          <a:bodyPr wrap="square" lIns="0" tIns="0" rIns="0" bIns="0" rtlCol="0" anchor="t"/>
          <a:lstStyle/>
          <a:p>
            <a:pPr algn="ctr" indent="0" marL="0">
              <a:buNone/>
            </a:pPr>
            <a:r>
              <a:rPr lang="en-US" sz="1200" b="1" dirty="0">
                <a:solidFill>
                  <a:schemeClr val="bg1"/>
                </a:solidFill>
                <a:latin typeface="Calibri" pitchFamily="34" charset="0"/>
                <a:ea typeface="Calibri" pitchFamily="34" charset="-122"/>
                <a:cs typeface="Calibri" pitchFamily="34" charset="-120"/>
              </a:rPr>
              <a:t>Alex Picard</a:t>
            </a:r>
            <a:endParaRPr lang="en-US" sz="1200" dirty="0"/>
          </a:p>
        </p:txBody>
      </p:sp>
      <p:sp>
        <p:nvSpPr>
          <p:cNvPr id="14" name="Text 12"/>
          <p:cNvSpPr txBox="1"/>
          <p:nvPr/>
        </p:nvSpPr>
        <p:spPr>
          <a:xfrm>
            <a:off x="3803904" y="3154680"/>
            <a:ext cx="1581912" cy="274320"/>
          </a:xfrm>
          <a:prstGeom prst="rect">
            <a:avLst/>
          </a:prstGeom>
          <a:noFill/>
          <a:ln/>
        </p:spPr>
        <p:txBody>
          <a:bodyPr wrap="square" lIns="0" tIns="0" rIns="0" bIns="0" rtlCol="0" anchor="t"/>
          <a:lstStyle/>
          <a:p>
            <a:pPr algn="ctr" indent="0" marL="0">
              <a:buNone/>
            </a:pPr>
            <a:r>
              <a:rPr lang="en-US" sz="1000" dirty="0">
                <a:solidFill>
                  <a:schemeClr val="accent1"/>
                </a:solidFill>
                <a:latin typeface="Calibri" pitchFamily="34" charset="0"/>
                <a:ea typeface="Calibri" pitchFamily="34" charset="-122"/>
                <a:cs typeface="Calibri" pitchFamily="34" charset="-120"/>
              </a:rPr>
              <a:t>Configuration Lead</a:t>
            </a:r>
            <a:endParaRPr lang="en-US" sz="1000" dirty="0"/>
          </a:p>
        </p:txBody>
      </p:sp>
      <p:sp>
        <p:nvSpPr>
          <p:cNvPr id="15" name="card"/>
          <p:cNvSpPr/>
          <p:nvPr/>
        </p:nvSpPr>
        <p:spPr>
          <a:xfrm>
            <a:off x="5477256" y="2697480"/>
            <a:ext cx="1581912" cy="914400"/>
          </a:xfrm>
          <a:prstGeom prst="roundRect">
            <a:avLst>
              <a:gd name="adj" fmla="val 6000"/>
            </a:avLst>
          </a:prstGeom>
          <a:solidFill>
            <a:schemeClr val="tx2"/>
          </a:solidFill>
          <a:ln w="12700">
            <a:solidFill>
              <a:schemeClr val="tx2"/>
            </a:solidFill>
            <a:prstDash val="solid"/>
          </a:ln>
        </p:spPr>
      </p:sp>
      <p:sp>
        <p:nvSpPr>
          <p:cNvPr id="16" name="Text 14"/>
          <p:cNvSpPr txBox="1"/>
          <p:nvPr/>
        </p:nvSpPr>
        <p:spPr>
          <a:xfrm>
            <a:off x="5477256" y="2862072"/>
            <a:ext cx="1581912" cy="274320"/>
          </a:xfrm>
          <a:prstGeom prst="rect">
            <a:avLst/>
          </a:prstGeom>
          <a:noFill/>
          <a:ln/>
        </p:spPr>
        <p:txBody>
          <a:bodyPr wrap="square" lIns="0" tIns="0" rIns="0" bIns="0" rtlCol="0" anchor="t"/>
          <a:lstStyle/>
          <a:p>
            <a:pPr algn="ctr" indent="0" marL="0">
              <a:buNone/>
            </a:pPr>
            <a:r>
              <a:rPr lang="en-US" sz="1200" b="1" dirty="0">
                <a:solidFill>
                  <a:schemeClr val="bg1"/>
                </a:solidFill>
                <a:latin typeface="Calibri" pitchFamily="34" charset="0"/>
                <a:ea typeface="Calibri" pitchFamily="34" charset="-122"/>
                <a:cs typeface="Calibri" pitchFamily="34" charset="-120"/>
              </a:rPr>
              <a:t>Mateus Silva</a:t>
            </a:r>
            <a:endParaRPr lang="en-US" sz="1200" dirty="0"/>
          </a:p>
        </p:txBody>
      </p:sp>
      <p:sp>
        <p:nvSpPr>
          <p:cNvPr id="17" name="Text 15"/>
          <p:cNvSpPr txBox="1"/>
          <p:nvPr/>
        </p:nvSpPr>
        <p:spPr>
          <a:xfrm>
            <a:off x="5477256" y="3154680"/>
            <a:ext cx="1581912" cy="274320"/>
          </a:xfrm>
          <a:prstGeom prst="rect">
            <a:avLst/>
          </a:prstGeom>
          <a:noFill/>
          <a:ln/>
        </p:spPr>
        <p:txBody>
          <a:bodyPr wrap="square" lIns="0" tIns="0" rIns="0" bIns="0" rtlCol="0" anchor="t"/>
          <a:lstStyle/>
          <a:p>
            <a:pPr algn="ctr" indent="0" marL="0">
              <a:buNone/>
            </a:pPr>
            <a:r>
              <a:rPr lang="en-US" sz="1000" dirty="0">
                <a:solidFill>
                  <a:schemeClr val="accent1"/>
                </a:solidFill>
                <a:latin typeface="Calibri" pitchFamily="34" charset="0"/>
                <a:ea typeface="Calibri" pitchFamily="34" charset="-122"/>
                <a:cs typeface="Calibri" pitchFamily="34" charset="-120"/>
              </a:rPr>
              <a:t>Requirements Lead</a:t>
            </a:r>
            <a:endParaRPr lang="en-US" sz="1000" dirty="0"/>
          </a:p>
        </p:txBody>
      </p:sp>
      <p:sp>
        <p:nvSpPr>
          <p:cNvPr id="18" name="card"/>
          <p:cNvSpPr/>
          <p:nvPr/>
        </p:nvSpPr>
        <p:spPr>
          <a:xfrm>
            <a:off x="7150608" y="2697480"/>
            <a:ext cx="1581912" cy="914400"/>
          </a:xfrm>
          <a:prstGeom prst="roundRect">
            <a:avLst>
              <a:gd name="adj" fmla="val 6000"/>
            </a:avLst>
          </a:prstGeom>
          <a:solidFill>
            <a:schemeClr val="tx2"/>
          </a:solidFill>
          <a:ln w="12700">
            <a:solidFill>
              <a:schemeClr val="tx2"/>
            </a:solidFill>
            <a:prstDash val="solid"/>
          </a:ln>
        </p:spPr>
      </p:sp>
      <p:sp>
        <p:nvSpPr>
          <p:cNvPr id="19" name="Text 17"/>
          <p:cNvSpPr txBox="1"/>
          <p:nvPr/>
        </p:nvSpPr>
        <p:spPr>
          <a:xfrm>
            <a:off x="7150608" y="2862072"/>
            <a:ext cx="1581912" cy="274320"/>
          </a:xfrm>
          <a:prstGeom prst="rect">
            <a:avLst/>
          </a:prstGeom>
          <a:noFill/>
          <a:ln/>
        </p:spPr>
        <p:txBody>
          <a:bodyPr wrap="square" lIns="0" tIns="0" rIns="0" bIns="0" rtlCol="0" anchor="t"/>
          <a:lstStyle/>
          <a:p>
            <a:pPr algn="ctr" indent="0" marL="0">
              <a:buNone/>
            </a:pPr>
            <a:r>
              <a:rPr lang="en-US" sz="1200" b="1" dirty="0">
                <a:solidFill>
                  <a:schemeClr val="bg1"/>
                </a:solidFill>
                <a:latin typeface="Calibri" pitchFamily="34" charset="0"/>
                <a:ea typeface="Calibri" pitchFamily="34" charset="-122"/>
                <a:cs typeface="Calibri" pitchFamily="34" charset="-120"/>
              </a:rPr>
              <a:t>Orelmis Toribio</a:t>
            </a:r>
            <a:endParaRPr lang="en-US" sz="1200" dirty="0"/>
          </a:p>
        </p:txBody>
      </p:sp>
      <p:sp>
        <p:nvSpPr>
          <p:cNvPr id="20" name="Text 18"/>
          <p:cNvSpPr txBox="1"/>
          <p:nvPr/>
        </p:nvSpPr>
        <p:spPr>
          <a:xfrm>
            <a:off x="7150608" y="3154680"/>
            <a:ext cx="1581912" cy="274320"/>
          </a:xfrm>
          <a:prstGeom prst="rect">
            <a:avLst/>
          </a:prstGeom>
          <a:noFill/>
          <a:ln/>
        </p:spPr>
        <p:txBody>
          <a:bodyPr wrap="square" lIns="0" tIns="0" rIns="0" bIns="0" rtlCol="0" anchor="t"/>
          <a:lstStyle/>
          <a:p>
            <a:pPr algn="ctr" indent="0" marL="0">
              <a:buNone/>
            </a:pPr>
            <a:r>
              <a:rPr lang="en-US" sz="1000" dirty="0">
                <a:solidFill>
                  <a:schemeClr val="accent1"/>
                </a:solidFill>
                <a:latin typeface="Calibri" pitchFamily="34" charset="0"/>
                <a:ea typeface="Calibri" pitchFamily="34" charset="-122"/>
                <a:cs typeface="Calibri" pitchFamily="34" charset="-120"/>
              </a:rPr>
              <a:t>QA Lead</a:t>
            </a:r>
            <a:endParaRPr lang="en-US" sz="1000" dirty="0"/>
          </a:p>
        </p:txBody>
      </p:sp>
      <p:sp>
        <p:nvSpPr>
          <p:cNvPr id="21" name="Text 19"/>
          <p:cNvSpPr txBox="1"/>
          <p:nvPr/>
        </p:nvSpPr>
        <p:spPr>
          <a:xfrm>
            <a:off x="457200" y="3840480"/>
            <a:ext cx="8229600" cy="274320"/>
          </a:xfrm>
          <a:prstGeom prst="rect">
            <a:avLst/>
          </a:prstGeom>
          <a:noFill/>
          <a:ln/>
        </p:spPr>
        <p:txBody>
          <a:bodyPr wrap="square" lIns="0" tIns="0" rIns="0" bIns="0" rtlCol="0" anchor="t"/>
          <a:lstStyle/>
          <a:p>
            <a:pPr indent="0" marL="0">
              <a:buNone/>
            </a:pPr>
            <a:r>
              <a:rPr lang="en-US" sz="1100" dirty="0">
                <a:solidFill>
                  <a:schemeClr val="accent6"/>
                </a:solidFill>
                <a:latin typeface="Calibri" pitchFamily="34" charset="0"/>
                <a:ea typeface="Calibri" pitchFamily="34" charset="-122"/>
                <a:cs typeface="Calibri" pitchFamily="34" charset="-120"/>
              </a:rPr>
              <a:t>Presented by Alexa, Alex and Amber  ·  Demo recorded by Orelmis and Mateus</a:t>
            </a:r>
            <a:endParaRPr lang="en-US" sz="1100" dirty="0"/>
          </a:p>
        </p:txBody>
      </p:sp>
      <p:sp>
        <p:nvSpPr>
          <p:cNvPr id="22" name="Text 20"/>
          <p:cNvSpPr txBox="1"/>
          <p:nvPr/>
        </p:nvSpPr>
        <p:spPr>
          <a:xfrm>
            <a:off x="457200" y="4160520"/>
            <a:ext cx="8229600" cy="274320"/>
          </a:xfrm>
          <a:prstGeom prst="rect">
            <a:avLst/>
          </a:prstGeom>
          <a:noFill/>
          <a:ln/>
        </p:spPr>
        <p:txBody>
          <a:bodyPr wrap="square" lIns="0" tIns="0" rIns="0" bIns="0" rtlCol="0" anchor="t"/>
          <a:lstStyle/>
          <a:p>
            <a:pPr indent="0" marL="0">
              <a:buNone/>
            </a:pPr>
            <a:r>
              <a:rPr lang="en-US" sz="1000" dirty="0">
                <a:solidFill>
                  <a:schemeClr val="accent5"/>
                </a:solidFill>
                <a:latin typeface="Calibri" pitchFamily="34" charset="0"/>
                <a:ea typeface="Calibri" pitchFamily="34" charset="-122"/>
                <a:cs typeface="Calibri" pitchFamily="34" charset="-120"/>
              </a:rPr>
              <a:t>github.com/BUMETCS673/CS673OLF26P3</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400800" cy="566928"/>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Know Where Your Equipment Is</a:t>
            </a:r>
            <a:endParaRPr lang="en-US" sz="2600" dirty="0"/>
          </a:p>
        </p:txBody>
      </p:sp>
      <p:sp>
        <p:nvSpPr>
          <p:cNvPr id="3" name="Text 0"/>
          <p:cNvSpPr/>
          <p:nvPr>
            <p:ph idx="101" type="body" hasCustomPrompt="1"/>
          </p:nvPr>
        </p:nvSpPr>
        <p:spPr>
          <a:xfrm>
            <a:off x="457200" y="4645152"/>
            <a:ext cx="8229600" cy="329184"/>
          </a:xfrm>
          <a:prstGeom prst="rect">
            <a:avLst/>
          </a:prstGeom>
          <a:noFill/>
          <a:ln/>
        </p:spPr>
        <p:txBody>
          <a:bodyPr wrap="square" lIns="0" tIns="0" rIns="0" bIns="0" rtlCol="0" anchor="ctr"/>
          <a:lstStyle/>
          <a:p>
            <a:pPr indent="0" marL="0">
              <a:buNone/>
            </a:pPr>
            <a:r>
              <a:rPr lang="en-US" sz="1000" i="1" dirty="0">
                <a:solidFill>
                  <a:schemeClr val="accent5"/>
                </a:solidFill>
                <a:latin typeface="Calibri" pitchFamily="34" charset="0"/>
                <a:ea typeface="Calibri" pitchFamily="34" charset="-122"/>
                <a:cs typeface="Calibri" pitchFamily="34" charset="-120"/>
              </a:rPr>
              <a:t>Feedback from Iteration 1 asked us to open with the vision. Customers named in our SPPP: universities, libraries and other organizations that lend physical equipment.</a:t>
            </a:r>
            <a:endParaRPr lang="en-US" sz="1000" dirty="0"/>
          </a:p>
        </p:txBody>
      </p:sp>
      <p:sp>
        <p:nvSpPr>
          <p:cNvPr id="4" name="speaker"/>
          <p:cNvSpPr/>
          <p:nvPr/>
        </p:nvSpPr>
        <p:spPr>
          <a:xfrm>
            <a:off x="6949440" y="301752"/>
            <a:ext cx="1737360" cy="429768"/>
          </a:xfrm>
          <a:prstGeom prst="roundRect">
            <a:avLst>
              <a:gd name="adj" fmla="val 17021"/>
            </a:avLst>
          </a:prstGeom>
          <a:solidFill>
            <a:schemeClr val="tx1"/>
          </a:solidFill>
          <a:ln>
            <a:solidFill>
              <a:schemeClr val="tx1"/>
            </a:solid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Alexa</a:t>
            </a:r>
            <a:endParaRPr lang="en-US" sz="1200" dirty="0"/>
          </a:p>
        </p:txBody>
      </p:sp>
      <p:sp>
        <p:nvSpPr>
          <p:cNvPr id="5" name="card"/>
          <p:cNvSpPr/>
          <p:nvPr/>
        </p:nvSpPr>
        <p:spPr>
          <a:xfrm>
            <a:off x="457200" y="960120"/>
            <a:ext cx="3931920" cy="1417320"/>
          </a:xfrm>
          <a:prstGeom prst="roundRect">
            <a:avLst>
              <a:gd name="adj" fmla="val 3871"/>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6" name="Text 4"/>
          <p:cNvSpPr txBox="1"/>
          <p:nvPr/>
        </p:nvSpPr>
        <p:spPr>
          <a:xfrm>
            <a:off x="658368" y="1078992"/>
            <a:ext cx="3566160" cy="292608"/>
          </a:xfrm>
          <a:prstGeom prst="rect">
            <a:avLst/>
          </a:prstGeom>
          <a:noFill/>
          <a:ln/>
        </p:spPr>
        <p:txBody>
          <a:bodyPr wrap="square" lIns="0" tIns="0" rIns="0" bIns="0" rtlCol="0" anchor="t"/>
          <a:lstStyle/>
          <a:p>
            <a:pPr indent="0" marL="0">
              <a:buNone/>
            </a:pPr>
            <a:r>
              <a:rPr lang="en-US" sz="1400" b="1" dirty="0">
                <a:solidFill>
                  <a:schemeClr val="tx1"/>
                </a:solidFill>
                <a:latin typeface="Cambria" pitchFamily="34" charset="0"/>
                <a:ea typeface="Cambria" pitchFamily="34" charset="-122"/>
                <a:cs typeface="Cambria" pitchFamily="34" charset="-120"/>
              </a:rPr>
              <a:t>The problem</a:t>
            </a:r>
            <a:endParaRPr lang="en-US" sz="1400" dirty="0"/>
          </a:p>
        </p:txBody>
      </p:sp>
      <p:sp>
        <p:nvSpPr>
          <p:cNvPr id="7" name="Text 5"/>
          <p:cNvSpPr txBox="1"/>
          <p:nvPr/>
        </p:nvSpPr>
        <p:spPr>
          <a:xfrm>
            <a:off x="658368" y="1389888"/>
            <a:ext cx="3566160" cy="914400"/>
          </a:xfrm>
          <a:prstGeom prst="rect">
            <a:avLst/>
          </a:prstGeom>
          <a:noFill/>
          <a:ln/>
        </p:spPr>
        <p:txBody>
          <a:bodyPr wrap="square" lIns="0" tIns="0" rIns="0" bIns="0" rtlCol="0" anchor="t"/>
          <a:lstStyle/>
          <a:p>
            <a:pPr indent="0" marL="0">
              <a:buNone/>
            </a:pPr>
            <a:r>
              <a:rPr lang="en-US" sz="1150" dirty="0">
                <a:solidFill>
                  <a:schemeClr val="tx1"/>
                </a:solidFill>
                <a:latin typeface="Calibri" pitchFamily="34" charset="0"/>
                <a:ea typeface="Calibri" pitchFamily="34" charset="-122"/>
                <a:cs typeface="Calibri" pitchFamily="34" charset="-120"/>
              </a:rPr>
              <a:t>Organizations lend laptops, cameras, projectors and drones, and track them in spreadsheets and email. When something goes missing, nobody can say who had unit #247, who approved it, or whether it came back.</a:t>
            </a:r>
            <a:endParaRPr lang="en-US" sz="1150" dirty="0"/>
          </a:p>
        </p:txBody>
      </p:sp>
      <p:sp>
        <p:nvSpPr>
          <p:cNvPr id="8" name="card"/>
          <p:cNvSpPr/>
          <p:nvPr/>
        </p:nvSpPr>
        <p:spPr>
          <a:xfrm>
            <a:off x="457200" y="2514600"/>
            <a:ext cx="3931920" cy="2011680"/>
          </a:xfrm>
          <a:prstGeom prst="roundRect">
            <a:avLst>
              <a:gd name="adj" fmla="val 2727"/>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9" name="Text 7"/>
          <p:cNvSpPr txBox="1"/>
          <p:nvPr/>
        </p:nvSpPr>
        <p:spPr>
          <a:xfrm>
            <a:off x="658368" y="2633472"/>
            <a:ext cx="3566160" cy="292608"/>
          </a:xfrm>
          <a:prstGeom prst="rect">
            <a:avLst/>
          </a:prstGeom>
          <a:noFill/>
          <a:ln/>
        </p:spPr>
        <p:txBody>
          <a:bodyPr wrap="square" lIns="0" tIns="0" rIns="0" bIns="0" rtlCol="0" anchor="t"/>
          <a:lstStyle/>
          <a:p>
            <a:pPr indent="0" marL="0">
              <a:buNone/>
            </a:pPr>
            <a:r>
              <a:rPr lang="en-US" sz="1400" b="1" dirty="0">
                <a:solidFill>
                  <a:schemeClr val="tx1"/>
                </a:solidFill>
                <a:latin typeface="Cambria" pitchFamily="34" charset="0"/>
                <a:ea typeface="Cambria" pitchFamily="34" charset="-122"/>
                <a:cs typeface="Cambria" pitchFamily="34" charset="-120"/>
              </a:rPr>
              <a:t>What SafeDrop is</a:t>
            </a:r>
            <a:endParaRPr lang="en-US" sz="1400" dirty="0"/>
          </a:p>
        </p:txBody>
      </p:sp>
      <p:sp>
        <p:nvSpPr>
          <p:cNvPr id="10" name="step-number"/>
          <p:cNvSpPr/>
          <p:nvPr/>
        </p:nvSpPr>
        <p:spPr>
          <a:xfrm>
            <a:off x="658368" y="2990088"/>
            <a:ext cx="256032" cy="256032"/>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000" b="1" dirty="0">
                <a:solidFill>
                  <a:schemeClr val="tx1"/>
                </a:solidFill>
                <a:latin typeface="Calibri" pitchFamily="34" charset="0"/>
                <a:ea typeface="Calibri" pitchFamily="34" charset="-122"/>
                <a:cs typeface="Calibri" pitchFamily="34" charset="-120"/>
              </a:rPr>
              <a:t>1</a:t>
            </a:r>
            <a:endParaRPr lang="en-US" sz="1000" dirty="0"/>
          </a:p>
        </p:txBody>
      </p:sp>
      <p:sp>
        <p:nvSpPr>
          <p:cNvPr id="11" name="Text 9"/>
          <p:cNvSpPr txBox="1"/>
          <p:nvPr/>
        </p:nvSpPr>
        <p:spPr>
          <a:xfrm>
            <a:off x="1005840" y="3008376"/>
            <a:ext cx="3291840" cy="256032"/>
          </a:xfrm>
          <a:prstGeom prst="rect">
            <a:avLst/>
          </a:prstGeom>
          <a:noFill/>
          <a:ln/>
        </p:spPr>
        <p:txBody>
          <a:bodyPr wrap="square" lIns="0" tIns="0" rIns="0" bIns="0" rtlCol="0" anchor="t"/>
          <a:lstStyle/>
          <a:p>
            <a:pPr indent="0" marL="0">
              <a:buNone/>
            </a:pPr>
            <a:r>
              <a:rPr lang="en-US" sz="1150" b="1" dirty="0">
                <a:solidFill>
                  <a:schemeClr val="tx1"/>
                </a:solidFill>
                <a:latin typeface="Calibri" pitchFamily="34" charset="0"/>
                <a:ea typeface="Calibri" pitchFamily="34" charset="-122"/>
                <a:cs typeface="Calibri" pitchFamily="34" charset="-120"/>
              </a:rPr>
              <a:t>Browse  </a:t>
            </a:r>
            <a:pPr indent="0" marL="0">
              <a:buNone/>
            </a:pPr>
            <a:r>
              <a:rPr lang="en-US" sz="1150" dirty="0">
                <a:solidFill>
                  <a:schemeClr val="tx1"/>
                </a:solidFill>
                <a:latin typeface="Calibri" pitchFamily="34" charset="0"/>
                <a:ea typeface="Calibri" pitchFamily="34" charset="-122"/>
                <a:cs typeface="Calibri" pitchFamily="34" charset="-120"/>
              </a:rPr>
              <a:t>a shared catalogue, down to each unit</a:t>
            </a:r>
            <a:endParaRPr lang="en-US" sz="1150" dirty="0"/>
          </a:p>
        </p:txBody>
      </p:sp>
      <p:sp>
        <p:nvSpPr>
          <p:cNvPr id="12" name="step-number"/>
          <p:cNvSpPr/>
          <p:nvPr/>
        </p:nvSpPr>
        <p:spPr>
          <a:xfrm>
            <a:off x="658368" y="3355848"/>
            <a:ext cx="256032" cy="256032"/>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000" b="1" dirty="0">
                <a:solidFill>
                  <a:schemeClr val="tx1"/>
                </a:solidFill>
                <a:latin typeface="Calibri" pitchFamily="34" charset="0"/>
                <a:ea typeface="Calibri" pitchFamily="34" charset="-122"/>
                <a:cs typeface="Calibri" pitchFamily="34" charset="-120"/>
              </a:rPr>
              <a:t>2</a:t>
            </a:r>
            <a:endParaRPr lang="en-US" sz="1000" dirty="0"/>
          </a:p>
        </p:txBody>
      </p:sp>
      <p:sp>
        <p:nvSpPr>
          <p:cNvPr id="13" name="Text 11"/>
          <p:cNvSpPr txBox="1"/>
          <p:nvPr/>
        </p:nvSpPr>
        <p:spPr>
          <a:xfrm>
            <a:off x="1005840" y="3374136"/>
            <a:ext cx="3291840" cy="256032"/>
          </a:xfrm>
          <a:prstGeom prst="rect">
            <a:avLst/>
          </a:prstGeom>
          <a:noFill/>
          <a:ln/>
        </p:spPr>
        <p:txBody>
          <a:bodyPr wrap="square" lIns="0" tIns="0" rIns="0" bIns="0" rtlCol="0" anchor="t"/>
          <a:lstStyle/>
          <a:p>
            <a:pPr indent="0" marL="0">
              <a:buNone/>
            </a:pPr>
            <a:r>
              <a:rPr lang="en-US" sz="1150" b="1" dirty="0">
                <a:solidFill>
                  <a:schemeClr val="tx1"/>
                </a:solidFill>
                <a:latin typeface="Calibri" pitchFamily="34" charset="0"/>
                <a:ea typeface="Calibri" pitchFamily="34" charset="-122"/>
                <a:cs typeface="Calibri" pitchFamily="34" charset="-120"/>
              </a:rPr>
              <a:t>Request  </a:t>
            </a:r>
            <a:pPr indent="0" marL="0">
              <a:buNone/>
            </a:pPr>
            <a:r>
              <a:rPr lang="en-US" sz="1150" dirty="0">
                <a:solidFill>
                  <a:schemeClr val="tx1"/>
                </a:solidFill>
                <a:latin typeface="Calibri" pitchFamily="34" charset="0"/>
                <a:ea typeface="Calibri" pitchFamily="34" charset="-122"/>
                <a:cs typeface="Calibri" pitchFamily="34" charset="-120"/>
              </a:rPr>
              <a:t>the dates you need it</a:t>
            </a:r>
            <a:endParaRPr lang="en-US" sz="1150" dirty="0"/>
          </a:p>
        </p:txBody>
      </p:sp>
      <p:sp>
        <p:nvSpPr>
          <p:cNvPr id="14" name="step-number"/>
          <p:cNvSpPr/>
          <p:nvPr/>
        </p:nvSpPr>
        <p:spPr>
          <a:xfrm>
            <a:off x="658368" y="3721608"/>
            <a:ext cx="256032" cy="256032"/>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000" b="1" dirty="0">
                <a:solidFill>
                  <a:schemeClr val="tx1"/>
                </a:solidFill>
                <a:latin typeface="Calibri" pitchFamily="34" charset="0"/>
                <a:ea typeface="Calibri" pitchFamily="34" charset="-122"/>
                <a:cs typeface="Calibri" pitchFamily="34" charset="-120"/>
              </a:rPr>
              <a:t>3</a:t>
            </a:r>
            <a:endParaRPr lang="en-US" sz="1000" dirty="0"/>
          </a:p>
        </p:txBody>
      </p:sp>
      <p:sp>
        <p:nvSpPr>
          <p:cNvPr id="15" name="Text 13"/>
          <p:cNvSpPr txBox="1"/>
          <p:nvPr/>
        </p:nvSpPr>
        <p:spPr>
          <a:xfrm>
            <a:off x="1005840" y="3739896"/>
            <a:ext cx="3291840" cy="256032"/>
          </a:xfrm>
          <a:prstGeom prst="rect">
            <a:avLst/>
          </a:prstGeom>
          <a:noFill/>
          <a:ln/>
        </p:spPr>
        <p:txBody>
          <a:bodyPr wrap="square" lIns="0" tIns="0" rIns="0" bIns="0" rtlCol="0" anchor="t"/>
          <a:lstStyle/>
          <a:p>
            <a:pPr indent="0" marL="0">
              <a:buNone/>
            </a:pPr>
            <a:r>
              <a:rPr lang="en-US" sz="1150" b="1" dirty="0">
                <a:solidFill>
                  <a:schemeClr val="tx1"/>
                </a:solidFill>
                <a:latin typeface="Calibri" pitchFamily="34" charset="0"/>
                <a:ea typeface="Calibri" pitchFamily="34" charset="-122"/>
                <a:cs typeface="Calibri" pitchFamily="34" charset="-120"/>
              </a:rPr>
              <a:t>Approve  </a:t>
            </a:r>
            <a:pPr indent="0" marL="0">
              <a:buNone/>
            </a:pPr>
            <a:r>
              <a:rPr lang="en-US" sz="1150" dirty="0">
                <a:solidFill>
                  <a:schemeClr val="tx1"/>
                </a:solidFill>
                <a:latin typeface="Calibri" pitchFamily="34" charset="0"/>
                <a:ea typeface="Calibri" pitchFamily="34" charset="-122"/>
                <a:cs typeface="Calibri" pitchFamily="34" charset="-120"/>
              </a:rPr>
              <a:t>by the rules your organization sets</a:t>
            </a:r>
            <a:endParaRPr lang="en-US" sz="1150" dirty="0"/>
          </a:p>
        </p:txBody>
      </p:sp>
      <p:sp>
        <p:nvSpPr>
          <p:cNvPr id="16" name="step-number"/>
          <p:cNvSpPr/>
          <p:nvPr/>
        </p:nvSpPr>
        <p:spPr>
          <a:xfrm>
            <a:off x="658368" y="4087368"/>
            <a:ext cx="256032" cy="256032"/>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000" b="1" dirty="0">
                <a:solidFill>
                  <a:schemeClr val="tx1"/>
                </a:solidFill>
                <a:latin typeface="Calibri" pitchFamily="34" charset="0"/>
                <a:ea typeface="Calibri" pitchFamily="34" charset="-122"/>
                <a:cs typeface="Calibri" pitchFamily="34" charset="-120"/>
              </a:rPr>
              <a:t>4</a:t>
            </a:r>
            <a:endParaRPr lang="en-US" sz="1000" dirty="0"/>
          </a:p>
        </p:txBody>
      </p:sp>
      <p:sp>
        <p:nvSpPr>
          <p:cNvPr id="17" name="Text 15"/>
          <p:cNvSpPr txBox="1"/>
          <p:nvPr/>
        </p:nvSpPr>
        <p:spPr>
          <a:xfrm>
            <a:off x="1005840" y="4105656"/>
            <a:ext cx="3291840" cy="256032"/>
          </a:xfrm>
          <a:prstGeom prst="rect">
            <a:avLst/>
          </a:prstGeom>
          <a:noFill/>
          <a:ln/>
        </p:spPr>
        <p:txBody>
          <a:bodyPr wrap="square" lIns="0" tIns="0" rIns="0" bIns="0" rtlCol="0" anchor="t"/>
          <a:lstStyle/>
          <a:p>
            <a:pPr indent="0" marL="0">
              <a:buNone/>
            </a:pPr>
            <a:r>
              <a:rPr lang="en-US" sz="1150" b="1" dirty="0">
                <a:solidFill>
                  <a:schemeClr val="tx1"/>
                </a:solidFill>
                <a:latin typeface="Calibri" pitchFamily="34" charset="0"/>
                <a:ea typeface="Calibri" pitchFamily="34" charset="-122"/>
                <a:cs typeface="Calibri" pitchFamily="34" charset="-120"/>
              </a:rPr>
              <a:t>Return  </a:t>
            </a:r>
            <a:pPr indent="0" marL="0">
              <a:buNone/>
            </a:pPr>
            <a:r>
              <a:rPr lang="en-US" sz="1150" dirty="0">
                <a:solidFill>
                  <a:schemeClr val="tx1"/>
                </a:solidFill>
                <a:latin typeface="Calibri" pitchFamily="34" charset="0"/>
                <a:ea typeface="Calibri" pitchFamily="34" charset="-122"/>
                <a:cs typeface="Calibri" pitchFamily="34" charset="-120"/>
              </a:rPr>
              <a:t>with its condition recorded</a:t>
            </a:r>
            <a:endParaRPr lang="en-US" sz="1150" dirty="0"/>
          </a:p>
        </p:txBody>
      </p:sp>
      <p:sp>
        <p:nvSpPr>
          <p:cNvPr id="18" name="screenshot-frame"/>
          <p:cNvSpPr/>
          <p:nvPr/>
        </p:nvSpPr>
        <p:spPr>
          <a:xfrm>
            <a:off x="4590288" y="1153048"/>
            <a:ext cx="4123944" cy="1900144"/>
          </a:xfrm>
          <a:prstGeom prst="rect">
            <a:avLst/>
          </a:prstGeom>
          <a:solidFill>
            <a:schemeClr val="bg1"/>
          </a:solidFill>
          <a:ln w="9525">
            <a:solidFill>
              <a:schemeClr val="accent6"/>
            </a:solidFill>
            <a:prstDash val="solid"/>
          </a:ln>
          <a:effectLst>
            <a:outerShdw sx="100000" sy="100000" kx="0" ky="0" algn="bl" rotWithShape="0" blurRad="76200" dist="19050" dir="5400000">
              <a:srgbClr val="1B2430">
                <a:alpha val="8000"/>
              </a:srgbClr>
            </a:outerShdw>
          </a:effectLst>
        </p:spPr>
      </p:sp>
      <p:pic>
        <p:nvPicPr>
          <p:cNvPr id="19" name="screenshot" descr="SafeDrop landing page: Know where your equipment is">    </p:cNvPr>
          <p:cNvPicPr>
            <a:picLocks noChangeAspect="1"/>
          </p:cNvPicPr>
          <p:nvPr/>
        </p:nvPicPr>
        <p:blipFill>
          <a:blip r:embed="rId1"/>
          <a:stretch>
            <a:fillRect/>
          </a:stretch>
        </p:blipFill>
        <p:spPr>
          <a:xfrm>
            <a:off x="4617720" y="1180480"/>
            <a:ext cx="4069080" cy="1845280"/>
          </a:xfrm>
          <a:prstGeom prst="rect">
            <a:avLst/>
          </a:prstGeom>
        </p:spPr>
      </p:pic>
      <p:sp>
        <p:nvSpPr>
          <p:cNvPr id="20" name="card"/>
          <p:cNvSpPr/>
          <p:nvPr/>
        </p:nvSpPr>
        <p:spPr>
          <a:xfrm>
            <a:off x="4617720" y="3429000"/>
            <a:ext cx="4069080" cy="1097280"/>
          </a:xfrm>
          <a:prstGeom prst="roundRect">
            <a:avLst>
              <a:gd name="adj" fmla="val 5000"/>
            </a:avLst>
          </a:prstGeom>
          <a:solidFill>
            <a:schemeClr val="tx1"/>
          </a:solidFill>
          <a:ln w="12700">
            <a:solidFill>
              <a:schemeClr val="tx1"/>
            </a:solidFill>
            <a:prstDash val="solid"/>
          </a:ln>
        </p:spPr>
      </p:sp>
      <p:sp>
        <p:nvSpPr>
          <p:cNvPr id="21" name="Text 18"/>
          <p:cNvSpPr txBox="1"/>
          <p:nvPr/>
        </p:nvSpPr>
        <p:spPr>
          <a:xfrm>
            <a:off x="4818888" y="3547872"/>
            <a:ext cx="3703320" cy="914400"/>
          </a:xfrm>
          <a:prstGeom prst="rect">
            <a:avLst/>
          </a:prstGeom>
          <a:noFill/>
          <a:ln/>
        </p:spPr>
        <p:txBody>
          <a:bodyPr wrap="square" lIns="0" tIns="0" rIns="0" bIns="0" rtlCol="0" anchor="t"/>
          <a:lstStyle/>
          <a:p>
            <a:pPr indent="0" marL="0">
              <a:buNone/>
            </a:pPr>
            <a:r>
              <a:rPr lang="en-US" sz="1150" b="1" dirty="0">
                <a:solidFill>
                  <a:schemeClr val="accent1"/>
                </a:solidFill>
                <a:latin typeface="Calibri" pitchFamily="34" charset="0"/>
                <a:ea typeface="Calibri" pitchFamily="34" charset="-122"/>
                <a:cs typeface="Calibri" pitchFamily="34" charset="-120"/>
              </a:rPr>
              <a:t>Iteration 1 </a:t>
            </a:r>
            <a:pPr indent="0" marL="0">
              <a:buNone/>
            </a:pPr>
            <a:r>
              <a:rPr lang="en-US" sz="1150" dirty="0">
                <a:solidFill>
                  <a:schemeClr val="bg1"/>
                </a:solidFill>
                <a:latin typeface="Calibri" pitchFamily="34" charset="0"/>
                <a:ea typeface="Calibri" pitchFamily="34" charset="-122"/>
                <a:cs typeface="Calibri" pitchFamily="34" charset="-120"/>
              </a:rPr>
              <a:t>built the loop every organization needs.
</a:t>
            </a:r>
            <a:pPr indent="0" marL="0">
              <a:buNone/>
            </a:pPr>
            <a:r>
              <a:rPr lang="en-US" sz="1150" b="1" dirty="0">
                <a:solidFill>
                  <a:schemeClr val="accent1"/>
                </a:solidFill>
                <a:latin typeface="Calibri" pitchFamily="34" charset="0"/>
                <a:ea typeface="Calibri" pitchFamily="34" charset="-122"/>
                <a:cs typeface="Calibri" pitchFamily="34" charset="-120"/>
              </a:rPr>
              <a:t>Iteration 2 </a:t>
            </a:r>
            <a:pPr indent="0" marL="0">
              <a:buNone/>
            </a:pPr>
            <a:r>
              <a:rPr lang="en-US" sz="1150" dirty="0">
                <a:solidFill>
                  <a:schemeClr val="bg1"/>
                </a:solidFill>
                <a:latin typeface="Calibri" pitchFamily="34" charset="0"/>
                <a:ea typeface="Calibri" pitchFamily="34" charset="-122"/>
                <a:cs typeface="Calibri" pitchFamily="34" charset="-120"/>
              </a:rPr>
              <a:t>made it configurable per organization: who approves, who may borrow, and who confirms a return.</a:t>
            </a:r>
            <a:endParaRPr lang="en-US" sz="1150" dirty="0"/>
          </a:p>
        </p:txBody>
      </p:sp>
      <p:sp>
        <p:nvSpPr>
          <p:cNvPr id="25" name="Slide Number Placeholder 0"/>
          <p:cNvSpPr>
            <a:spLocks noGrp="1"/>
          </p:cNvSpPr>
          <p:nvPr>
            <p:ph type="sldNum" sz="quarter" idx="4294967295"/>
          </p:nvPr>
        </p:nvSpPr>
        <p:spPr>
          <a:xfrm>
            <a:off x="8458200" y="473659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400800" cy="566928"/>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Our Iteration 1 Promises, Scored</a:t>
            </a:r>
            <a:endParaRPr lang="en-US" sz="2600" dirty="0"/>
          </a:p>
        </p:txBody>
      </p:sp>
      <p:sp>
        <p:nvSpPr>
          <p:cNvPr id="3" name="Text 0"/>
          <p:cNvSpPr/>
          <p:nvPr>
            <p:ph idx="101" type="body" hasCustomPrompt="1"/>
          </p:nvPr>
        </p:nvSpPr>
        <p:spPr>
          <a:xfrm>
            <a:off x="457200" y="4645152"/>
            <a:ext cx="8229600" cy="329184"/>
          </a:xfrm>
          <a:prstGeom prst="rect">
            <a:avLst/>
          </a:prstGeom>
          <a:noFill/>
          <a:ln/>
        </p:spPr>
        <p:txBody>
          <a:bodyPr wrap="square" lIns="0" tIns="0" rIns="0" bIns="0" rtlCol="0" anchor="ctr"/>
          <a:lstStyle/>
          <a:p>
            <a:pPr indent="0" marL="0">
              <a:buNone/>
            </a:pPr>
            <a:r>
              <a:rPr lang="en-US" sz="1000" i="1" dirty="0">
                <a:solidFill>
                  <a:schemeClr val="accent5"/>
                </a:solidFill>
                <a:latin typeface="Calibri" pitchFamily="34" charset="0"/>
                <a:ea typeface="Calibri" pitchFamily="34" charset="-122"/>
                <a:cs typeface="Calibri" pitchFamily="34" charset="-120"/>
              </a:rPr>
              <a:t>Commitments from the closing slide of our Iteration 1 review. SR-8 is covered on slide 10.</a:t>
            </a:r>
            <a:endParaRPr lang="en-US" sz="1000" dirty="0"/>
          </a:p>
        </p:txBody>
      </p:sp>
      <p:sp>
        <p:nvSpPr>
          <p:cNvPr id="4" name="speaker"/>
          <p:cNvSpPr/>
          <p:nvPr/>
        </p:nvSpPr>
        <p:spPr>
          <a:xfrm>
            <a:off x="6949440" y="301752"/>
            <a:ext cx="1737360" cy="429768"/>
          </a:xfrm>
          <a:prstGeom prst="roundRect">
            <a:avLst>
              <a:gd name="adj" fmla="val 17021"/>
            </a:avLst>
          </a:prstGeom>
          <a:solidFill>
            <a:schemeClr val="tx1"/>
          </a:solidFill>
          <a:ln>
            <a:solidFill>
              <a:schemeClr val="tx1"/>
            </a:solid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Alexa</a:t>
            </a:r>
            <a:endParaRPr lang="en-US" sz="1200" dirty="0"/>
          </a:p>
        </p:txBody>
      </p:sp>
      <p:sp>
        <p:nvSpPr>
          <p:cNvPr id="5" name="card"/>
          <p:cNvSpPr/>
          <p:nvPr/>
        </p:nvSpPr>
        <p:spPr>
          <a:xfrm>
            <a:off x="457200" y="960120"/>
            <a:ext cx="1965960" cy="3108960"/>
          </a:xfrm>
          <a:prstGeom prst="roundRect">
            <a:avLst>
              <a:gd name="adj" fmla="val 2791"/>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6" name="Text 4"/>
          <p:cNvSpPr txBox="1"/>
          <p:nvPr/>
        </p:nvSpPr>
        <p:spPr>
          <a:xfrm>
            <a:off x="603504" y="1097280"/>
            <a:ext cx="1737360" cy="292608"/>
          </a:xfrm>
          <a:prstGeom prst="rect">
            <a:avLst/>
          </a:prstGeom>
          <a:noFill/>
          <a:ln/>
        </p:spPr>
        <p:txBody>
          <a:bodyPr wrap="square" lIns="0" tIns="0" rIns="0" bIns="0" rtlCol="0" anchor="t"/>
          <a:lstStyle/>
          <a:p>
            <a:pPr indent="0" marL="0">
              <a:buNone/>
            </a:pPr>
            <a:r>
              <a:rPr lang="en-US" sz="1250" b="1" dirty="0">
                <a:solidFill>
                  <a:schemeClr val="tx1"/>
                </a:solidFill>
                <a:latin typeface="Cambria" pitchFamily="34" charset="0"/>
                <a:ea typeface="Cambria" pitchFamily="34" charset="-122"/>
                <a:cs typeface="Cambria" pitchFamily="34" charset="-120"/>
              </a:rPr>
              <a:t>Configurable approvals</a:t>
            </a:r>
            <a:endParaRPr lang="en-US" sz="1250" dirty="0"/>
          </a:p>
        </p:txBody>
      </p:sp>
      <p:sp>
        <p:nvSpPr>
          <p:cNvPr id="7" name="Text 5"/>
          <p:cNvSpPr txBox="1"/>
          <p:nvPr/>
        </p:nvSpPr>
        <p:spPr>
          <a:xfrm>
            <a:off x="603504" y="1417320"/>
            <a:ext cx="1691640" cy="457200"/>
          </a:xfrm>
          <a:prstGeom prst="rect">
            <a:avLst/>
          </a:prstGeom>
          <a:noFill/>
          <a:ln/>
        </p:spPr>
        <p:txBody>
          <a:bodyPr wrap="square" lIns="0" tIns="0" rIns="0" bIns="0" rtlCol="0" anchor="t"/>
          <a:lstStyle/>
          <a:p>
            <a:pPr indent="0" marL="0">
              <a:buNone/>
            </a:pPr>
            <a:r>
              <a:rPr lang="en-US" sz="1050" i="1" dirty="0">
                <a:solidFill>
                  <a:schemeClr val="accent5"/>
                </a:solidFill>
                <a:latin typeface="Calibri" pitchFamily="34" charset="0"/>
                <a:ea typeface="Calibri" pitchFamily="34" charset="-122"/>
                <a:cs typeface="Calibri" pitchFamily="34" charset="-120"/>
              </a:rPr>
              <a:t>Per item, per equipment group, per user tier</a:t>
            </a:r>
            <a:endParaRPr lang="en-US" sz="1050" dirty="0"/>
          </a:p>
        </p:txBody>
      </p:sp>
      <p:sp>
        <p:nvSpPr>
          <p:cNvPr id="8" name="badge"/>
          <p:cNvSpPr/>
          <p:nvPr/>
        </p:nvSpPr>
        <p:spPr>
          <a:xfrm>
            <a:off x="603504" y="1965960"/>
            <a:ext cx="1143000" cy="274320"/>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950" b="1" dirty="0">
                <a:solidFill>
                  <a:schemeClr val="bg1"/>
                </a:solidFill>
                <a:latin typeface="Calibri" pitchFamily="34" charset="0"/>
                <a:ea typeface="Calibri" pitchFamily="34" charset="-122"/>
                <a:cs typeface="Calibri" pitchFamily="34" charset="-120"/>
              </a:rPr>
              <a:t>DELIVERED</a:t>
            </a:r>
            <a:endParaRPr lang="en-US" sz="950" dirty="0"/>
          </a:p>
        </p:txBody>
      </p:sp>
      <p:sp>
        <p:nvSpPr>
          <p:cNvPr id="9" name="Text 7"/>
          <p:cNvSpPr txBox="1"/>
          <p:nvPr/>
        </p:nvSpPr>
        <p:spPr>
          <a:xfrm>
            <a:off x="603504" y="2423160"/>
            <a:ext cx="1691640" cy="1920240"/>
          </a:xfrm>
          <a:prstGeom prst="rect">
            <a:avLst/>
          </a:prstGeom>
          <a:noFill/>
          <a:ln/>
        </p:spPr>
        <p:txBody>
          <a:bodyPr wrap="square" lIns="0" tIns="0" rIns="0" bIns="0" rtlCol="0" anchor="t"/>
          <a:lstStyle/>
          <a:p>
            <a:pPr indent="0" marL="0">
              <a:buNone/>
            </a:pPr>
            <a:r>
              <a:rPr lang="en-US" sz="1150" dirty="0">
                <a:solidFill>
                  <a:schemeClr val="tx1"/>
                </a:solidFill>
                <a:latin typeface="Calibri" pitchFamily="34" charset="0"/>
                <a:ea typeface="Calibri" pitchFamily="34" charset="-122"/>
                <a:cs typeface="Calibri" pitchFamily="34" charset="-120"/>
              </a:rPr>
              <a:t>Organization default with a per-asset override. User tiers became groups, and groups decide who may borrow restricted equipment.</a:t>
            </a:r>
            <a:endParaRPr lang="en-US" sz="1150" dirty="0"/>
          </a:p>
        </p:txBody>
      </p:sp>
      <p:sp>
        <p:nvSpPr>
          <p:cNvPr id="10" name="card"/>
          <p:cNvSpPr/>
          <p:nvPr/>
        </p:nvSpPr>
        <p:spPr>
          <a:xfrm>
            <a:off x="2551176" y="960120"/>
            <a:ext cx="1965960" cy="3108960"/>
          </a:xfrm>
          <a:prstGeom prst="roundRect">
            <a:avLst>
              <a:gd name="adj" fmla="val 2791"/>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11" name="Text 9"/>
          <p:cNvSpPr txBox="1"/>
          <p:nvPr/>
        </p:nvSpPr>
        <p:spPr>
          <a:xfrm>
            <a:off x="2697480" y="1097280"/>
            <a:ext cx="1737360" cy="292608"/>
          </a:xfrm>
          <a:prstGeom prst="rect">
            <a:avLst/>
          </a:prstGeom>
          <a:noFill/>
          <a:ln/>
        </p:spPr>
        <p:txBody>
          <a:bodyPr wrap="square" lIns="0" tIns="0" rIns="0" bIns="0" rtlCol="0" anchor="t"/>
          <a:lstStyle/>
          <a:p>
            <a:pPr indent="0" marL="0">
              <a:buNone/>
            </a:pPr>
            <a:r>
              <a:rPr lang="en-US" sz="1250" b="1" dirty="0">
                <a:solidFill>
                  <a:schemeClr val="tx1"/>
                </a:solidFill>
                <a:latin typeface="Cambria" pitchFamily="34" charset="0"/>
                <a:ea typeface="Cambria" pitchFamily="34" charset="-122"/>
                <a:cs typeface="Cambria" pitchFamily="34" charset="-120"/>
              </a:rPr>
              <a:t>Two-step return</a:t>
            </a:r>
            <a:endParaRPr lang="en-US" sz="1250" dirty="0"/>
          </a:p>
        </p:txBody>
      </p:sp>
      <p:sp>
        <p:nvSpPr>
          <p:cNvPr id="12" name="Text 10"/>
          <p:cNvSpPr txBox="1"/>
          <p:nvPr/>
        </p:nvSpPr>
        <p:spPr>
          <a:xfrm>
            <a:off x="2697480" y="1417320"/>
            <a:ext cx="1691640" cy="457200"/>
          </a:xfrm>
          <a:prstGeom prst="rect">
            <a:avLst/>
          </a:prstGeom>
          <a:noFill/>
          <a:ln/>
        </p:spPr>
        <p:txBody>
          <a:bodyPr wrap="square" lIns="0" tIns="0" rIns="0" bIns="0" rtlCol="0" anchor="t"/>
          <a:lstStyle/>
          <a:p>
            <a:pPr indent="0" marL="0">
              <a:buNone/>
            </a:pPr>
            <a:r>
              <a:rPr lang="en-US" sz="1050" i="1" dirty="0">
                <a:solidFill>
                  <a:schemeClr val="accent5"/>
                </a:solidFill>
                <a:latin typeface="Calibri" pitchFamily="34" charset="0"/>
                <a:ea typeface="Calibri" pitchFamily="34" charset="-122"/>
                <a:cs typeface="Calibri" pitchFamily="34" charset="-120"/>
              </a:rPr>
              <a:t>Condition capture at return, carried over from SCRUM-57</a:t>
            </a:r>
            <a:endParaRPr lang="en-US" sz="1050" dirty="0"/>
          </a:p>
        </p:txBody>
      </p:sp>
      <p:sp>
        <p:nvSpPr>
          <p:cNvPr id="13" name="badge"/>
          <p:cNvSpPr/>
          <p:nvPr/>
        </p:nvSpPr>
        <p:spPr>
          <a:xfrm>
            <a:off x="2697480" y="1965960"/>
            <a:ext cx="1143000" cy="274320"/>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950" b="1" dirty="0">
                <a:solidFill>
                  <a:schemeClr val="bg1"/>
                </a:solidFill>
                <a:latin typeface="Calibri" pitchFamily="34" charset="0"/>
                <a:ea typeface="Calibri" pitchFamily="34" charset="-122"/>
                <a:cs typeface="Calibri" pitchFamily="34" charset="-120"/>
              </a:rPr>
              <a:t>DELIVERED</a:t>
            </a:r>
            <a:endParaRPr lang="en-US" sz="950" dirty="0"/>
          </a:p>
        </p:txBody>
      </p:sp>
      <p:sp>
        <p:nvSpPr>
          <p:cNvPr id="14" name="Text 12"/>
          <p:cNvSpPr txBox="1"/>
          <p:nvPr/>
        </p:nvSpPr>
        <p:spPr>
          <a:xfrm>
            <a:off x="2697480" y="2423160"/>
            <a:ext cx="1691640" cy="1920240"/>
          </a:xfrm>
          <a:prstGeom prst="rect">
            <a:avLst/>
          </a:prstGeom>
          <a:noFill/>
          <a:ln/>
        </p:spPr>
        <p:txBody>
          <a:bodyPr wrap="square" lIns="0" tIns="0" rIns="0" bIns="0" rtlCol="0" anchor="t"/>
          <a:lstStyle/>
          <a:p>
            <a:pPr indent="0" marL="0">
              <a:buNone/>
            </a:pPr>
            <a:r>
              <a:rPr lang="en-US" sz="1150" dirty="0">
                <a:solidFill>
                  <a:schemeClr val="tx1"/>
                </a:solidFill>
                <a:latin typeface="Calibri" pitchFamily="34" charset="0"/>
                <a:ea typeface="Calibri" pitchFamily="34" charset="-122"/>
                <a:cs typeface="Calibri" pitchFamily="34" charset="-120"/>
              </a:rPr>
              <a:t>The borrower starts the return with a condition and note. Someone else confirms or rejects it.</a:t>
            </a:r>
            <a:endParaRPr lang="en-US" sz="1150" dirty="0"/>
          </a:p>
        </p:txBody>
      </p:sp>
      <p:sp>
        <p:nvSpPr>
          <p:cNvPr id="15" name="card"/>
          <p:cNvSpPr/>
          <p:nvPr/>
        </p:nvSpPr>
        <p:spPr>
          <a:xfrm>
            <a:off x="4645152" y="960120"/>
            <a:ext cx="1965960" cy="3108960"/>
          </a:xfrm>
          <a:prstGeom prst="roundRect">
            <a:avLst>
              <a:gd name="adj" fmla="val 2791"/>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16" name="Text 14"/>
          <p:cNvSpPr txBox="1"/>
          <p:nvPr/>
        </p:nvSpPr>
        <p:spPr>
          <a:xfrm>
            <a:off x="4791456" y="1097280"/>
            <a:ext cx="1737360" cy="292608"/>
          </a:xfrm>
          <a:prstGeom prst="rect">
            <a:avLst/>
          </a:prstGeom>
          <a:noFill/>
          <a:ln/>
        </p:spPr>
        <p:txBody>
          <a:bodyPr wrap="square" lIns="0" tIns="0" rIns="0" bIns="0" rtlCol="0" anchor="t"/>
          <a:lstStyle/>
          <a:p>
            <a:pPr indent="0" marL="0">
              <a:buNone/>
            </a:pPr>
            <a:r>
              <a:rPr lang="en-US" sz="1250" b="1" dirty="0">
                <a:solidFill>
                  <a:schemeClr val="tx1"/>
                </a:solidFill>
                <a:latin typeface="Cambria" pitchFamily="34" charset="0"/>
                <a:ea typeface="Cambria" pitchFamily="34" charset="-122"/>
                <a:cs typeface="Cambria" pitchFamily="34" charset="-120"/>
              </a:rPr>
              <a:t>Finish SR-8</a:t>
            </a:r>
            <a:endParaRPr lang="en-US" sz="1250" dirty="0"/>
          </a:p>
        </p:txBody>
      </p:sp>
      <p:sp>
        <p:nvSpPr>
          <p:cNvPr id="17" name="Text 15"/>
          <p:cNvSpPr txBox="1"/>
          <p:nvPr/>
        </p:nvSpPr>
        <p:spPr>
          <a:xfrm>
            <a:off x="4791456" y="1417320"/>
            <a:ext cx="1691640" cy="457200"/>
          </a:xfrm>
          <a:prstGeom prst="rect">
            <a:avLst/>
          </a:prstGeom>
          <a:noFill/>
          <a:ln/>
        </p:spPr>
        <p:txBody>
          <a:bodyPr wrap="square" lIns="0" tIns="0" rIns="0" bIns="0" rtlCol="0" anchor="t"/>
          <a:lstStyle/>
          <a:p>
            <a:pPr indent="0" marL="0">
              <a:buNone/>
            </a:pPr>
            <a:r>
              <a:rPr lang="en-US" sz="1050" i="1" dirty="0">
                <a:solidFill>
                  <a:schemeClr val="accent5"/>
                </a:solidFill>
                <a:latin typeface="Calibri" pitchFamily="34" charset="0"/>
                <a:ea typeface="Calibri" pitchFamily="34" charset="-122"/>
                <a:cs typeface="Calibri" pitchFamily="34" charset="-120"/>
              </a:rPr>
              <a:t>Apply the insert-only audit role</a:t>
            </a:r>
            <a:endParaRPr lang="en-US" sz="1050" dirty="0"/>
          </a:p>
        </p:txBody>
      </p:sp>
      <p:sp>
        <p:nvSpPr>
          <p:cNvPr id="18" name="badge"/>
          <p:cNvSpPr/>
          <p:nvPr/>
        </p:nvSpPr>
        <p:spPr>
          <a:xfrm>
            <a:off x="4791456" y="1965960"/>
            <a:ext cx="1143000" cy="274320"/>
          </a:xfrm>
          <a:prstGeom prst="roundRect">
            <a:avLst>
              <a:gd name="adj" fmla="val 50000"/>
            </a:avLst>
          </a:prstGeom>
          <a:solidFill>
            <a:schemeClr val="accent4"/>
          </a:solidFill>
          <a:ln>
            <a:solidFill>
              <a:schemeClr val="accent4"/>
            </a:solidFill>
          </a:ln>
        </p:spPr>
        <p:txBody>
          <a:bodyPr wrap="square" lIns="0" tIns="0" rIns="0" bIns="0" rtlCol="0" anchor="ctr"/>
          <a:lstStyle/>
          <a:p>
            <a:pPr algn="ctr" indent="0" marL="0">
              <a:buNone/>
            </a:pPr>
            <a:r>
              <a:rPr lang="en-US" sz="950" b="1" dirty="0">
                <a:solidFill>
                  <a:schemeClr val="bg1"/>
                </a:solidFill>
                <a:latin typeface="Calibri" pitchFamily="34" charset="0"/>
                <a:ea typeface="Calibri" pitchFamily="34" charset="-122"/>
                <a:cs typeface="Calibri" pitchFamily="34" charset="-120"/>
              </a:rPr>
              <a:t>STILL OPEN</a:t>
            </a:r>
            <a:endParaRPr lang="en-US" sz="950" dirty="0"/>
          </a:p>
        </p:txBody>
      </p:sp>
      <p:sp>
        <p:nvSpPr>
          <p:cNvPr id="19" name="Text 17"/>
          <p:cNvSpPr txBox="1"/>
          <p:nvPr/>
        </p:nvSpPr>
        <p:spPr>
          <a:xfrm>
            <a:off x="4791456" y="2423160"/>
            <a:ext cx="1691640" cy="1920240"/>
          </a:xfrm>
          <a:prstGeom prst="rect">
            <a:avLst/>
          </a:prstGeom>
          <a:noFill/>
          <a:ln/>
        </p:spPr>
        <p:txBody>
          <a:bodyPr wrap="square" lIns="0" tIns="0" rIns="0" bIns="0" rtlCol="0" anchor="t"/>
          <a:lstStyle/>
          <a:p>
            <a:pPr indent="0" marL="0">
              <a:buNone/>
            </a:pPr>
            <a:r>
              <a:rPr lang="en-US" sz="1150" dirty="0">
                <a:solidFill>
                  <a:schemeClr val="tx1"/>
                </a:solidFill>
                <a:latin typeface="Calibri" pitchFamily="34" charset="0"/>
                <a:ea typeface="Calibri" pitchFamily="34" charset="-122"/>
                <a:cs typeface="Calibri" pitchFamily="34" charset="-120"/>
              </a:rPr>
              <a:t>The role is still not applied on Atlas. Audit immutability rests on the application layer alone.</a:t>
            </a:r>
            <a:endParaRPr lang="en-US" sz="1150" dirty="0"/>
          </a:p>
        </p:txBody>
      </p:sp>
      <p:sp>
        <p:nvSpPr>
          <p:cNvPr id="20" name="card"/>
          <p:cNvSpPr/>
          <p:nvPr/>
        </p:nvSpPr>
        <p:spPr>
          <a:xfrm>
            <a:off x="6739128" y="960120"/>
            <a:ext cx="1965960" cy="3108960"/>
          </a:xfrm>
          <a:prstGeom prst="roundRect">
            <a:avLst>
              <a:gd name="adj" fmla="val 2791"/>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21" name="Text 19"/>
          <p:cNvSpPr txBox="1"/>
          <p:nvPr/>
        </p:nvSpPr>
        <p:spPr>
          <a:xfrm>
            <a:off x="6885432" y="1097280"/>
            <a:ext cx="1737360" cy="292608"/>
          </a:xfrm>
          <a:prstGeom prst="rect">
            <a:avLst/>
          </a:prstGeom>
          <a:noFill/>
          <a:ln/>
        </p:spPr>
        <p:txBody>
          <a:bodyPr wrap="square" lIns="0" tIns="0" rIns="0" bIns="0" rtlCol="0" anchor="t"/>
          <a:lstStyle/>
          <a:p>
            <a:pPr indent="0" marL="0">
              <a:buNone/>
            </a:pPr>
            <a:r>
              <a:rPr lang="en-US" sz="1250" b="1" dirty="0">
                <a:solidFill>
                  <a:schemeClr val="tx1"/>
                </a:solidFill>
                <a:latin typeface="Cambria" pitchFamily="34" charset="0"/>
                <a:ea typeface="Cambria" pitchFamily="34" charset="-122"/>
                <a:cs typeface="Cambria" pitchFamily="34" charset="-120"/>
              </a:rPr>
              <a:t>Point the backlog</a:t>
            </a:r>
            <a:endParaRPr lang="en-US" sz="1250" dirty="0"/>
          </a:p>
        </p:txBody>
      </p:sp>
      <p:sp>
        <p:nvSpPr>
          <p:cNvPr id="22" name="Text 20"/>
          <p:cNvSpPr txBox="1"/>
          <p:nvPr/>
        </p:nvSpPr>
        <p:spPr>
          <a:xfrm>
            <a:off x="6885432" y="1417320"/>
            <a:ext cx="1691640" cy="457200"/>
          </a:xfrm>
          <a:prstGeom prst="rect">
            <a:avLst/>
          </a:prstGeom>
          <a:noFill/>
          <a:ln/>
        </p:spPr>
        <p:txBody>
          <a:bodyPr wrap="square" lIns="0" tIns="0" rIns="0" bIns="0" rtlCol="0" anchor="t"/>
          <a:lstStyle/>
          <a:p>
            <a:pPr indent="0" marL="0">
              <a:buNone/>
            </a:pPr>
            <a:r>
              <a:rPr lang="en-US" sz="1050" i="1" dirty="0">
                <a:solidFill>
                  <a:schemeClr val="accent5"/>
                </a:solidFill>
                <a:latin typeface="Calibri" pitchFamily="34" charset="0"/>
                <a:ea typeface="Calibri" pitchFamily="34" charset="-122"/>
                <a:cs typeface="Calibri" pitchFamily="34" charset="-120"/>
              </a:rPr>
              <a:t>So Iteration 2 reports a velocity worth trusting</a:t>
            </a:r>
            <a:endParaRPr lang="en-US" sz="1050" dirty="0"/>
          </a:p>
        </p:txBody>
      </p:sp>
      <p:sp>
        <p:nvSpPr>
          <p:cNvPr id="23" name="badge"/>
          <p:cNvSpPr/>
          <p:nvPr/>
        </p:nvSpPr>
        <p:spPr>
          <a:xfrm>
            <a:off x="6885432" y="1965960"/>
            <a:ext cx="1143000" cy="274320"/>
          </a:xfrm>
          <a:prstGeom prst="roundRect">
            <a:avLst>
              <a:gd name="adj" fmla="val 50000"/>
            </a:avLst>
          </a:prstGeom>
          <a:solidFill>
            <a:schemeClr val="accent3"/>
          </a:solidFill>
          <a:ln>
            <a:solidFill>
              <a:schemeClr val="accent3"/>
            </a:solidFill>
          </a:ln>
        </p:spPr>
        <p:txBody>
          <a:bodyPr wrap="square" lIns="0" tIns="0" rIns="0" bIns="0" rtlCol="0" anchor="ctr"/>
          <a:lstStyle/>
          <a:p>
            <a:pPr algn="ctr" indent="0" marL="0">
              <a:buNone/>
            </a:pPr>
            <a:r>
              <a:rPr lang="en-US" sz="950" b="1" dirty="0">
                <a:solidFill>
                  <a:schemeClr val="bg1"/>
                </a:solidFill>
                <a:latin typeface="Calibri" pitchFamily="34" charset="0"/>
                <a:ea typeface="Calibri" pitchFamily="34" charset="-122"/>
                <a:cs typeface="Calibri" pitchFamily="34" charset="-120"/>
              </a:rPr>
              <a:t>PARTIAL</a:t>
            </a:r>
            <a:endParaRPr lang="en-US" sz="950" dirty="0"/>
          </a:p>
        </p:txBody>
      </p:sp>
      <p:sp>
        <p:nvSpPr>
          <p:cNvPr id="24" name="Text 22"/>
          <p:cNvSpPr txBox="1"/>
          <p:nvPr/>
        </p:nvSpPr>
        <p:spPr>
          <a:xfrm>
            <a:off x="6885432" y="2423160"/>
            <a:ext cx="1691640" cy="1920240"/>
          </a:xfrm>
          <a:prstGeom prst="rect">
            <a:avLst/>
          </a:prstGeom>
          <a:noFill/>
          <a:ln/>
        </p:spPr>
        <p:txBody>
          <a:bodyPr wrap="square" lIns="0" tIns="0" rIns="0" bIns="0" rtlCol="0" anchor="t"/>
          <a:lstStyle/>
          <a:p>
            <a:pPr indent="0" marL="0">
              <a:buNone/>
            </a:pPr>
            <a:r>
              <a:rPr lang="en-US" sz="1150" dirty="0">
                <a:solidFill>
                  <a:schemeClr val="tx1"/>
                </a:solidFill>
                <a:latin typeface="Calibri" pitchFamily="34" charset="0"/>
                <a:ea typeface="Calibri" pitchFamily="34" charset="-122"/>
                <a:cs typeface="Calibri" pitchFamily="34" charset="-120"/>
              </a:rPr>
              <a:t>Every Iteration 2 story is pointed. Tasks and the Lab 3 stories are not, so velocity counts stories only.</a:t>
            </a:r>
            <a:endParaRPr lang="en-US" sz="1150" dirty="0"/>
          </a:p>
        </p:txBody>
      </p:sp>
      <p:sp>
        <p:nvSpPr>
          <p:cNvPr id="25" name="Slide Number Placeholder 0"/>
          <p:cNvSpPr>
            <a:spLocks noGrp="1"/>
          </p:cNvSpPr>
          <p:nvPr>
            <p:ph type="sldNum" sz="quarter" idx="4294967295"/>
          </p:nvPr>
        </p:nvSpPr>
        <p:spPr>
          <a:xfrm>
            <a:off x="8458200" y="473659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400800" cy="566928"/>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Requirements: The Desirable Set</a:t>
            </a:r>
            <a:endParaRPr lang="en-US" sz="2600" dirty="0"/>
          </a:p>
        </p:txBody>
      </p:sp>
      <p:sp>
        <p:nvSpPr>
          <p:cNvPr id="3" name="Text 0"/>
          <p:cNvSpPr/>
          <p:nvPr>
            <p:ph idx="101" type="body" hasCustomPrompt="1"/>
          </p:nvPr>
        </p:nvSpPr>
        <p:spPr>
          <a:xfrm>
            <a:off x="457200" y="4645152"/>
            <a:ext cx="8229600" cy="329184"/>
          </a:xfrm>
          <a:prstGeom prst="rect">
            <a:avLst/>
          </a:prstGeom>
          <a:noFill/>
          <a:ln/>
        </p:spPr>
        <p:txBody>
          <a:bodyPr wrap="square" lIns="0" tIns="0" rIns="0" bIns="0" rtlCol="0" anchor="ctr"/>
          <a:lstStyle/>
          <a:p>
            <a:pPr indent="0" marL="0">
              <a:buNone/>
            </a:pPr>
            <a:r>
              <a:rPr lang="en-US" sz="1000" i="1" dirty="0">
                <a:solidFill>
                  <a:schemeClr val="accent5"/>
                </a:solidFill>
                <a:latin typeface="Calibri" pitchFamily="34" charset="0"/>
                <a:ea typeface="Calibri" pitchFamily="34" charset="-122"/>
                <a:cs typeface="Calibri" pitchFamily="34" charset="-120"/>
              </a:rPr>
              <a:t>30 of 48 new story points shipped; SCRUM-147 and 206 moved to the Iteration 3 sprint. Also merged from Lab 3: unit maintenance (141), overdue loans (140), due-date badges (143), member deactivation (142).</a:t>
            </a:r>
            <a:endParaRPr lang="en-US" sz="1000" dirty="0"/>
          </a:p>
        </p:txBody>
      </p:sp>
      <p:sp>
        <p:nvSpPr>
          <p:cNvPr id="4" name="speaker"/>
          <p:cNvSpPr/>
          <p:nvPr/>
        </p:nvSpPr>
        <p:spPr>
          <a:xfrm>
            <a:off x="6949440" y="301752"/>
            <a:ext cx="1737360" cy="429768"/>
          </a:xfrm>
          <a:prstGeom prst="roundRect">
            <a:avLst>
              <a:gd name="adj" fmla="val 17021"/>
            </a:avLst>
          </a:prstGeom>
          <a:solidFill>
            <a:schemeClr val="tx1"/>
          </a:solidFill>
          <a:ln>
            <a:solidFill>
              <a:schemeClr val="tx1"/>
            </a:solid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Alexa</a:t>
            </a:r>
            <a:endParaRPr lang="en-US" sz="1200" dirty="0"/>
          </a:p>
        </p:txBody>
      </p:sp>
      <p:sp>
        <p:nvSpPr>
          <p:cNvPr id="5" name="card"/>
          <p:cNvSpPr/>
          <p:nvPr/>
        </p:nvSpPr>
        <p:spPr>
          <a:xfrm>
            <a:off x="457200" y="960120"/>
            <a:ext cx="8229600" cy="361188"/>
          </a:xfrm>
          <a:prstGeom prst="roundRect">
            <a:avLst>
              <a:gd name="adj" fmla="val 15190"/>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6" name="Text 4"/>
          <p:cNvSpPr txBox="1"/>
          <p:nvPr/>
        </p:nvSpPr>
        <p:spPr>
          <a:xfrm>
            <a:off x="594360" y="960120"/>
            <a:ext cx="1691640" cy="361188"/>
          </a:xfrm>
          <a:prstGeom prst="rect">
            <a:avLst/>
          </a:prstGeom>
          <a:noFill/>
          <a:ln/>
        </p:spPr>
        <p:txBody>
          <a:bodyPr wrap="square" lIns="0" tIns="0" rIns="0" bIns="0" rtlCol="0" anchor="ctr"/>
          <a:lstStyle/>
          <a:p>
            <a:pPr indent="0" marL="0">
              <a:buNone/>
            </a:pPr>
            <a:r>
              <a:rPr lang="en-US" sz="1100" b="1" dirty="0">
                <a:solidFill>
                  <a:schemeClr val="tx1"/>
                </a:solidFill>
                <a:latin typeface="Calibri" pitchFamily="34" charset="0"/>
                <a:ea typeface="Calibri" pitchFamily="34" charset="-122"/>
                <a:cs typeface="Calibri" pitchFamily="34" charset="-120"/>
              </a:rPr>
              <a:t>Configurable approvals</a:t>
            </a:r>
            <a:endParaRPr lang="en-US" sz="1100" dirty="0"/>
          </a:p>
        </p:txBody>
      </p:sp>
      <p:sp>
        <p:nvSpPr>
          <p:cNvPr id="7" name="Text 5"/>
          <p:cNvSpPr txBox="1"/>
          <p:nvPr/>
        </p:nvSpPr>
        <p:spPr>
          <a:xfrm>
            <a:off x="2286000" y="960120"/>
            <a:ext cx="3749040" cy="361188"/>
          </a:xfrm>
          <a:prstGeom prst="rect">
            <a:avLst/>
          </a:prstGeom>
          <a:noFill/>
          <a:ln/>
        </p:spPr>
        <p:txBody>
          <a:bodyPr wrap="square" lIns="0" tIns="0" rIns="0" bIns="0" rtlCol="0" anchor="ctr"/>
          <a:lstStyle/>
          <a:p>
            <a:pPr indent="0" marL="0">
              <a:buNone/>
            </a:pPr>
            <a:r>
              <a:rPr lang="en-US" sz="1000" dirty="0">
                <a:solidFill>
                  <a:schemeClr val="tx1"/>
                </a:solidFill>
                <a:latin typeface="Calibri" pitchFamily="34" charset="0"/>
                <a:ea typeface="Calibri" pitchFamily="34" charset="-122"/>
                <a:cs typeface="Calibri" pitchFamily="34" charset="-120"/>
              </a:rPr>
              <a:t>Organization default: require an approver or approve automatically; per-asset override</a:t>
            </a:r>
            <a:endParaRPr lang="en-US" sz="1000" dirty="0"/>
          </a:p>
        </p:txBody>
      </p:sp>
      <p:sp>
        <p:nvSpPr>
          <p:cNvPr id="8" name="Text 6"/>
          <p:cNvSpPr txBox="1"/>
          <p:nvPr/>
        </p:nvSpPr>
        <p:spPr>
          <a:xfrm>
            <a:off x="6080760" y="960120"/>
            <a:ext cx="1234440" cy="361188"/>
          </a:xfrm>
          <a:prstGeom prst="rect">
            <a:avLst/>
          </a:prstGeom>
          <a:noFill/>
          <a:ln/>
        </p:spPr>
        <p:txBody>
          <a:bodyPr wrap="square" lIns="0" tIns="0" rIns="0" bIns="0" rtlCol="0" anchor="ctr"/>
          <a:lstStyle/>
          <a:p>
            <a:pPr indent="0" marL="0">
              <a:buNone/>
            </a:pPr>
            <a:r>
              <a:rPr lang="en-US" sz="900" dirty="0">
                <a:solidFill>
                  <a:schemeClr val="accent5"/>
                </a:solidFill>
                <a:latin typeface="Calibri" pitchFamily="34" charset="0"/>
                <a:ea typeface="Calibri" pitchFamily="34" charset="-122"/>
                <a:cs typeface="Calibri" pitchFamily="34" charset="-120"/>
              </a:rPr>
              <a:t>SCRUM-148</a:t>
            </a:r>
            <a:endParaRPr lang="en-US" sz="900" dirty="0"/>
          </a:p>
        </p:txBody>
      </p:sp>
      <p:sp>
        <p:nvSpPr>
          <p:cNvPr id="9" name="Text 7"/>
          <p:cNvSpPr txBox="1"/>
          <p:nvPr/>
        </p:nvSpPr>
        <p:spPr>
          <a:xfrm>
            <a:off x="7315200" y="960120"/>
            <a:ext cx="274320" cy="361188"/>
          </a:xfrm>
          <a:prstGeom prst="rect">
            <a:avLst/>
          </a:prstGeom>
          <a:noFill/>
          <a:ln/>
        </p:spPr>
        <p:txBody>
          <a:bodyPr wrap="square" lIns="0" tIns="0" rIns="0" bIns="0" rtlCol="0" anchor="ctr"/>
          <a:lstStyle/>
          <a:p>
            <a:pPr algn="ctr" indent="0" marL="0">
              <a:buNone/>
            </a:pPr>
            <a:r>
              <a:rPr lang="en-US" sz="1050" b="1" dirty="0">
                <a:solidFill>
                  <a:schemeClr val="tx1"/>
                </a:solidFill>
                <a:latin typeface="Calibri" pitchFamily="34" charset="0"/>
                <a:ea typeface="Calibri" pitchFamily="34" charset="-122"/>
                <a:cs typeface="Calibri" pitchFamily="34" charset="-120"/>
              </a:rPr>
              <a:t>8</a:t>
            </a:r>
            <a:endParaRPr lang="en-US" sz="1050" dirty="0"/>
          </a:p>
        </p:txBody>
      </p:sp>
      <p:sp>
        <p:nvSpPr>
          <p:cNvPr id="10" name="badge"/>
          <p:cNvSpPr/>
          <p:nvPr/>
        </p:nvSpPr>
        <p:spPr>
          <a:xfrm>
            <a:off x="7662672" y="1021842"/>
            <a:ext cx="932688" cy="237744"/>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800" b="1" dirty="0">
                <a:solidFill>
                  <a:schemeClr val="bg1"/>
                </a:solidFill>
                <a:latin typeface="Calibri" pitchFamily="34" charset="0"/>
                <a:ea typeface="Calibri" pitchFamily="34" charset="-122"/>
                <a:cs typeface="Calibri" pitchFamily="34" charset="-120"/>
              </a:rPr>
              <a:t>DONE</a:t>
            </a:r>
            <a:endParaRPr lang="en-US" sz="800" dirty="0"/>
          </a:p>
        </p:txBody>
      </p:sp>
      <p:sp>
        <p:nvSpPr>
          <p:cNvPr id="11" name="card"/>
          <p:cNvSpPr/>
          <p:nvPr/>
        </p:nvSpPr>
        <p:spPr>
          <a:xfrm>
            <a:off x="457200" y="1385316"/>
            <a:ext cx="8229600" cy="361188"/>
          </a:xfrm>
          <a:prstGeom prst="roundRect">
            <a:avLst>
              <a:gd name="adj" fmla="val 15190"/>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12" name="Text 10"/>
          <p:cNvSpPr txBox="1"/>
          <p:nvPr/>
        </p:nvSpPr>
        <p:spPr>
          <a:xfrm>
            <a:off x="594360" y="1385316"/>
            <a:ext cx="1691640" cy="361188"/>
          </a:xfrm>
          <a:prstGeom prst="rect">
            <a:avLst/>
          </a:prstGeom>
          <a:noFill/>
          <a:ln/>
        </p:spPr>
        <p:txBody>
          <a:bodyPr wrap="square" lIns="0" tIns="0" rIns="0" bIns="0" rtlCol="0" anchor="ctr"/>
          <a:lstStyle/>
          <a:p>
            <a:pPr indent="0" marL="0">
              <a:buNone/>
            </a:pPr>
            <a:r>
              <a:rPr lang="en-US" sz="1100" b="1" dirty="0">
                <a:solidFill>
                  <a:schemeClr val="tx1"/>
                </a:solidFill>
                <a:latin typeface="Calibri" pitchFamily="34" charset="0"/>
                <a:ea typeface="Calibri" pitchFamily="34" charset="-122"/>
                <a:cs typeface="Calibri" pitchFamily="34" charset="-120"/>
              </a:rPr>
              <a:t>User groups</a:t>
            </a:r>
            <a:endParaRPr lang="en-US" sz="1100" dirty="0"/>
          </a:p>
        </p:txBody>
      </p:sp>
      <p:sp>
        <p:nvSpPr>
          <p:cNvPr id="13" name="Text 11"/>
          <p:cNvSpPr txBox="1"/>
          <p:nvPr/>
        </p:nvSpPr>
        <p:spPr>
          <a:xfrm>
            <a:off x="2286000" y="1385316"/>
            <a:ext cx="3749040" cy="361188"/>
          </a:xfrm>
          <a:prstGeom prst="rect">
            <a:avLst/>
          </a:prstGeom>
          <a:noFill/>
          <a:ln/>
        </p:spPr>
        <p:txBody>
          <a:bodyPr wrap="square" lIns="0" tIns="0" rIns="0" bIns="0" rtlCol="0" anchor="ctr"/>
          <a:lstStyle/>
          <a:p>
            <a:pPr indent="0" marL="0">
              <a:buNone/>
            </a:pPr>
            <a:r>
              <a:rPr lang="en-US" sz="1000" dirty="0">
                <a:solidFill>
                  <a:schemeClr val="tx1"/>
                </a:solidFill>
                <a:latin typeface="Calibri" pitchFamily="34" charset="0"/>
                <a:ea typeface="Calibri" pitchFamily="34" charset="-122"/>
                <a:cs typeface="Calibri" pitchFamily="34" charset="-120"/>
              </a:rPr>
              <a:t>Create groups, add and remove members; every change audited</a:t>
            </a:r>
            <a:endParaRPr lang="en-US" sz="1000" dirty="0"/>
          </a:p>
        </p:txBody>
      </p:sp>
      <p:sp>
        <p:nvSpPr>
          <p:cNvPr id="14" name="Text 12"/>
          <p:cNvSpPr txBox="1"/>
          <p:nvPr/>
        </p:nvSpPr>
        <p:spPr>
          <a:xfrm>
            <a:off x="6080760" y="1385316"/>
            <a:ext cx="1234440" cy="361188"/>
          </a:xfrm>
          <a:prstGeom prst="rect">
            <a:avLst/>
          </a:prstGeom>
          <a:noFill/>
          <a:ln/>
        </p:spPr>
        <p:txBody>
          <a:bodyPr wrap="square" lIns="0" tIns="0" rIns="0" bIns="0" rtlCol="0" anchor="ctr"/>
          <a:lstStyle/>
          <a:p>
            <a:pPr indent="0" marL="0">
              <a:buNone/>
            </a:pPr>
            <a:r>
              <a:rPr lang="en-US" sz="900" dirty="0">
                <a:solidFill>
                  <a:schemeClr val="accent5"/>
                </a:solidFill>
                <a:latin typeface="Calibri" pitchFamily="34" charset="0"/>
                <a:ea typeface="Calibri" pitchFamily="34" charset="-122"/>
                <a:cs typeface="Calibri" pitchFamily="34" charset="-120"/>
              </a:rPr>
              <a:t>SCRUM-149</a:t>
            </a:r>
            <a:endParaRPr lang="en-US" sz="900" dirty="0"/>
          </a:p>
        </p:txBody>
      </p:sp>
      <p:sp>
        <p:nvSpPr>
          <p:cNvPr id="15" name="Text 13"/>
          <p:cNvSpPr txBox="1"/>
          <p:nvPr/>
        </p:nvSpPr>
        <p:spPr>
          <a:xfrm>
            <a:off x="7315200" y="1385316"/>
            <a:ext cx="274320" cy="361188"/>
          </a:xfrm>
          <a:prstGeom prst="rect">
            <a:avLst/>
          </a:prstGeom>
          <a:noFill/>
          <a:ln/>
        </p:spPr>
        <p:txBody>
          <a:bodyPr wrap="square" lIns="0" tIns="0" rIns="0" bIns="0" rtlCol="0" anchor="ctr"/>
          <a:lstStyle/>
          <a:p>
            <a:pPr algn="ctr" indent="0" marL="0">
              <a:buNone/>
            </a:pPr>
            <a:r>
              <a:rPr lang="en-US" sz="1050" b="1" dirty="0">
                <a:solidFill>
                  <a:schemeClr val="tx1"/>
                </a:solidFill>
                <a:latin typeface="Calibri" pitchFamily="34" charset="0"/>
                <a:ea typeface="Calibri" pitchFamily="34" charset="-122"/>
                <a:cs typeface="Calibri" pitchFamily="34" charset="-120"/>
              </a:rPr>
              <a:t>5</a:t>
            </a:r>
            <a:endParaRPr lang="en-US" sz="1050" dirty="0"/>
          </a:p>
        </p:txBody>
      </p:sp>
      <p:sp>
        <p:nvSpPr>
          <p:cNvPr id="16" name="badge"/>
          <p:cNvSpPr/>
          <p:nvPr/>
        </p:nvSpPr>
        <p:spPr>
          <a:xfrm>
            <a:off x="7662672" y="1447038"/>
            <a:ext cx="932688" cy="237744"/>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800" b="1" dirty="0">
                <a:solidFill>
                  <a:schemeClr val="bg1"/>
                </a:solidFill>
                <a:latin typeface="Calibri" pitchFamily="34" charset="0"/>
                <a:ea typeface="Calibri" pitchFamily="34" charset="-122"/>
                <a:cs typeface="Calibri" pitchFamily="34" charset="-120"/>
              </a:rPr>
              <a:t>DONE</a:t>
            </a:r>
            <a:endParaRPr lang="en-US" sz="800" dirty="0"/>
          </a:p>
        </p:txBody>
      </p:sp>
      <p:sp>
        <p:nvSpPr>
          <p:cNvPr id="17" name="card"/>
          <p:cNvSpPr/>
          <p:nvPr/>
        </p:nvSpPr>
        <p:spPr>
          <a:xfrm>
            <a:off x="457200" y="1810512"/>
            <a:ext cx="8229600" cy="361188"/>
          </a:xfrm>
          <a:prstGeom prst="roundRect">
            <a:avLst>
              <a:gd name="adj" fmla="val 15190"/>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18" name="Text 16"/>
          <p:cNvSpPr txBox="1"/>
          <p:nvPr/>
        </p:nvSpPr>
        <p:spPr>
          <a:xfrm>
            <a:off x="594360" y="1810512"/>
            <a:ext cx="1691640" cy="361188"/>
          </a:xfrm>
          <a:prstGeom prst="rect">
            <a:avLst/>
          </a:prstGeom>
          <a:noFill/>
          <a:ln/>
        </p:spPr>
        <p:txBody>
          <a:bodyPr wrap="square" lIns="0" tIns="0" rIns="0" bIns="0" rtlCol="0" anchor="ctr"/>
          <a:lstStyle/>
          <a:p>
            <a:pPr indent="0" marL="0">
              <a:buNone/>
            </a:pPr>
            <a:r>
              <a:rPr lang="en-US" sz="1100" b="1" dirty="0">
                <a:solidFill>
                  <a:schemeClr val="tx1"/>
                </a:solidFill>
                <a:latin typeface="Calibri" pitchFamily="34" charset="0"/>
                <a:ea typeface="Calibri" pitchFamily="34" charset="-122"/>
                <a:cs typeface="Calibri" pitchFamily="34" charset="-120"/>
              </a:rPr>
              <a:t>Restricted equipment</a:t>
            </a:r>
            <a:endParaRPr lang="en-US" sz="1100" dirty="0"/>
          </a:p>
        </p:txBody>
      </p:sp>
      <p:sp>
        <p:nvSpPr>
          <p:cNvPr id="19" name="Text 17"/>
          <p:cNvSpPr txBox="1"/>
          <p:nvPr/>
        </p:nvSpPr>
        <p:spPr>
          <a:xfrm>
            <a:off x="2286000" y="1810512"/>
            <a:ext cx="3749040" cy="361188"/>
          </a:xfrm>
          <a:prstGeom prst="rect">
            <a:avLst/>
          </a:prstGeom>
          <a:noFill/>
          <a:ln/>
        </p:spPr>
        <p:txBody>
          <a:bodyPr wrap="square" lIns="0" tIns="0" rIns="0" bIns="0" rtlCol="0" anchor="ctr"/>
          <a:lstStyle/>
          <a:p>
            <a:pPr indent="0" marL="0">
              <a:buNone/>
            </a:pPr>
            <a:r>
              <a:rPr lang="en-US" sz="1000" dirty="0">
                <a:solidFill>
                  <a:schemeClr val="tx1"/>
                </a:solidFill>
                <a:latin typeface="Calibri" pitchFamily="34" charset="0"/>
                <a:ea typeface="Calibri" pitchFamily="34" charset="-122"/>
                <a:cs typeface="Calibri" pitchFamily="34" charset="-120"/>
              </a:rPr>
              <a:t>Assets limited to groups; eligibility checked on submit and on approval</a:t>
            </a:r>
            <a:endParaRPr lang="en-US" sz="1000" dirty="0"/>
          </a:p>
        </p:txBody>
      </p:sp>
      <p:sp>
        <p:nvSpPr>
          <p:cNvPr id="20" name="Text 18"/>
          <p:cNvSpPr txBox="1"/>
          <p:nvPr/>
        </p:nvSpPr>
        <p:spPr>
          <a:xfrm>
            <a:off x="6080760" y="1810512"/>
            <a:ext cx="1234440" cy="361188"/>
          </a:xfrm>
          <a:prstGeom prst="rect">
            <a:avLst/>
          </a:prstGeom>
          <a:noFill/>
          <a:ln/>
        </p:spPr>
        <p:txBody>
          <a:bodyPr wrap="square" lIns="0" tIns="0" rIns="0" bIns="0" rtlCol="0" anchor="ctr"/>
          <a:lstStyle/>
          <a:p>
            <a:pPr indent="0" marL="0">
              <a:buNone/>
            </a:pPr>
            <a:r>
              <a:rPr lang="en-US" sz="900" dirty="0">
                <a:solidFill>
                  <a:schemeClr val="accent5"/>
                </a:solidFill>
                <a:latin typeface="Calibri" pitchFamily="34" charset="0"/>
                <a:ea typeface="Calibri" pitchFamily="34" charset="-122"/>
                <a:cs typeface="Calibri" pitchFamily="34" charset="-120"/>
              </a:rPr>
              <a:t>SCRUM-150</a:t>
            </a:r>
            <a:endParaRPr lang="en-US" sz="900" dirty="0"/>
          </a:p>
        </p:txBody>
      </p:sp>
      <p:sp>
        <p:nvSpPr>
          <p:cNvPr id="21" name="Text 19"/>
          <p:cNvSpPr txBox="1"/>
          <p:nvPr/>
        </p:nvSpPr>
        <p:spPr>
          <a:xfrm>
            <a:off x="7315200" y="1810512"/>
            <a:ext cx="274320" cy="361188"/>
          </a:xfrm>
          <a:prstGeom prst="rect">
            <a:avLst/>
          </a:prstGeom>
          <a:noFill/>
          <a:ln/>
        </p:spPr>
        <p:txBody>
          <a:bodyPr wrap="square" lIns="0" tIns="0" rIns="0" bIns="0" rtlCol="0" anchor="ctr"/>
          <a:lstStyle/>
          <a:p>
            <a:pPr algn="ctr" indent="0" marL="0">
              <a:buNone/>
            </a:pPr>
            <a:r>
              <a:rPr lang="en-US" sz="1050" b="1" dirty="0">
                <a:solidFill>
                  <a:schemeClr val="tx1"/>
                </a:solidFill>
                <a:latin typeface="Calibri" pitchFamily="34" charset="0"/>
                <a:ea typeface="Calibri" pitchFamily="34" charset="-122"/>
                <a:cs typeface="Calibri" pitchFamily="34" charset="-120"/>
              </a:rPr>
              <a:t>8</a:t>
            </a:r>
            <a:endParaRPr lang="en-US" sz="1050" dirty="0"/>
          </a:p>
        </p:txBody>
      </p:sp>
      <p:sp>
        <p:nvSpPr>
          <p:cNvPr id="22" name="badge"/>
          <p:cNvSpPr/>
          <p:nvPr/>
        </p:nvSpPr>
        <p:spPr>
          <a:xfrm>
            <a:off x="7662672" y="1872234"/>
            <a:ext cx="932688" cy="237744"/>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800" b="1" dirty="0">
                <a:solidFill>
                  <a:schemeClr val="bg1"/>
                </a:solidFill>
                <a:latin typeface="Calibri" pitchFamily="34" charset="0"/>
                <a:ea typeface="Calibri" pitchFamily="34" charset="-122"/>
                <a:cs typeface="Calibri" pitchFamily="34" charset="-120"/>
              </a:rPr>
              <a:t>DONE</a:t>
            </a:r>
            <a:endParaRPr lang="en-US" sz="800" dirty="0"/>
          </a:p>
        </p:txBody>
      </p:sp>
      <p:sp>
        <p:nvSpPr>
          <p:cNvPr id="23" name="card"/>
          <p:cNvSpPr/>
          <p:nvPr/>
        </p:nvSpPr>
        <p:spPr>
          <a:xfrm>
            <a:off x="457200" y="2235708"/>
            <a:ext cx="8229600" cy="361188"/>
          </a:xfrm>
          <a:prstGeom prst="roundRect">
            <a:avLst>
              <a:gd name="adj" fmla="val 15190"/>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24" name="Text 22"/>
          <p:cNvSpPr txBox="1"/>
          <p:nvPr/>
        </p:nvSpPr>
        <p:spPr>
          <a:xfrm>
            <a:off x="594360" y="2235708"/>
            <a:ext cx="1691640" cy="361188"/>
          </a:xfrm>
          <a:prstGeom prst="rect">
            <a:avLst/>
          </a:prstGeom>
          <a:noFill/>
          <a:ln/>
        </p:spPr>
        <p:txBody>
          <a:bodyPr wrap="square" lIns="0" tIns="0" rIns="0" bIns="0" rtlCol="0" anchor="ctr"/>
          <a:lstStyle/>
          <a:p>
            <a:pPr indent="0" marL="0">
              <a:buNone/>
            </a:pPr>
            <a:r>
              <a:rPr lang="en-US" sz="1100" b="1" dirty="0">
                <a:solidFill>
                  <a:schemeClr val="tx1"/>
                </a:solidFill>
                <a:latin typeface="Calibri" pitchFamily="34" charset="0"/>
                <a:ea typeface="Calibri" pitchFamily="34" charset="-122"/>
                <a:cs typeface="Calibri" pitchFamily="34" charset="-120"/>
              </a:rPr>
              <a:t>Two-sided custody</a:t>
            </a:r>
            <a:endParaRPr lang="en-US" sz="1100" dirty="0"/>
          </a:p>
        </p:txBody>
      </p:sp>
      <p:sp>
        <p:nvSpPr>
          <p:cNvPr id="25" name="Text 23"/>
          <p:cNvSpPr txBox="1"/>
          <p:nvPr/>
        </p:nvSpPr>
        <p:spPr>
          <a:xfrm>
            <a:off x="2286000" y="2235708"/>
            <a:ext cx="3749040" cy="361188"/>
          </a:xfrm>
          <a:prstGeom prst="rect">
            <a:avLst/>
          </a:prstGeom>
          <a:noFill/>
          <a:ln/>
        </p:spPr>
        <p:txBody>
          <a:bodyPr wrap="square" lIns="0" tIns="0" rIns="0" bIns="0" rtlCol="0" anchor="ctr"/>
          <a:lstStyle/>
          <a:p>
            <a:pPr indent="0" marL="0">
              <a:buNone/>
            </a:pPr>
            <a:r>
              <a:rPr lang="en-US" sz="1000" dirty="0">
                <a:solidFill>
                  <a:schemeClr val="tx1"/>
                </a:solidFill>
                <a:latin typeface="Calibri" pitchFamily="34" charset="0"/>
                <a:ea typeface="Calibri" pitchFamily="34" charset="-122"/>
                <a:cs typeface="Calibri" pitchFamily="34" charset="-120"/>
              </a:rPr>
              <a:t>Borrower-recorded pickup, confirmed returns, pickup-window expiry</a:t>
            </a:r>
            <a:endParaRPr lang="en-US" sz="1000" dirty="0"/>
          </a:p>
        </p:txBody>
      </p:sp>
      <p:sp>
        <p:nvSpPr>
          <p:cNvPr id="26" name="Text 24"/>
          <p:cNvSpPr txBox="1"/>
          <p:nvPr/>
        </p:nvSpPr>
        <p:spPr>
          <a:xfrm>
            <a:off x="6080760" y="2235708"/>
            <a:ext cx="1234440" cy="361188"/>
          </a:xfrm>
          <a:prstGeom prst="rect">
            <a:avLst/>
          </a:prstGeom>
          <a:noFill/>
          <a:ln/>
        </p:spPr>
        <p:txBody>
          <a:bodyPr wrap="square" lIns="0" tIns="0" rIns="0" bIns="0" rtlCol="0" anchor="ctr"/>
          <a:lstStyle/>
          <a:p>
            <a:pPr indent="0" marL="0">
              <a:buNone/>
            </a:pPr>
            <a:r>
              <a:rPr lang="en-US" sz="900" dirty="0">
                <a:solidFill>
                  <a:schemeClr val="accent5"/>
                </a:solidFill>
                <a:latin typeface="Calibri" pitchFamily="34" charset="0"/>
                <a:ea typeface="Calibri" pitchFamily="34" charset="-122"/>
                <a:cs typeface="Calibri" pitchFamily="34" charset="-120"/>
              </a:rPr>
              <a:t>SCRUM-205</a:t>
            </a:r>
            <a:endParaRPr lang="en-US" sz="900" dirty="0"/>
          </a:p>
        </p:txBody>
      </p:sp>
      <p:sp>
        <p:nvSpPr>
          <p:cNvPr id="27" name="Text 25"/>
          <p:cNvSpPr txBox="1"/>
          <p:nvPr/>
        </p:nvSpPr>
        <p:spPr>
          <a:xfrm>
            <a:off x="7315200" y="2235708"/>
            <a:ext cx="274320" cy="361188"/>
          </a:xfrm>
          <a:prstGeom prst="rect">
            <a:avLst/>
          </a:prstGeom>
          <a:noFill/>
          <a:ln/>
        </p:spPr>
        <p:txBody>
          <a:bodyPr wrap="square" lIns="0" tIns="0" rIns="0" bIns="0" rtlCol="0" anchor="ctr"/>
          <a:lstStyle/>
          <a:p>
            <a:pPr algn="ctr" indent="0" marL="0">
              <a:buNone/>
            </a:pPr>
            <a:r>
              <a:rPr lang="en-US" sz="1050" b="1" dirty="0">
                <a:solidFill>
                  <a:schemeClr val="tx1"/>
                </a:solidFill>
                <a:latin typeface="Calibri" pitchFamily="34" charset="0"/>
                <a:ea typeface="Calibri" pitchFamily="34" charset="-122"/>
                <a:cs typeface="Calibri" pitchFamily="34" charset="-120"/>
              </a:rPr>
              <a:t>4</a:t>
            </a:r>
            <a:endParaRPr lang="en-US" sz="1050" dirty="0"/>
          </a:p>
        </p:txBody>
      </p:sp>
      <p:sp>
        <p:nvSpPr>
          <p:cNvPr id="28" name="badge"/>
          <p:cNvSpPr/>
          <p:nvPr/>
        </p:nvSpPr>
        <p:spPr>
          <a:xfrm>
            <a:off x="7662672" y="2297430"/>
            <a:ext cx="932688" cy="237744"/>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800" b="1" dirty="0">
                <a:solidFill>
                  <a:schemeClr val="bg1"/>
                </a:solidFill>
                <a:latin typeface="Calibri" pitchFamily="34" charset="0"/>
                <a:ea typeface="Calibri" pitchFamily="34" charset="-122"/>
                <a:cs typeface="Calibri" pitchFamily="34" charset="-120"/>
              </a:rPr>
              <a:t>DONE</a:t>
            </a:r>
            <a:endParaRPr lang="en-US" sz="800" dirty="0"/>
          </a:p>
        </p:txBody>
      </p:sp>
      <p:sp>
        <p:nvSpPr>
          <p:cNvPr id="29" name="card"/>
          <p:cNvSpPr/>
          <p:nvPr/>
        </p:nvSpPr>
        <p:spPr>
          <a:xfrm>
            <a:off x="457200" y="2660904"/>
            <a:ext cx="8229600" cy="361188"/>
          </a:xfrm>
          <a:prstGeom prst="roundRect">
            <a:avLst>
              <a:gd name="adj" fmla="val 15190"/>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30" name="Text 28"/>
          <p:cNvSpPr txBox="1"/>
          <p:nvPr/>
        </p:nvSpPr>
        <p:spPr>
          <a:xfrm>
            <a:off x="594360" y="2660904"/>
            <a:ext cx="1691640" cy="361188"/>
          </a:xfrm>
          <a:prstGeom prst="rect">
            <a:avLst/>
          </a:prstGeom>
          <a:noFill/>
          <a:ln/>
        </p:spPr>
        <p:txBody>
          <a:bodyPr wrap="square" lIns="0" tIns="0" rIns="0" bIns="0" rtlCol="0" anchor="ctr"/>
          <a:lstStyle/>
          <a:p>
            <a:pPr indent="0" marL="0">
              <a:buNone/>
            </a:pPr>
            <a:r>
              <a:rPr lang="en-US" sz="1100" b="1" dirty="0">
                <a:solidFill>
                  <a:schemeClr val="tx1"/>
                </a:solidFill>
                <a:latin typeface="Calibri" pitchFamily="34" charset="0"/>
                <a:ea typeface="Calibri" pitchFamily="34" charset="-122"/>
                <a:cs typeface="Calibri" pitchFamily="34" charset="-120"/>
              </a:rPr>
              <a:t>AI-assisted search</a:t>
            </a:r>
            <a:endParaRPr lang="en-US" sz="1100" dirty="0"/>
          </a:p>
        </p:txBody>
      </p:sp>
      <p:sp>
        <p:nvSpPr>
          <p:cNvPr id="31" name="Text 29"/>
          <p:cNvSpPr txBox="1"/>
          <p:nvPr/>
        </p:nvSpPr>
        <p:spPr>
          <a:xfrm>
            <a:off x="2286000" y="2660904"/>
            <a:ext cx="3749040" cy="361188"/>
          </a:xfrm>
          <a:prstGeom prst="rect">
            <a:avLst/>
          </a:prstGeom>
          <a:noFill/>
          <a:ln/>
        </p:spPr>
        <p:txBody>
          <a:bodyPr wrap="square" lIns="0" tIns="0" rIns="0" bIns="0" rtlCol="0" anchor="ctr"/>
          <a:lstStyle/>
          <a:p>
            <a:pPr indent="0" marL="0">
              <a:buNone/>
            </a:pPr>
            <a:r>
              <a:rPr lang="en-US" sz="1000" dirty="0">
                <a:solidFill>
                  <a:schemeClr val="tx1"/>
                </a:solidFill>
                <a:latin typeface="Calibri" pitchFamily="34" charset="0"/>
                <a:ea typeface="Calibri" pitchFamily="34" charset="-122"/>
                <a:cs typeface="Calibri" pitchFamily="34" charset="-120"/>
              </a:rPr>
              <a:t>Catalogue search bar; model ranks backend-chosen results; plain fallback</a:t>
            </a:r>
            <a:endParaRPr lang="en-US" sz="1000" dirty="0"/>
          </a:p>
        </p:txBody>
      </p:sp>
      <p:sp>
        <p:nvSpPr>
          <p:cNvPr id="32" name="Text 30"/>
          <p:cNvSpPr txBox="1"/>
          <p:nvPr/>
        </p:nvSpPr>
        <p:spPr>
          <a:xfrm>
            <a:off x="6080760" y="2660904"/>
            <a:ext cx="1234440" cy="361188"/>
          </a:xfrm>
          <a:prstGeom prst="rect">
            <a:avLst/>
          </a:prstGeom>
          <a:noFill/>
          <a:ln/>
        </p:spPr>
        <p:txBody>
          <a:bodyPr wrap="square" lIns="0" tIns="0" rIns="0" bIns="0" rtlCol="0" anchor="ctr"/>
          <a:lstStyle/>
          <a:p>
            <a:pPr indent="0" marL="0">
              <a:buNone/>
            </a:pPr>
            <a:r>
              <a:rPr lang="en-US" sz="900" dirty="0">
                <a:solidFill>
                  <a:schemeClr val="accent5"/>
                </a:solidFill>
                <a:latin typeface="Calibri" pitchFamily="34" charset="0"/>
                <a:ea typeface="Calibri" pitchFamily="34" charset="-122"/>
                <a:cs typeface="Calibri" pitchFamily="34" charset="-120"/>
              </a:rPr>
              <a:t>SCRUM-103, 145, 146, 200, 201</a:t>
            </a:r>
            <a:endParaRPr lang="en-US" sz="900" dirty="0"/>
          </a:p>
        </p:txBody>
      </p:sp>
      <p:sp>
        <p:nvSpPr>
          <p:cNvPr id="33" name="Text 31"/>
          <p:cNvSpPr txBox="1"/>
          <p:nvPr/>
        </p:nvSpPr>
        <p:spPr>
          <a:xfrm>
            <a:off x="7315200" y="2660904"/>
            <a:ext cx="274320" cy="361188"/>
          </a:xfrm>
          <a:prstGeom prst="rect">
            <a:avLst/>
          </a:prstGeom>
          <a:noFill/>
          <a:ln/>
        </p:spPr>
        <p:txBody>
          <a:bodyPr wrap="square" lIns="0" tIns="0" rIns="0" bIns="0" rtlCol="0" anchor="ctr"/>
          <a:lstStyle/>
          <a:p>
            <a:pPr algn="ctr" indent="0" marL="0">
              <a:buNone/>
            </a:pPr>
            <a:r>
              <a:rPr lang="en-US" sz="1050" b="1" dirty="0">
                <a:solidFill>
                  <a:schemeClr val="tx1"/>
                </a:solidFill>
                <a:latin typeface="Calibri" pitchFamily="34" charset="0"/>
                <a:ea typeface="Calibri" pitchFamily="34" charset="-122"/>
                <a:cs typeface="Calibri" pitchFamily="34" charset="-120"/>
              </a:rPr>
              <a:t>8*</a:t>
            </a:r>
            <a:endParaRPr lang="en-US" sz="1050" dirty="0"/>
          </a:p>
        </p:txBody>
      </p:sp>
      <p:sp>
        <p:nvSpPr>
          <p:cNvPr id="34" name="badge"/>
          <p:cNvSpPr/>
          <p:nvPr/>
        </p:nvSpPr>
        <p:spPr>
          <a:xfrm>
            <a:off x="7662672" y="2722626"/>
            <a:ext cx="932688" cy="237744"/>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800" b="1" dirty="0">
                <a:solidFill>
                  <a:schemeClr val="bg1"/>
                </a:solidFill>
                <a:latin typeface="Calibri" pitchFamily="34" charset="0"/>
                <a:ea typeface="Calibri" pitchFamily="34" charset="-122"/>
                <a:cs typeface="Calibri" pitchFamily="34" charset="-120"/>
              </a:rPr>
              <a:t>DONE</a:t>
            </a:r>
            <a:endParaRPr lang="en-US" sz="800" dirty="0"/>
          </a:p>
        </p:txBody>
      </p:sp>
      <p:sp>
        <p:nvSpPr>
          <p:cNvPr id="35" name="card"/>
          <p:cNvSpPr/>
          <p:nvPr/>
        </p:nvSpPr>
        <p:spPr>
          <a:xfrm>
            <a:off x="457200" y="3086100"/>
            <a:ext cx="8229600" cy="361188"/>
          </a:xfrm>
          <a:prstGeom prst="roundRect">
            <a:avLst>
              <a:gd name="adj" fmla="val 15190"/>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36" name="Text 34"/>
          <p:cNvSpPr txBox="1"/>
          <p:nvPr/>
        </p:nvSpPr>
        <p:spPr>
          <a:xfrm>
            <a:off x="594360" y="3086100"/>
            <a:ext cx="1691640" cy="361188"/>
          </a:xfrm>
          <a:prstGeom prst="rect">
            <a:avLst/>
          </a:prstGeom>
          <a:noFill/>
          <a:ln/>
        </p:spPr>
        <p:txBody>
          <a:bodyPr wrap="square" lIns="0" tIns="0" rIns="0" bIns="0" rtlCol="0" anchor="ctr"/>
          <a:lstStyle/>
          <a:p>
            <a:pPr indent="0" marL="0">
              <a:buNone/>
            </a:pPr>
            <a:r>
              <a:rPr lang="en-US" sz="1100" b="1" dirty="0">
                <a:solidFill>
                  <a:schemeClr val="tx1"/>
                </a:solidFill>
                <a:latin typeface="Calibri" pitchFamily="34" charset="0"/>
                <a:ea typeface="Calibri" pitchFamily="34" charset="-122"/>
                <a:cs typeface="Calibri" pitchFamily="34" charset="-120"/>
              </a:rPr>
              <a:t>AI alternatives</a:t>
            </a:r>
            <a:endParaRPr lang="en-US" sz="1100" dirty="0"/>
          </a:p>
        </p:txBody>
      </p:sp>
      <p:sp>
        <p:nvSpPr>
          <p:cNvPr id="37" name="Text 35"/>
          <p:cNvSpPr txBox="1"/>
          <p:nvPr/>
        </p:nvSpPr>
        <p:spPr>
          <a:xfrm>
            <a:off x="2286000" y="3086100"/>
            <a:ext cx="3749040" cy="361188"/>
          </a:xfrm>
          <a:prstGeom prst="rect">
            <a:avLst/>
          </a:prstGeom>
          <a:noFill/>
          <a:ln/>
        </p:spPr>
        <p:txBody>
          <a:bodyPr wrap="square" lIns="0" tIns="0" rIns="0" bIns="0" rtlCol="0" anchor="ctr"/>
          <a:lstStyle/>
          <a:p>
            <a:pPr indent="0" marL="0">
              <a:buNone/>
            </a:pPr>
            <a:r>
              <a:rPr lang="en-US" sz="1000" dirty="0">
                <a:solidFill>
                  <a:schemeClr val="tx1"/>
                </a:solidFill>
                <a:latin typeface="Calibri" pitchFamily="34" charset="0"/>
                <a:ea typeface="Calibri" pitchFamily="34" charset="-122"/>
                <a:cs typeface="Calibri" pitchFamily="34" charset="-120"/>
              </a:rPr>
              <a:t>"Similar items available now" when nothing is available</a:t>
            </a:r>
            <a:endParaRPr lang="en-US" sz="1000" dirty="0"/>
          </a:p>
        </p:txBody>
      </p:sp>
      <p:sp>
        <p:nvSpPr>
          <p:cNvPr id="38" name="Text 36"/>
          <p:cNvSpPr txBox="1"/>
          <p:nvPr/>
        </p:nvSpPr>
        <p:spPr>
          <a:xfrm>
            <a:off x="6080760" y="3086100"/>
            <a:ext cx="1234440" cy="361188"/>
          </a:xfrm>
          <a:prstGeom prst="rect">
            <a:avLst/>
          </a:prstGeom>
          <a:noFill/>
          <a:ln/>
        </p:spPr>
        <p:txBody>
          <a:bodyPr wrap="square" lIns="0" tIns="0" rIns="0" bIns="0" rtlCol="0" anchor="ctr"/>
          <a:lstStyle/>
          <a:p>
            <a:pPr indent="0" marL="0">
              <a:buNone/>
            </a:pPr>
            <a:r>
              <a:rPr lang="en-US" sz="900" dirty="0">
                <a:solidFill>
                  <a:schemeClr val="accent5"/>
                </a:solidFill>
                <a:latin typeface="Calibri" pitchFamily="34" charset="0"/>
                <a:ea typeface="Calibri" pitchFamily="34" charset="-122"/>
                <a:cs typeface="Calibri" pitchFamily="34" charset="-120"/>
              </a:rPr>
              <a:t>SCRUM-151</a:t>
            </a:r>
            <a:endParaRPr lang="en-US" sz="900" dirty="0"/>
          </a:p>
        </p:txBody>
      </p:sp>
      <p:sp>
        <p:nvSpPr>
          <p:cNvPr id="39" name="Text 37"/>
          <p:cNvSpPr txBox="1"/>
          <p:nvPr/>
        </p:nvSpPr>
        <p:spPr>
          <a:xfrm>
            <a:off x="7315200" y="3086100"/>
            <a:ext cx="274320" cy="361188"/>
          </a:xfrm>
          <a:prstGeom prst="rect">
            <a:avLst/>
          </a:prstGeom>
          <a:noFill/>
          <a:ln/>
        </p:spPr>
        <p:txBody>
          <a:bodyPr wrap="square" lIns="0" tIns="0" rIns="0" bIns="0" rtlCol="0" anchor="ctr"/>
          <a:lstStyle/>
          <a:p>
            <a:pPr algn="ctr" indent="0" marL="0">
              <a:buNone/>
            </a:pPr>
            <a:r>
              <a:rPr lang="en-US" sz="1050" b="1" dirty="0">
                <a:solidFill>
                  <a:schemeClr val="tx1"/>
                </a:solidFill>
                <a:latin typeface="Calibri" pitchFamily="34" charset="0"/>
                <a:ea typeface="Calibri" pitchFamily="34" charset="-122"/>
                <a:cs typeface="Calibri" pitchFamily="34" charset="-120"/>
              </a:rPr>
              <a:t>5</a:t>
            </a:r>
            <a:endParaRPr lang="en-US" sz="1050" dirty="0"/>
          </a:p>
        </p:txBody>
      </p:sp>
      <p:sp>
        <p:nvSpPr>
          <p:cNvPr id="40" name="badge"/>
          <p:cNvSpPr/>
          <p:nvPr/>
        </p:nvSpPr>
        <p:spPr>
          <a:xfrm>
            <a:off x="7662672" y="3147822"/>
            <a:ext cx="932688" cy="237744"/>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800" b="1" dirty="0">
                <a:solidFill>
                  <a:schemeClr val="bg1"/>
                </a:solidFill>
                <a:latin typeface="Calibri" pitchFamily="34" charset="0"/>
                <a:ea typeface="Calibri" pitchFamily="34" charset="-122"/>
                <a:cs typeface="Calibri" pitchFamily="34" charset="-120"/>
              </a:rPr>
              <a:t>DONE</a:t>
            </a:r>
            <a:endParaRPr lang="en-US" sz="800" dirty="0"/>
          </a:p>
        </p:txBody>
      </p:sp>
      <p:sp>
        <p:nvSpPr>
          <p:cNvPr id="41" name="card"/>
          <p:cNvSpPr/>
          <p:nvPr/>
        </p:nvSpPr>
        <p:spPr>
          <a:xfrm>
            <a:off x="457200" y="3511296"/>
            <a:ext cx="8229600" cy="361188"/>
          </a:xfrm>
          <a:prstGeom prst="roundRect">
            <a:avLst>
              <a:gd name="adj" fmla="val 15190"/>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42" name="Text 40"/>
          <p:cNvSpPr txBox="1"/>
          <p:nvPr/>
        </p:nvSpPr>
        <p:spPr>
          <a:xfrm>
            <a:off x="594360" y="3511296"/>
            <a:ext cx="1691640" cy="361188"/>
          </a:xfrm>
          <a:prstGeom prst="rect">
            <a:avLst/>
          </a:prstGeom>
          <a:noFill/>
          <a:ln/>
        </p:spPr>
        <p:txBody>
          <a:bodyPr wrap="square" lIns="0" tIns="0" rIns="0" bIns="0" rtlCol="0" anchor="ctr"/>
          <a:lstStyle/>
          <a:p>
            <a:pPr indent="0" marL="0">
              <a:buNone/>
            </a:pPr>
            <a:r>
              <a:rPr lang="en-US" sz="1100" b="1" dirty="0">
                <a:solidFill>
                  <a:schemeClr val="tx1"/>
                </a:solidFill>
                <a:latin typeface="Calibri" pitchFamily="34" charset="0"/>
                <a:ea typeface="Calibri" pitchFamily="34" charset="-122"/>
                <a:cs typeface="Calibri" pitchFamily="34" charset="-120"/>
              </a:rPr>
              <a:t>Semantic retrieval (RAG)</a:t>
            </a:r>
            <a:endParaRPr lang="en-US" sz="1100" dirty="0"/>
          </a:p>
        </p:txBody>
      </p:sp>
      <p:sp>
        <p:nvSpPr>
          <p:cNvPr id="43" name="Text 41"/>
          <p:cNvSpPr txBox="1"/>
          <p:nvPr/>
        </p:nvSpPr>
        <p:spPr>
          <a:xfrm>
            <a:off x="2286000" y="3511296"/>
            <a:ext cx="3749040" cy="361188"/>
          </a:xfrm>
          <a:prstGeom prst="rect">
            <a:avLst/>
          </a:prstGeom>
          <a:noFill/>
          <a:ln/>
        </p:spPr>
        <p:txBody>
          <a:bodyPr wrap="square" lIns="0" tIns="0" rIns="0" bIns="0" rtlCol="0" anchor="ctr"/>
          <a:lstStyle/>
          <a:p>
            <a:pPr indent="0" marL="0">
              <a:buNone/>
            </a:pPr>
            <a:r>
              <a:rPr lang="en-US" sz="1000" dirty="0">
                <a:solidFill>
                  <a:schemeClr val="tx1"/>
                </a:solidFill>
                <a:latin typeface="Calibri" pitchFamily="34" charset="0"/>
                <a:ea typeface="Calibri" pitchFamily="34" charset="-122"/>
                <a:cs typeface="Calibri" pitchFamily="34" charset="-120"/>
              </a:rPr>
              <a:t>Tenant-scoped vector search to choose search candidates</a:t>
            </a:r>
            <a:endParaRPr lang="en-US" sz="1000" dirty="0"/>
          </a:p>
        </p:txBody>
      </p:sp>
      <p:sp>
        <p:nvSpPr>
          <p:cNvPr id="44" name="Text 42"/>
          <p:cNvSpPr txBox="1"/>
          <p:nvPr/>
        </p:nvSpPr>
        <p:spPr>
          <a:xfrm>
            <a:off x="6080760" y="3511296"/>
            <a:ext cx="1234440" cy="361188"/>
          </a:xfrm>
          <a:prstGeom prst="rect">
            <a:avLst/>
          </a:prstGeom>
          <a:noFill/>
          <a:ln/>
        </p:spPr>
        <p:txBody>
          <a:bodyPr wrap="square" lIns="0" tIns="0" rIns="0" bIns="0" rtlCol="0" anchor="ctr"/>
          <a:lstStyle/>
          <a:p>
            <a:pPr indent="0" marL="0">
              <a:buNone/>
            </a:pPr>
            <a:r>
              <a:rPr lang="en-US" sz="900" dirty="0">
                <a:solidFill>
                  <a:schemeClr val="accent5"/>
                </a:solidFill>
                <a:latin typeface="Calibri" pitchFamily="34" charset="0"/>
                <a:ea typeface="Calibri" pitchFamily="34" charset="-122"/>
                <a:cs typeface="Calibri" pitchFamily="34" charset="-120"/>
              </a:rPr>
              <a:t>SCRUM-147</a:t>
            </a:r>
            <a:endParaRPr lang="en-US" sz="900" dirty="0"/>
          </a:p>
        </p:txBody>
      </p:sp>
      <p:sp>
        <p:nvSpPr>
          <p:cNvPr id="45" name="Text 43"/>
          <p:cNvSpPr txBox="1"/>
          <p:nvPr/>
        </p:nvSpPr>
        <p:spPr>
          <a:xfrm>
            <a:off x="7315200" y="3511296"/>
            <a:ext cx="274320" cy="361188"/>
          </a:xfrm>
          <a:prstGeom prst="rect">
            <a:avLst/>
          </a:prstGeom>
          <a:noFill/>
          <a:ln/>
        </p:spPr>
        <p:txBody>
          <a:bodyPr wrap="square" lIns="0" tIns="0" rIns="0" bIns="0" rtlCol="0" anchor="ctr"/>
          <a:lstStyle/>
          <a:p>
            <a:pPr algn="ctr" indent="0" marL="0">
              <a:buNone/>
            </a:pPr>
            <a:r>
              <a:rPr lang="en-US" sz="1050" b="1" dirty="0">
                <a:solidFill>
                  <a:schemeClr val="tx1"/>
                </a:solidFill>
                <a:latin typeface="Calibri" pitchFamily="34" charset="0"/>
                <a:ea typeface="Calibri" pitchFamily="34" charset="-122"/>
                <a:cs typeface="Calibri" pitchFamily="34" charset="-120"/>
              </a:rPr>
              <a:t>13</a:t>
            </a:r>
            <a:endParaRPr lang="en-US" sz="1050" dirty="0"/>
          </a:p>
        </p:txBody>
      </p:sp>
      <p:sp>
        <p:nvSpPr>
          <p:cNvPr id="46" name="badge"/>
          <p:cNvSpPr/>
          <p:nvPr/>
        </p:nvSpPr>
        <p:spPr>
          <a:xfrm>
            <a:off x="7662672" y="3573018"/>
            <a:ext cx="932688" cy="237744"/>
          </a:xfrm>
          <a:prstGeom prst="roundRect">
            <a:avLst>
              <a:gd name="adj" fmla="val 50000"/>
            </a:avLst>
          </a:prstGeom>
          <a:solidFill>
            <a:schemeClr val="accent4"/>
          </a:solidFill>
          <a:ln>
            <a:solidFill>
              <a:schemeClr val="accent4"/>
            </a:solidFill>
          </a:ln>
        </p:spPr>
        <p:txBody>
          <a:bodyPr wrap="square" lIns="0" tIns="0" rIns="0" bIns="0" rtlCol="0" anchor="ctr"/>
          <a:lstStyle/>
          <a:p>
            <a:pPr algn="ctr" indent="0" marL="0">
              <a:buNone/>
            </a:pPr>
            <a:r>
              <a:rPr lang="en-US" sz="800" b="1" dirty="0">
                <a:solidFill>
                  <a:schemeClr val="bg1"/>
                </a:solidFill>
                <a:latin typeface="Calibri" pitchFamily="34" charset="0"/>
                <a:ea typeface="Calibri" pitchFamily="34" charset="-122"/>
                <a:cs typeface="Calibri" pitchFamily="34" charset="-120"/>
              </a:rPr>
              <a:t>ITERATION 3</a:t>
            </a:r>
            <a:endParaRPr lang="en-US" sz="800" dirty="0"/>
          </a:p>
        </p:txBody>
      </p:sp>
      <p:sp>
        <p:nvSpPr>
          <p:cNvPr id="47" name="card"/>
          <p:cNvSpPr/>
          <p:nvPr/>
        </p:nvSpPr>
        <p:spPr>
          <a:xfrm>
            <a:off x="457200" y="3936492"/>
            <a:ext cx="8229600" cy="361188"/>
          </a:xfrm>
          <a:prstGeom prst="roundRect">
            <a:avLst>
              <a:gd name="adj" fmla="val 15190"/>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48" name="Text 46"/>
          <p:cNvSpPr txBox="1"/>
          <p:nvPr/>
        </p:nvSpPr>
        <p:spPr>
          <a:xfrm>
            <a:off x="594360" y="3936492"/>
            <a:ext cx="1691640" cy="361188"/>
          </a:xfrm>
          <a:prstGeom prst="rect">
            <a:avLst/>
          </a:prstGeom>
          <a:noFill/>
          <a:ln/>
        </p:spPr>
        <p:txBody>
          <a:bodyPr wrap="square" lIns="0" tIns="0" rIns="0" bIns="0" rtlCol="0" anchor="ctr"/>
          <a:lstStyle/>
          <a:p>
            <a:pPr indent="0" marL="0">
              <a:buNone/>
            </a:pPr>
            <a:r>
              <a:rPr lang="en-US" sz="1100" b="1" dirty="0">
                <a:solidFill>
                  <a:schemeClr val="tx1"/>
                </a:solidFill>
                <a:latin typeface="Calibri" pitchFamily="34" charset="0"/>
                <a:ea typeface="Calibri" pitchFamily="34" charset="-122"/>
                <a:cs typeface="Calibri" pitchFamily="34" charset="-120"/>
              </a:rPr>
              <a:t>Search telemetry</a:t>
            </a:r>
            <a:endParaRPr lang="en-US" sz="1100" dirty="0"/>
          </a:p>
        </p:txBody>
      </p:sp>
      <p:sp>
        <p:nvSpPr>
          <p:cNvPr id="49" name="Text 47"/>
          <p:cNvSpPr txBox="1"/>
          <p:nvPr/>
        </p:nvSpPr>
        <p:spPr>
          <a:xfrm>
            <a:off x="2286000" y="3936492"/>
            <a:ext cx="3749040" cy="361188"/>
          </a:xfrm>
          <a:prstGeom prst="rect">
            <a:avLst/>
          </a:prstGeom>
          <a:noFill/>
          <a:ln/>
        </p:spPr>
        <p:txBody>
          <a:bodyPr wrap="square" lIns="0" tIns="0" rIns="0" bIns="0" rtlCol="0" anchor="ctr"/>
          <a:lstStyle/>
          <a:p>
            <a:pPr indent="0" marL="0">
              <a:buNone/>
            </a:pPr>
            <a:r>
              <a:rPr lang="en-US" sz="1000" dirty="0">
                <a:solidFill>
                  <a:schemeClr val="tx1"/>
                </a:solidFill>
                <a:latin typeface="Calibri" pitchFamily="34" charset="0"/>
                <a:ea typeface="Calibri" pitchFamily="34" charset="-122"/>
                <a:cs typeface="Calibri" pitchFamily="34" charset="-120"/>
              </a:rPr>
              <a:t>Fallback rate and latency without storing what members typed</a:t>
            </a:r>
            <a:endParaRPr lang="en-US" sz="1000" dirty="0"/>
          </a:p>
        </p:txBody>
      </p:sp>
      <p:sp>
        <p:nvSpPr>
          <p:cNvPr id="50" name="Text 48"/>
          <p:cNvSpPr txBox="1"/>
          <p:nvPr/>
        </p:nvSpPr>
        <p:spPr>
          <a:xfrm>
            <a:off x="6080760" y="3936492"/>
            <a:ext cx="1234440" cy="361188"/>
          </a:xfrm>
          <a:prstGeom prst="rect">
            <a:avLst/>
          </a:prstGeom>
          <a:noFill/>
          <a:ln/>
        </p:spPr>
        <p:txBody>
          <a:bodyPr wrap="square" lIns="0" tIns="0" rIns="0" bIns="0" rtlCol="0" anchor="ctr"/>
          <a:lstStyle/>
          <a:p>
            <a:pPr indent="0" marL="0">
              <a:buNone/>
            </a:pPr>
            <a:r>
              <a:rPr lang="en-US" sz="900" dirty="0">
                <a:solidFill>
                  <a:schemeClr val="accent5"/>
                </a:solidFill>
                <a:latin typeface="Calibri" pitchFamily="34" charset="0"/>
                <a:ea typeface="Calibri" pitchFamily="34" charset="-122"/>
                <a:cs typeface="Calibri" pitchFamily="34" charset="-120"/>
              </a:rPr>
              <a:t>SCRUM-206</a:t>
            </a:r>
            <a:endParaRPr lang="en-US" sz="900" dirty="0"/>
          </a:p>
        </p:txBody>
      </p:sp>
      <p:sp>
        <p:nvSpPr>
          <p:cNvPr id="51" name="Text 49"/>
          <p:cNvSpPr txBox="1"/>
          <p:nvPr/>
        </p:nvSpPr>
        <p:spPr>
          <a:xfrm>
            <a:off x="7315200" y="3936492"/>
            <a:ext cx="274320" cy="361188"/>
          </a:xfrm>
          <a:prstGeom prst="rect">
            <a:avLst/>
          </a:prstGeom>
          <a:noFill/>
          <a:ln/>
        </p:spPr>
        <p:txBody>
          <a:bodyPr wrap="square" lIns="0" tIns="0" rIns="0" bIns="0" rtlCol="0" anchor="ctr"/>
          <a:lstStyle/>
          <a:p>
            <a:pPr algn="ctr" indent="0" marL="0">
              <a:buNone/>
            </a:pPr>
            <a:r>
              <a:rPr lang="en-US" sz="1050" b="1" dirty="0">
                <a:solidFill>
                  <a:schemeClr val="tx1"/>
                </a:solidFill>
                <a:latin typeface="Calibri" pitchFamily="34" charset="0"/>
                <a:ea typeface="Calibri" pitchFamily="34" charset="-122"/>
                <a:cs typeface="Calibri" pitchFamily="34" charset="-120"/>
              </a:rPr>
              <a:t>5</a:t>
            </a:r>
            <a:endParaRPr lang="en-US" sz="1050" dirty="0"/>
          </a:p>
        </p:txBody>
      </p:sp>
      <p:sp>
        <p:nvSpPr>
          <p:cNvPr id="52" name="badge"/>
          <p:cNvSpPr/>
          <p:nvPr/>
        </p:nvSpPr>
        <p:spPr>
          <a:xfrm>
            <a:off x="7662672" y="3998214"/>
            <a:ext cx="932688" cy="237744"/>
          </a:xfrm>
          <a:prstGeom prst="roundRect">
            <a:avLst>
              <a:gd name="adj" fmla="val 50000"/>
            </a:avLst>
          </a:prstGeom>
          <a:solidFill>
            <a:schemeClr val="accent5"/>
          </a:solidFill>
          <a:ln>
            <a:solidFill>
              <a:schemeClr val="accent5"/>
            </a:solidFill>
          </a:ln>
        </p:spPr>
        <p:txBody>
          <a:bodyPr wrap="square" lIns="0" tIns="0" rIns="0" bIns="0" rtlCol="0" anchor="ctr"/>
          <a:lstStyle/>
          <a:p>
            <a:pPr algn="ctr" indent="0" marL="0">
              <a:buNone/>
            </a:pPr>
            <a:r>
              <a:rPr lang="en-US" sz="800" b="1" dirty="0">
                <a:solidFill>
                  <a:schemeClr val="bg1"/>
                </a:solidFill>
                <a:latin typeface="Calibri" pitchFamily="34" charset="0"/>
                <a:ea typeface="Calibri" pitchFamily="34" charset="-122"/>
                <a:cs typeface="Calibri" pitchFamily="34" charset="-120"/>
              </a:rPr>
              <a:t>ITERATION 3</a:t>
            </a:r>
            <a:endParaRPr lang="en-US" sz="800" dirty="0"/>
          </a:p>
        </p:txBody>
      </p:sp>
      <p:sp>
        <p:nvSpPr>
          <p:cNvPr id="25" name="Slide Number Placeholder 0"/>
          <p:cNvSpPr>
            <a:spLocks noGrp="1"/>
          </p:cNvSpPr>
          <p:nvPr>
            <p:ph type="sldNum" sz="quarter" idx="4294967295"/>
          </p:nvPr>
        </p:nvSpPr>
        <p:spPr>
          <a:xfrm>
            <a:off x="8458200" y="473659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400800" cy="566928"/>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What Iteration 2 Actually Ships</a:t>
            </a:r>
            <a:endParaRPr lang="en-US" sz="2600" dirty="0"/>
          </a:p>
        </p:txBody>
      </p:sp>
      <p:sp>
        <p:nvSpPr>
          <p:cNvPr id="3" name="Text 0"/>
          <p:cNvSpPr/>
          <p:nvPr>
            <p:ph idx="101" type="body" hasCustomPrompt="1"/>
          </p:nvPr>
        </p:nvSpPr>
        <p:spPr>
          <a:xfrm>
            <a:off x="457200" y="4645152"/>
            <a:ext cx="8229600" cy="329184"/>
          </a:xfrm>
          <a:prstGeom prst="rect">
            <a:avLst/>
          </a:prstGeom>
          <a:noFill/>
          <a:ln/>
        </p:spPr>
        <p:txBody>
          <a:bodyPr wrap="square" lIns="0" tIns="0" rIns="0" bIns="0" rtlCol="0" anchor="ctr"/>
          <a:lstStyle/>
          <a:p>
            <a:pPr indent="0" marL="0">
              <a:buNone/>
            </a:pPr>
            <a:r>
              <a:rPr lang="en-US" sz="1000" i="1" dirty="0">
                <a:solidFill>
                  <a:schemeClr val="accent5"/>
                </a:solidFill>
                <a:latin typeface="Calibri" pitchFamily="34" charset="0"/>
                <a:ea typeface="Calibri" pitchFamily="34" charset="-122"/>
                <a:cs typeface="Calibri" pitchFamily="34" charset="-120"/>
              </a:rPr>
              <a:t>Counted from the code at commit 5c4bcc8 against the Iteration1 tag. Screens are page components; routes are entries in the route table.</a:t>
            </a:r>
            <a:endParaRPr lang="en-US" sz="1000" dirty="0"/>
          </a:p>
        </p:txBody>
      </p:sp>
      <p:sp>
        <p:nvSpPr>
          <p:cNvPr id="4" name="speaker"/>
          <p:cNvSpPr/>
          <p:nvPr/>
        </p:nvSpPr>
        <p:spPr>
          <a:xfrm>
            <a:off x="6949440" y="301752"/>
            <a:ext cx="1737360" cy="429768"/>
          </a:xfrm>
          <a:prstGeom prst="roundRect">
            <a:avLst>
              <a:gd name="adj" fmla="val 17021"/>
            </a:avLst>
          </a:prstGeom>
          <a:solidFill>
            <a:schemeClr val="tx1"/>
          </a:solidFill>
          <a:ln>
            <a:solidFill>
              <a:schemeClr val="tx1"/>
            </a:solid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Alex</a:t>
            </a:r>
            <a:endParaRPr lang="en-US" sz="1200" dirty="0"/>
          </a:p>
        </p:txBody>
      </p:sp>
      <p:sp>
        <p:nvSpPr>
          <p:cNvPr id="5" name="card"/>
          <p:cNvSpPr/>
          <p:nvPr/>
        </p:nvSpPr>
        <p:spPr>
          <a:xfrm>
            <a:off x="457200" y="960120"/>
            <a:ext cx="1581912" cy="960120"/>
          </a:xfrm>
          <a:prstGeom prst="roundRect">
            <a:avLst>
              <a:gd name="adj" fmla="val 5714"/>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6" name="Text 4"/>
          <p:cNvSpPr txBox="1"/>
          <p:nvPr/>
        </p:nvSpPr>
        <p:spPr>
          <a:xfrm>
            <a:off x="457200" y="1024128"/>
            <a:ext cx="1581912" cy="411480"/>
          </a:xfrm>
          <a:prstGeom prst="rect">
            <a:avLst/>
          </a:prstGeom>
          <a:noFill/>
          <a:ln/>
        </p:spPr>
        <p:txBody>
          <a:bodyPr wrap="square" lIns="0" tIns="0" rIns="0" bIns="0" rtlCol="0" anchor="ctr"/>
          <a:lstStyle/>
          <a:p>
            <a:pPr algn="ctr" indent="0" marL="0">
              <a:buNone/>
            </a:pPr>
            <a:r>
              <a:rPr lang="en-US" sz="2600" b="1" dirty="0">
                <a:solidFill>
                  <a:schemeClr val="tx1"/>
                </a:solidFill>
                <a:latin typeface="Cambria" pitchFamily="34" charset="0"/>
                <a:ea typeface="Cambria" pitchFamily="34" charset="-122"/>
                <a:cs typeface="Cambria" pitchFamily="34" charset="-120"/>
              </a:rPr>
              <a:t>19</a:t>
            </a:r>
            <a:endParaRPr lang="en-US" sz="2600" dirty="0"/>
          </a:p>
        </p:txBody>
      </p:sp>
      <p:sp>
        <p:nvSpPr>
          <p:cNvPr id="7" name="Text 5"/>
          <p:cNvSpPr txBox="1"/>
          <p:nvPr/>
        </p:nvSpPr>
        <p:spPr>
          <a:xfrm>
            <a:off x="457200" y="1444752"/>
            <a:ext cx="1581912" cy="201168"/>
          </a:xfrm>
          <a:prstGeom prst="rect">
            <a:avLst/>
          </a:prstGeom>
          <a:noFill/>
          <a:ln/>
        </p:spPr>
        <p:txBody>
          <a:bodyPr wrap="square" lIns="0" tIns="0" rIns="0" bIns="0" rtlCol="0" anchor="t"/>
          <a:lstStyle/>
          <a:p>
            <a:pPr algn="ctr" indent="0" marL="0">
              <a:buNone/>
            </a:pPr>
            <a:r>
              <a:rPr lang="en-US" sz="1000" dirty="0">
                <a:solidFill>
                  <a:schemeClr val="accent5"/>
                </a:solidFill>
                <a:latin typeface="Calibri" pitchFamily="34" charset="0"/>
                <a:ea typeface="Calibri" pitchFamily="34" charset="-122"/>
                <a:cs typeface="Calibri" pitchFamily="34" charset="-120"/>
              </a:rPr>
              <a:t>screens</a:t>
            </a:r>
            <a:endParaRPr lang="en-US" sz="1000" dirty="0"/>
          </a:p>
        </p:txBody>
      </p:sp>
      <p:sp>
        <p:nvSpPr>
          <p:cNvPr id="8" name="Text 6"/>
          <p:cNvSpPr txBox="1"/>
          <p:nvPr/>
        </p:nvSpPr>
        <p:spPr>
          <a:xfrm>
            <a:off x="457200" y="1645920"/>
            <a:ext cx="1581912" cy="201168"/>
          </a:xfrm>
          <a:prstGeom prst="rect">
            <a:avLst/>
          </a:prstGeom>
          <a:noFill/>
          <a:ln/>
        </p:spPr>
        <p:txBody>
          <a:bodyPr wrap="square" lIns="0" tIns="0" rIns="0" bIns="0" rtlCol="0" anchor="t"/>
          <a:lstStyle/>
          <a:p>
            <a:pPr algn="ctr" indent="0" marL="0">
              <a:buNone/>
            </a:pPr>
            <a:r>
              <a:rPr lang="en-US" sz="950" b="1" dirty="0">
                <a:solidFill>
                  <a:schemeClr val="accent3"/>
                </a:solidFill>
                <a:latin typeface="Calibri" pitchFamily="34" charset="0"/>
                <a:ea typeface="Calibri" pitchFamily="34" charset="-122"/>
                <a:cs typeface="Calibri" pitchFamily="34" charset="-120"/>
              </a:rPr>
              <a:t>16 → 19</a:t>
            </a:r>
            <a:endParaRPr lang="en-US" sz="950" dirty="0"/>
          </a:p>
        </p:txBody>
      </p:sp>
      <p:sp>
        <p:nvSpPr>
          <p:cNvPr id="9" name="card"/>
          <p:cNvSpPr/>
          <p:nvPr/>
        </p:nvSpPr>
        <p:spPr>
          <a:xfrm>
            <a:off x="2130552" y="960120"/>
            <a:ext cx="1581912" cy="960120"/>
          </a:xfrm>
          <a:prstGeom prst="roundRect">
            <a:avLst>
              <a:gd name="adj" fmla="val 5714"/>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10" name="Text 8"/>
          <p:cNvSpPr txBox="1"/>
          <p:nvPr/>
        </p:nvSpPr>
        <p:spPr>
          <a:xfrm>
            <a:off x="2130552" y="1024128"/>
            <a:ext cx="1581912" cy="411480"/>
          </a:xfrm>
          <a:prstGeom prst="rect">
            <a:avLst/>
          </a:prstGeom>
          <a:noFill/>
          <a:ln/>
        </p:spPr>
        <p:txBody>
          <a:bodyPr wrap="square" lIns="0" tIns="0" rIns="0" bIns="0" rtlCol="0" anchor="ctr"/>
          <a:lstStyle/>
          <a:p>
            <a:pPr algn="ctr" indent="0" marL="0">
              <a:buNone/>
            </a:pPr>
            <a:r>
              <a:rPr lang="en-US" sz="2600" b="1" dirty="0">
                <a:solidFill>
                  <a:schemeClr val="tx1"/>
                </a:solidFill>
                <a:latin typeface="Cambria" pitchFamily="34" charset="0"/>
                <a:ea typeface="Cambria" pitchFamily="34" charset="-122"/>
                <a:cs typeface="Cambria" pitchFamily="34" charset="-120"/>
              </a:rPr>
              <a:t>48</a:t>
            </a:r>
            <a:endParaRPr lang="en-US" sz="2600" dirty="0"/>
          </a:p>
        </p:txBody>
      </p:sp>
      <p:sp>
        <p:nvSpPr>
          <p:cNvPr id="11" name="Text 9"/>
          <p:cNvSpPr txBox="1"/>
          <p:nvPr/>
        </p:nvSpPr>
        <p:spPr>
          <a:xfrm>
            <a:off x="2130552" y="1444752"/>
            <a:ext cx="1581912" cy="201168"/>
          </a:xfrm>
          <a:prstGeom prst="rect">
            <a:avLst/>
          </a:prstGeom>
          <a:noFill/>
          <a:ln/>
        </p:spPr>
        <p:txBody>
          <a:bodyPr wrap="square" lIns="0" tIns="0" rIns="0" bIns="0" rtlCol="0" anchor="t"/>
          <a:lstStyle/>
          <a:p>
            <a:pPr algn="ctr" indent="0" marL="0">
              <a:buNone/>
            </a:pPr>
            <a:r>
              <a:rPr lang="en-US" sz="1000" dirty="0">
                <a:solidFill>
                  <a:schemeClr val="accent5"/>
                </a:solidFill>
                <a:latin typeface="Calibri" pitchFamily="34" charset="0"/>
                <a:ea typeface="Calibri" pitchFamily="34" charset="-122"/>
                <a:cs typeface="Calibri" pitchFamily="34" charset="-120"/>
              </a:rPr>
              <a:t>API routes</a:t>
            </a:r>
            <a:endParaRPr lang="en-US" sz="1000" dirty="0"/>
          </a:p>
        </p:txBody>
      </p:sp>
      <p:sp>
        <p:nvSpPr>
          <p:cNvPr id="12" name="Text 10"/>
          <p:cNvSpPr txBox="1"/>
          <p:nvPr/>
        </p:nvSpPr>
        <p:spPr>
          <a:xfrm>
            <a:off x="2130552" y="1645920"/>
            <a:ext cx="1581912" cy="201168"/>
          </a:xfrm>
          <a:prstGeom prst="rect">
            <a:avLst/>
          </a:prstGeom>
          <a:noFill/>
          <a:ln/>
        </p:spPr>
        <p:txBody>
          <a:bodyPr wrap="square" lIns="0" tIns="0" rIns="0" bIns="0" rtlCol="0" anchor="t"/>
          <a:lstStyle/>
          <a:p>
            <a:pPr algn="ctr" indent="0" marL="0">
              <a:buNone/>
            </a:pPr>
            <a:r>
              <a:rPr lang="en-US" sz="950" b="1" dirty="0">
                <a:solidFill>
                  <a:schemeClr val="accent3"/>
                </a:solidFill>
                <a:latin typeface="Calibri" pitchFamily="34" charset="0"/>
                <a:ea typeface="Calibri" pitchFamily="34" charset="-122"/>
                <a:cs typeface="Calibri" pitchFamily="34" charset="-120"/>
              </a:rPr>
              <a:t>29 → 48</a:t>
            </a:r>
            <a:endParaRPr lang="en-US" sz="950" dirty="0"/>
          </a:p>
        </p:txBody>
      </p:sp>
      <p:sp>
        <p:nvSpPr>
          <p:cNvPr id="13" name="card"/>
          <p:cNvSpPr/>
          <p:nvPr/>
        </p:nvSpPr>
        <p:spPr>
          <a:xfrm>
            <a:off x="3803904" y="960120"/>
            <a:ext cx="1581912" cy="960120"/>
          </a:xfrm>
          <a:prstGeom prst="roundRect">
            <a:avLst>
              <a:gd name="adj" fmla="val 5714"/>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14" name="Text 12"/>
          <p:cNvSpPr txBox="1"/>
          <p:nvPr/>
        </p:nvSpPr>
        <p:spPr>
          <a:xfrm>
            <a:off x="3803904" y="1024128"/>
            <a:ext cx="1581912" cy="411480"/>
          </a:xfrm>
          <a:prstGeom prst="rect">
            <a:avLst/>
          </a:prstGeom>
          <a:noFill/>
          <a:ln/>
        </p:spPr>
        <p:txBody>
          <a:bodyPr wrap="square" lIns="0" tIns="0" rIns="0" bIns="0" rtlCol="0" anchor="ctr"/>
          <a:lstStyle/>
          <a:p>
            <a:pPr algn="ctr" indent="0" marL="0">
              <a:buNone/>
            </a:pPr>
            <a:r>
              <a:rPr lang="en-US" sz="2600" b="1" dirty="0">
                <a:solidFill>
                  <a:schemeClr val="tx1"/>
                </a:solidFill>
                <a:latin typeface="Cambria" pitchFamily="34" charset="0"/>
                <a:ea typeface="Cambria" pitchFamily="34" charset="-122"/>
                <a:cs typeface="Cambria" pitchFamily="34" charset="-120"/>
              </a:rPr>
              <a:t>8</a:t>
            </a:r>
            <a:endParaRPr lang="en-US" sz="2600" dirty="0"/>
          </a:p>
        </p:txBody>
      </p:sp>
      <p:sp>
        <p:nvSpPr>
          <p:cNvPr id="15" name="Text 13"/>
          <p:cNvSpPr txBox="1"/>
          <p:nvPr/>
        </p:nvSpPr>
        <p:spPr>
          <a:xfrm>
            <a:off x="3803904" y="1444752"/>
            <a:ext cx="1581912" cy="201168"/>
          </a:xfrm>
          <a:prstGeom prst="rect">
            <a:avLst/>
          </a:prstGeom>
          <a:noFill/>
          <a:ln/>
        </p:spPr>
        <p:txBody>
          <a:bodyPr wrap="square" lIns="0" tIns="0" rIns="0" bIns="0" rtlCol="0" anchor="t"/>
          <a:lstStyle/>
          <a:p>
            <a:pPr algn="ctr" indent="0" marL="0">
              <a:buNone/>
            </a:pPr>
            <a:r>
              <a:rPr lang="en-US" sz="1000" dirty="0">
                <a:solidFill>
                  <a:schemeClr val="accent5"/>
                </a:solidFill>
                <a:latin typeface="Calibri" pitchFamily="34" charset="0"/>
                <a:ea typeface="Calibri" pitchFamily="34" charset="-122"/>
                <a:cs typeface="Calibri" pitchFamily="34" charset="-120"/>
              </a:rPr>
              <a:t>collections</a:t>
            </a:r>
            <a:endParaRPr lang="en-US" sz="1000" dirty="0"/>
          </a:p>
        </p:txBody>
      </p:sp>
      <p:sp>
        <p:nvSpPr>
          <p:cNvPr id="16" name="Text 14"/>
          <p:cNvSpPr txBox="1"/>
          <p:nvPr/>
        </p:nvSpPr>
        <p:spPr>
          <a:xfrm>
            <a:off x="3803904" y="1645920"/>
            <a:ext cx="1581912" cy="201168"/>
          </a:xfrm>
          <a:prstGeom prst="rect">
            <a:avLst/>
          </a:prstGeom>
          <a:noFill/>
          <a:ln/>
        </p:spPr>
        <p:txBody>
          <a:bodyPr wrap="square" lIns="0" tIns="0" rIns="0" bIns="0" rtlCol="0" anchor="t"/>
          <a:lstStyle/>
          <a:p>
            <a:pPr algn="ctr" indent="0" marL="0">
              <a:buNone/>
            </a:pPr>
            <a:r>
              <a:rPr lang="en-US" sz="950" b="1" dirty="0">
                <a:solidFill>
                  <a:schemeClr val="accent3"/>
                </a:solidFill>
                <a:latin typeface="Calibri" pitchFamily="34" charset="0"/>
                <a:ea typeface="Calibri" pitchFamily="34" charset="-122"/>
                <a:cs typeface="Calibri" pitchFamily="34" charset="-120"/>
              </a:rPr>
              <a:t>7 → 8 (UserGroup)</a:t>
            </a:r>
            <a:endParaRPr lang="en-US" sz="950" dirty="0"/>
          </a:p>
        </p:txBody>
      </p:sp>
      <p:sp>
        <p:nvSpPr>
          <p:cNvPr id="17" name="card"/>
          <p:cNvSpPr/>
          <p:nvPr/>
        </p:nvSpPr>
        <p:spPr>
          <a:xfrm>
            <a:off x="5477256" y="960120"/>
            <a:ext cx="1581912" cy="960120"/>
          </a:xfrm>
          <a:prstGeom prst="roundRect">
            <a:avLst>
              <a:gd name="adj" fmla="val 5714"/>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18" name="Text 16"/>
          <p:cNvSpPr txBox="1"/>
          <p:nvPr/>
        </p:nvSpPr>
        <p:spPr>
          <a:xfrm>
            <a:off x="5477256" y="1024128"/>
            <a:ext cx="1581912" cy="411480"/>
          </a:xfrm>
          <a:prstGeom prst="rect">
            <a:avLst/>
          </a:prstGeom>
          <a:noFill/>
          <a:ln/>
        </p:spPr>
        <p:txBody>
          <a:bodyPr wrap="square" lIns="0" tIns="0" rIns="0" bIns="0" rtlCol="0" anchor="ctr"/>
          <a:lstStyle/>
          <a:p>
            <a:pPr algn="ctr" indent="0" marL="0">
              <a:buNone/>
            </a:pPr>
            <a:r>
              <a:rPr lang="en-US" sz="2600" b="1" dirty="0">
                <a:solidFill>
                  <a:schemeClr val="tx1"/>
                </a:solidFill>
                <a:latin typeface="Cambria" pitchFamily="34" charset="0"/>
                <a:ea typeface="Cambria" pitchFamily="34" charset="-122"/>
                <a:cs typeface="Cambria" pitchFamily="34" charset="-120"/>
              </a:rPr>
              <a:t>15</a:t>
            </a:r>
            <a:endParaRPr lang="en-US" sz="2600" dirty="0"/>
          </a:p>
        </p:txBody>
      </p:sp>
      <p:sp>
        <p:nvSpPr>
          <p:cNvPr id="19" name="Text 17"/>
          <p:cNvSpPr txBox="1"/>
          <p:nvPr/>
        </p:nvSpPr>
        <p:spPr>
          <a:xfrm>
            <a:off x="5477256" y="1444752"/>
            <a:ext cx="1581912" cy="201168"/>
          </a:xfrm>
          <a:prstGeom prst="rect">
            <a:avLst/>
          </a:prstGeom>
          <a:noFill/>
          <a:ln/>
        </p:spPr>
        <p:txBody>
          <a:bodyPr wrap="square" lIns="0" tIns="0" rIns="0" bIns="0" rtlCol="0" anchor="t"/>
          <a:lstStyle/>
          <a:p>
            <a:pPr algn="ctr" indent="0" marL="0">
              <a:buNone/>
            </a:pPr>
            <a:r>
              <a:rPr lang="en-US" sz="1000" dirty="0">
                <a:solidFill>
                  <a:schemeClr val="accent5"/>
                </a:solidFill>
                <a:latin typeface="Calibri" pitchFamily="34" charset="0"/>
                <a:ea typeface="Calibri" pitchFamily="34" charset="-122"/>
                <a:cs typeface="Calibri" pitchFamily="34" charset="-120"/>
              </a:rPr>
              <a:t>state transitions</a:t>
            </a:r>
            <a:endParaRPr lang="en-US" sz="1000" dirty="0"/>
          </a:p>
        </p:txBody>
      </p:sp>
      <p:sp>
        <p:nvSpPr>
          <p:cNvPr id="20" name="Text 18"/>
          <p:cNvSpPr txBox="1"/>
          <p:nvPr/>
        </p:nvSpPr>
        <p:spPr>
          <a:xfrm>
            <a:off x="5477256" y="1645920"/>
            <a:ext cx="1581912" cy="201168"/>
          </a:xfrm>
          <a:prstGeom prst="rect">
            <a:avLst/>
          </a:prstGeom>
          <a:noFill/>
          <a:ln/>
        </p:spPr>
        <p:txBody>
          <a:bodyPr wrap="square" lIns="0" tIns="0" rIns="0" bIns="0" rtlCol="0" anchor="t"/>
          <a:lstStyle/>
          <a:p>
            <a:pPr algn="ctr" indent="0" marL="0">
              <a:buNone/>
            </a:pPr>
            <a:r>
              <a:rPr lang="en-US" sz="950" b="1" dirty="0">
                <a:solidFill>
                  <a:schemeClr val="accent3"/>
                </a:solidFill>
                <a:latin typeface="Calibri" pitchFamily="34" charset="0"/>
                <a:ea typeface="Calibri" pitchFamily="34" charset="-122"/>
                <a:cs typeface="Calibri" pitchFamily="34" charset="-120"/>
              </a:rPr>
              <a:t>10 → 15</a:t>
            </a:r>
            <a:endParaRPr lang="en-US" sz="950" dirty="0"/>
          </a:p>
        </p:txBody>
      </p:sp>
      <p:sp>
        <p:nvSpPr>
          <p:cNvPr id="21" name="card"/>
          <p:cNvSpPr/>
          <p:nvPr/>
        </p:nvSpPr>
        <p:spPr>
          <a:xfrm>
            <a:off x="7150608" y="960120"/>
            <a:ext cx="1581912" cy="960120"/>
          </a:xfrm>
          <a:prstGeom prst="roundRect">
            <a:avLst>
              <a:gd name="adj" fmla="val 5714"/>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22" name="Text 20"/>
          <p:cNvSpPr txBox="1"/>
          <p:nvPr/>
        </p:nvSpPr>
        <p:spPr>
          <a:xfrm>
            <a:off x="7150608" y="1024128"/>
            <a:ext cx="1581912" cy="411480"/>
          </a:xfrm>
          <a:prstGeom prst="rect">
            <a:avLst/>
          </a:prstGeom>
          <a:noFill/>
          <a:ln/>
        </p:spPr>
        <p:txBody>
          <a:bodyPr wrap="square" lIns="0" tIns="0" rIns="0" bIns="0" rtlCol="0" anchor="ctr"/>
          <a:lstStyle/>
          <a:p>
            <a:pPr algn="ctr" indent="0" marL="0">
              <a:buNone/>
            </a:pPr>
            <a:r>
              <a:rPr lang="en-US" sz="2600" b="1" dirty="0">
                <a:solidFill>
                  <a:schemeClr val="tx1"/>
                </a:solidFill>
                <a:latin typeface="Cambria" pitchFamily="34" charset="0"/>
                <a:ea typeface="Cambria" pitchFamily="34" charset="-122"/>
                <a:cs typeface="Cambria" pitchFamily="34" charset="-120"/>
              </a:rPr>
              <a:t>25</a:t>
            </a:r>
            <a:endParaRPr lang="en-US" sz="2600" dirty="0"/>
          </a:p>
        </p:txBody>
      </p:sp>
      <p:sp>
        <p:nvSpPr>
          <p:cNvPr id="23" name="Text 21"/>
          <p:cNvSpPr txBox="1"/>
          <p:nvPr/>
        </p:nvSpPr>
        <p:spPr>
          <a:xfrm>
            <a:off x="7150608" y="1444752"/>
            <a:ext cx="1581912" cy="201168"/>
          </a:xfrm>
          <a:prstGeom prst="rect">
            <a:avLst/>
          </a:prstGeom>
          <a:noFill/>
          <a:ln/>
        </p:spPr>
        <p:txBody>
          <a:bodyPr wrap="square" lIns="0" tIns="0" rIns="0" bIns="0" rtlCol="0" anchor="t"/>
          <a:lstStyle/>
          <a:p>
            <a:pPr algn="ctr" indent="0" marL="0">
              <a:buNone/>
            </a:pPr>
            <a:r>
              <a:rPr lang="en-US" sz="1000" dirty="0">
                <a:solidFill>
                  <a:schemeClr val="accent5"/>
                </a:solidFill>
                <a:latin typeface="Calibri" pitchFamily="34" charset="0"/>
                <a:ea typeface="Calibri" pitchFamily="34" charset="-122"/>
                <a:cs typeface="Calibri" pitchFamily="34" charset="-120"/>
              </a:rPr>
              <a:t>audit actions</a:t>
            </a:r>
            <a:endParaRPr lang="en-US" sz="1000" dirty="0"/>
          </a:p>
        </p:txBody>
      </p:sp>
      <p:sp>
        <p:nvSpPr>
          <p:cNvPr id="24" name="Text 22"/>
          <p:cNvSpPr txBox="1"/>
          <p:nvPr/>
        </p:nvSpPr>
        <p:spPr>
          <a:xfrm>
            <a:off x="7150608" y="1645920"/>
            <a:ext cx="1581912" cy="201168"/>
          </a:xfrm>
          <a:prstGeom prst="rect">
            <a:avLst/>
          </a:prstGeom>
          <a:noFill/>
          <a:ln/>
        </p:spPr>
        <p:txBody>
          <a:bodyPr wrap="square" lIns="0" tIns="0" rIns="0" bIns="0" rtlCol="0" anchor="t"/>
          <a:lstStyle/>
          <a:p>
            <a:pPr algn="ctr" indent="0" marL="0">
              <a:buNone/>
            </a:pPr>
            <a:r>
              <a:rPr lang="en-US" sz="950" b="1" dirty="0">
                <a:solidFill>
                  <a:schemeClr val="accent3"/>
                </a:solidFill>
                <a:latin typeface="Calibri" pitchFamily="34" charset="0"/>
                <a:ea typeface="Calibri" pitchFamily="34" charset="-122"/>
                <a:cs typeface="Calibri" pitchFamily="34" charset="-120"/>
              </a:rPr>
              <a:t>13 → 25</a:t>
            </a:r>
            <a:endParaRPr lang="en-US" sz="950" dirty="0"/>
          </a:p>
        </p:txBody>
      </p:sp>
      <p:sp>
        <p:nvSpPr>
          <p:cNvPr id="25" name="screenshot-frame"/>
          <p:cNvSpPr/>
          <p:nvPr/>
        </p:nvSpPr>
        <p:spPr>
          <a:xfrm>
            <a:off x="429768" y="2436238"/>
            <a:ext cx="4626864" cy="1729492"/>
          </a:xfrm>
          <a:prstGeom prst="rect">
            <a:avLst/>
          </a:prstGeom>
          <a:solidFill>
            <a:schemeClr val="bg1"/>
          </a:solidFill>
          <a:ln w="9525">
            <a:solidFill>
              <a:schemeClr val="accent6"/>
            </a:solidFill>
            <a:prstDash val="solid"/>
          </a:ln>
          <a:effectLst>
            <a:outerShdw sx="100000" sy="100000" kx="0" ky="0" algn="bl" rotWithShape="0" blurRad="76200" dist="19050" dir="5400000">
              <a:srgbClr val="1B2430">
                <a:alpha val="8000"/>
              </a:srgbClr>
            </a:outerShdw>
          </a:effectLst>
        </p:spPr>
      </p:sp>
      <p:pic>
        <p:nvPicPr>
          <p:cNvPr id="26" name="screenshot" descr="Approval queue with Return pending and Expired filters">    </p:cNvPr>
          <p:cNvPicPr>
            <a:picLocks noChangeAspect="1"/>
          </p:cNvPicPr>
          <p:nvPr/>
        </p:nvPicPr>
        <p:blipFill>
          <a:blip r:embed="rId1"/>
          <a:stretch>
            <a:fillRect/>
          </a:stretch>
        </p:blipFill>
        <p:spPr>
          <a:xfrm>
            <a:off x="457200" y="2463670"/>
            <a:ext cx="4572000" cy="1674628"/>
          </a:xfrm>
          <a:prstGeom prst="rect">
            <a:avLst/>
          </a:prstGeom>
        </p:spPr>
      </p:pic>
      <p:sp>
        <p:nvSpPr>
          <p:cNvPr id="27" name="card"/>
          <p:cNvSpPr/>
          <p:nvPr/>
        </p:nvSpPr>
        <p:spPr>
          <a:xfrm>
            <a:off x="5257800" y="2103120"/>
            <a:ext cx="3429000" cy="2395728"/>
          </a:xfrm>
          <a:prstGeom prst="roundRect">
            <a:avLst>
              <a:gd name="adj" fmla="val 2290"/>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28" name="Text 25"/>
          <p:cNvSpPr txBox="1"/>
          <p:nvPr/>
        </p:nvSpPr>
        <p:spPr>
          <a:xfrm>
            <a:off x="5440680" y="2212848"/>
            <a:ext cx="3108960" cy="292608"/>
          </a:xfrm>
          <a:prstGeom prst="rect">
            <a:avLst/>
          </a:prstGeom>
          <a:noFill/>
          <a:ln/>
        </p:spPr>
        <p:txBody>
          <a:bodyPr wrap="square" lIns="0" tIns="0" rIns="0" bIns="0" rtlCol="0" anchor="t"/>
          <a:lstStyle/>
          <a:p>
            <a:pPr indent="0" marL="0">
              <a:buNone/>
            </a:pPr>
            <a:r>
              <a:rPr lang="en-US" sz="1400" b="1" dirty="0">
                <a:solidFill>
                  <a:schemeClr val="tx1"/>
                </a:solidFill>
                <a:latin typeface="Cambria" pitchFamily="34" charset="0"/>
                <a:ea typeface="Cambria" pitchFamily="34" charset="-122"/>
                <a:cs typeface="Cambria" pitchFamily="34" charset="-120"/>
              </a:rPr>
              <a:t>The same structure, more of it</a:t>
            </a:r>
            <a:endParaRPr lang="en-US" sz="1400" dirty="0"/>
          </a:p>
        </p:txBody>
      </p:sp>
      <p:sp>
        <p:nvSpPr>
          <p:cNvPr id="29" name="Text 26"/>
          <p:cNvSpPr txBox="1"/>
          <p:nvPr/>
        </p:nvSpPr>
        <p:spPr>
          <a:xfrm>
            <a:off x="5440680" y="2578608"/>
            <a:ext cx="3108960" cy="182880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chemeClr val="tx1"/>
                </a:solidFill>
                <a:latin typeface="Calibri" pitchFamily="34" charset="0"/>
                <a:ea typeface="Calibri" pitchFamily="34" charset="-122"/>
                <a:cs typeface="Calibri" pitchFamily="34" charset="-120"/>
              </a:rPr>
              <a:t>Groups got their own layer top to bottom: model, repository, service, routes and two screens.</a:t>
            </a:r>
            <a:endParaRPr lang="en-US" sz="1100" dirty="0"/>
          </a:p>
          <a:p>
            <a:pPr marL="152400" indent="-152400">
              <a:spcAft>
                <a:spcPts val="500"/>
              </a:spcAft>
              <a:buSzPct val="100000"/>
              <a:buChar char="•"/>
            </a:pPr>
            <a:r>
              <a:rPr lang="en-US" sz="1100" dirty="0">
                <a:solidFill>
                  <a:schemeClr val="tx1"/>
                </a:solidFill>
                <a:latin typeface="Calibri" pitchFamily="34" charset="0"/>
                <a:ea typeface="Calibri" pitchFamily="34" charset="-122"/>
                <a:cs typeface="Calibri" pitchFamily="34" charset="-120"/>
              </a:rPr>
              <a:t>New request states surface everywhere at once: the queue filters, the dashboard and the history timeline.</a:t>
            </a:r>
            <a:endParaRPr lang="en-US" sz="1100" dirty="0"/>
          </a:p>
          <a:p>
            <a:pPr marL="152400" indent="-152400">
              <a:spcAft>
                <a:spcPts val="500"/>
              </a:spcAft>
              <a:buSzPct val="100000"/>
              <a:buChar char="•"/>
            </a:pPr>
            <a:r>
              <a:rPr lang="en-US" sz="1100" dirty="0">
                <a:solidFill>
                  <a:schemeClr val="tx1"/>
                </a:solidFill>
                <a:latin typeface="Calibri" pitchFamily="34" charset="0"/>
                <a:ea typeface="Calibri" pitchFamily="34" charset="-122"/>
                <a:cs typeface="Calibri" pitchFamily="34" charset="-120"/>
              </a:rPr>
              <a:t>Review feedback applied: InviteForm and ResetPasswordForm now live in src/components.</a:t>
            </a:r>
            <a:endParaRPr lang="en-US" sz="1100" dirty="0"/>
          </a:p>
        </p:txBody>
      </p:sp>
      <p:sp>
        <p:nvSpPr>
          <p:cNvPr id="25" name="Slide Number Placeholder 0"/>
          <p:cNvSpPr>
            <a:spLocks noGrp="1"/>
          </p:cNvSpPr>
          <p:nvPr>
            <p:ph type="sldNum" sz="quarter" idx="4294967295"/>
          </p:nvPr>
        </p:nvSpPr>
        <p:spPr>
          <a:xfrm>
            <a:off x="8458200" y="473659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400800" cy="566928"/>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Approval Is a Policy, Not a Rewrite</a:t>
            </a:r>
            <a:endParaRPr lang="en-US" sz="2600" dirty="0"/>
          </a:p>
        </p:txBody>
      </p:sp>
      <p:sp>
        <p:nvSpPr>
          <p:cNvPr id="3" name="Text 0"/>
          <p:cNvSpPr/>
          <p:nvPr>
            <p:ph idx="101" type="body" hasCustomPrompt="1"/>
          </p:nvPr>
        </p:nvSpPr>
        <p:spPr>
          <a:xfrm>
            <a:off x="457200" y="4645152"/>
            <a:ext cx="8229600" cy="329184"/>
          </a:xfrm>
          <a:prstGeom prst="rect">
            <a:avLst/>
          </a:prstGeom>
          <a:noFill/>
          <a:ln/>
        </p:spPr>
        <p:txBody>
          <a:bodyPr wrap="square" lIns="0" tIns="0" rIns="0" bIns="0" rtlCol="0" anchor="ctr"/>
          <a:lstStyle/>
          <a:p>
            <a:pPr indent="0" marL="0">
              <a:buNone/>
            </a:pPr>
            <a:r>
              <a:rPr lang="en-US" sz="1000" i="1" dirty="0">
                <a:solidFill>
                  <a:schemeClr val="accent5"/>
                </a:solidFill>
                <a:latin typeface="Calibri" pitchFamily="34" charset="0"/>
                <a:ea typeface="Calibri" pitchFamily="34" charset="-122"/>
                <a:cs typeface="Calibri" pitchFamily="34" charset="-120"/>
              </a:rPr>
              <a:t>SDD §8.5 Strategy pattern. The Iteration 1 policy interface let SCRUM-148 add a policy without changing approveRequest.</a:t>
            </a:r>
            <a:endParaRPr lang="en-US" sz="1000" dirty="0"/>
          </a:p>
        </p:txBody>
      </p:sp>
      <p:sp>
        <p:nvSpPr>
          <p:cNvPr id="4" name="speaker"/>
          <p:cNvSpPr/>
          <p:nvPr/>
        </p:nvSpPr>
        <p:spPr>
          <a:xfrm>
            <a:off x="6949440" y="301752"/>
            <a:ext cx="1737360" cy="429768"/>
          </a:xfrm>
          <a:prstGeom prst="roundRect">
            <a:avLst>
              <a:gd name="adj" fmla="val 17021"/>
            </a:avLst>
          </a:prstGeom>
          <a:solidFill>
            <a:schemeClr val="tx1"/>
          </a:solidFill>
          <a:ln>
            <a:solidFill>
              <a:schemeClr val="tx1"/>
            </a:solid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Alex</a:t>
            </a:r>
            <a:endParaRPr lang="en-US" sz="1200" dirty="0"/>
          </a:p>
        </p:txBody>
      </p:sp>
      <p:sp>
        <p:nvSpPr>
          <p:cNvPr id="5" name="card"/>
          <p:cNvSpPr/>
          <p:nvPr/>
        </p:nvSpPr>
        <p:spPr>
          <a:xfrm>
            <a:off x="457200" y="960120"/>
            <a:ext cx="5074920" cy="3520440"/>
          </a:xfrm>
          <a:prstGeom prst="roundRect">
            <a:avLst>
              <a:gd name="adj" fmla="val 1558"/>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6" name="flow-box"/>
          <p:cNvSpPr/>
          <p:nvPr/>
        </p:nvSpPr>
        <p:spPr>
          <a:xfrm>
            <a:off x="685800" y="1143000"/>
            <a:ext cx="1828800" cy="457200"/>
          </a:xfrm>
          <a:prstGeom prst="roundRect">
            <a:avLst>
              <a:gd name="adj" fmla="val 12000"/>
            </a:avLst>
          </a:prstGeom>
          <a:solidFill>
            <a:schemeClr val="tx1"/>
          </a:solidFill>
          <a:ln>
            <a:solidFill>
              <a:schemeClr val="tx1"/>
            </a:solidFill>
          </a:ln>
        </p:spPr>
        <p:txBody>
          <a:bodyPr wrap="square" lIns="25400" tIns="25400" rIns="25400" bIns="25400" rtlCol="0" anchor="ctr"/>
          <a:lstStyle/>
          <a:p>
            <a:pPr algn="ctr" indent="0" marL="0">
              <a:buNone/>
            </a:pPr>
            <a:r>
              <a:rPr lang="en-US" sz="1050" b="1" dirty="0">
                <a:solidFill>
                  <a:schemeClr val="bg1"/>
                </a:solidFill>
                <a:latin typeface="Calibri" pitchFamily="34" charset="0"/>
                <a:ea typeface="Calibri" pitchFamily="34" charset="-122"/>
                <a:cs typeface="Calibri" pitchFamily="34" charset="-120"/>
              </a:rPr>
              <a:t>Member submits a request</a:t>
            </a:r>
            <a:endParaRPr lang="en-US" sz="1050" dirty="0"/>
          </a:p>
        </p:txBody>
      </p:sp>
      <p:sp>
        <p:nvSpPr>
          <p:cNvPr id="7" name="arrow"/>
          <p:cNvSpPr/>
          <p:nvPr/>
        </p:nvSpPr>
        <p:spPr>
          <a:xfrm>
            <a:off x="2514600" y="1371600"/>
            <a:ext cx="457200" cy="91"/>
          </a:xfrm>
          <a:prstGeom prst="line">
            <a:avLst/>
          </a:prstGeom>
          <a:noFill/>
          <a:ln w="15875">
            <a:solidFill>
              <a:schemeClr val="accent5"/>
            </a:solidFill>
            <a:prstDash val="solid"/>
            <a:tailEnd type="triangle"/>
          </a:ln>
        </p:spPr>
      </p:sp>
      <p:sp>
        <p:nvSpPr>
          <p:cNvPr id="8" name="flow-box"/>
          <p:cNvSpPr/>
          <p:nvPr/>
        </p:nvSpPr>
        <p:spPr>
          <a:xfrm>
            <a:off x="2971800" y="1143000"/>
            <a:ext cx="2331720" cy="457200"/>
          </a:xfrm>
          <a:prstGeom prst="roundRect">
            <a:avLst>
              <a:gd name="adj" fmla="val 12000"/>
            </a:avLst>
          </a:prstGeom>
          <a:solidFill>
            <a:schemeClr val="tx2"/>
          </a:solidFill>
          <a:ln>
            <a:solidFill>
              <a:schemeClr val="tx2"/>
            </a:solidFill>
          </a:ln>
        </p:spPr>
        <p:txBody>
          <a:bodyPr wrap="square" lIns="25400" tIns="25400" rIns="25400" bIns="25400" rtlCol="0" anchor="ctr"/>
          <a:lstStyle/>
          <a:p>
            <a:pPr algn="ctr" indent="0" marL="0">
              <a:buNone/>
            </a:pPr>
            <a:r>
              <a:rPr lang="en-US" sz="1050" b="1" dirty="0">
                <a:solidFill>
                  <a:schemeClr val="bg1"/>
                </a:solidFill>
                <a:latin typeface="Calibri" pitchFamily="34" charset="0"/>
                <a:ea typeface="Calibri" pitchFamily="34" charset="-122"/>
                <a:cs typeface="Calibri" pitchFamily="34" charset="-120"/>
              </a:rPr>
              <a:t>Asset's approval mode?</a:t>
            </a:r>
            <a:endParaRPr lang="en-US" sz="1050" dirty="0"/>
          </a:p>
        </p:txBody>
      </p:sp>
      <p:sp>
        <p:nvSpPr>
          <p:cNvPr id="9" name="arrow"/>
          <p:cNvSpPr/>
          <p:nvPr/>
        </p:nvSpPr>
        <p:spPr>
          <a:xfrm>
            <a:off x="3383280" y="1600200"/>
            <a:ext cx="91" cy="411480"/>
          </a:xfrm>
          <a:prstGeom prst="line">
            <a:avLst/>
          </a:prstGeom>
          <a:noFill/>
          <a:ln w="15875">
            <a:solidFill>
              <a:schemeClr val="accent5"/>
            </a:solidFill>
            <a:prstDash val="solid"/>
            <a:tailEnd type="triangle"/>
          </a:ln>
        </p:spPr>
      </p:sp>
      <p:sp>
        <p:nvSpPr>
          <p:cNvPr id="10" name="arrow"/>
          <p:cNvSpPr/>
          <p:nvPr/>
        </p:nvSpPr>
        <p:spPr>
          <a:xfrm>
            <a:off x="4892040" y="1600200"/>
            <a:ext cx="91" cy="411480"/>
          </a:xfrm>
          <a:prstGeom prst="line">
            <a:avLst/>
          </a:prstGeom>
          <a:noFill/>
          <a:ln w="15875">
            <a:solidFill>
              <a:schemeClr val="accent5"/>
            </a:solidFill>
            <a:prstDash val="solid"/>
            <a:tailEnd type="triangle"/>
          </a:ln>
        </p:spPr>
      </p:sp>
      <p:sp>
        <p:nvSpPr>
          <p:cNvPr id="11" name="Text 9"/>
          <p:cNvSpPr txBox="1"/>
          <p:nvPr/>
        </p:nvSpPr>
        <p:spPr>
          <a:xfrm>
            <a:off x="2743200" y="1645920"/>
            <a:ext cx="621792" cy="347472"/>
          </a:xfrm>
          <a:prstGeom prst="rect">
            <a:avLst/>
          </a:prstGeom>
          <a:noFill/>
          <a:ln/>
        </p:spPr>
        <p:txBody>
          <a:bodyPr wrap="square" lIns="0" tIns="0" rIns="0" bIns="0" rtlCol="0" anchor="t"/>
          <a:lstStyle/>
          <a:p>
            <a:pPr algn="r" indent="0" marL="0">
              <a:buNone/>
            </a:pPr>
            <a:r>
              <a:rPr lang="en-US" sz="850" dirty="0">
                <a:solidFill>
                  <a:schemeClr val="accent5"/>
                </a:solidFill>
                <a:latin typeface="Calibri" pitchFamily="34" charset="0"/>
                <a:ea typeface="Calibri" pitchFamily="34" charset="-122"/>
                <a:cs typeface="Calibri" pitchFamily="34" charset="-120"/>
              </a:rPr>
              <a:t>Required / Auto</a:t>
            </a:r>
            <a:endParaRPr lang="en-US" sz="850" dirty="0"/>
          </a:p>
        </p:txBody>
      </p:sp>
      <p:sp>
        <p:nvSpPr>
          <p:cNvPr id="12" name="Text 10"/>
          <p:cNvSpPr txBox="1"/>
          <p:nvPr/>
        </p:nvSpPr>
        <p:spPr>
          <a:xfrm>
            <a:off x="4956048" y="1691640"/>
            <a:ext cx="548640" cy="228600"/>
          </a:xfrm>
          <a:prstGeom prst="rect">
            <a:avLst/>
          </a:prstGeom>
          <a:noFill/>
          <a:ln/>
        </p:spPr>
        <p:txBody>
          <a:bodyPr wrap="square" lIns="0" tIns="0" rIns="0" bIns="0" rtlCol="0" anchor="t"/>
          <a:lstStyle/>
          <a:p>
            <a:pPr indent="0" marL="0">
              <a:buNone/>
            </a:pPr>
            <a:r>
              <a:rPr lang="en-US" sz="850" dirty="0">
                <a:solidFill>
                  <a:schemeClr val="accent5"/>
                </a:solidFill>
                <a:latin typeface="Calibri" pitchFamily="34" charset="0"/>
                <a:ea typeface="Calibri" pitchFamily="34" charset="-122"/>
                <a:cs typeface="Calibri" pitchFamily="34" charset="-120"/>
              </a:rPr>
              <a:t>Inherit</a:t>
            </a:r>
            <a:endParaRPr lang="en-US" sz="850" dirty="0"/>
          </a:p>
        </p:txBody>
      </p:sp>
      <p:sp>
        <p:nvSpPr>
          <p:cNvPr id="13" name="flow-box"/>
          <p:cNvSpPr/>
          <p:nvPr/>
        </p:nvSpPr>
        <p:spPr>
          <a:xfrm>
            <a:off x="2788920" y="2011680"/>
            <a:ext cx="1188720" cy="457200"/>
          </a:xfrm>
          <a:prstGeom prst="roundRect">
            <a:avLst>
              <a:gd name="adj" fmla="val 12000"/>
            </a:avLst>
          </a:prstGeom>
          <a:solidFill>
            <a:schemeClr val="bg2"/>
          </a:solidFill>
          <a:ln>
            <a:solidFill>
              <a:schemeClr val="bg2"/>
            </a:solidFill>
          </a:ln>
        </p:spPr>
        <p:txBody>
          <a:bodyPr wrap="square" lIns="25400" tIns="25400" rIns="25400" bIns="25400" rtlCol="0" anchor="ctr"/>
          <a:lstStyle/>
          <a:p>
            <a:pPr algn="ctr" indent="0" marL="0">
              <a:buNone/>
            </a:pPr>
            <a:r>
              <a:rPr lang="en-US" sz="1000" b="1" dirty="0">
                <a:solidFill>
                  <a:schemeClr val="tx1"/>
                </a:solidFill>
                <a:latin typeface="Calibri" pitchFamily="34" charset="0"/>
                <a:ea typeface="Calibri" pitchFamily="34" charset="-122"/>
                <a:cs typeface="Calibri" pitchFamily="34" charset="-120"/>
              </a:rPr>
              <a:t>Use the asset's mode</a:t>
            </a:r>
            <a:endParaRPr lang="en-US" sz="1000" dirty="0"/>
          </a:p>
        </p:txBody>
      </p:sp>
      <p:sp>
        <p:nvSpPr>
          <p:cNvPr id="14" name="flow-box"/>
          <p:cNvSpPr/>
          <p:nvPr/>
        </p:nvSpPr>
        <p:spPr>
          <a:xfrm>
            <a:off x="4160520" y="2011680"/>
            <a:ext cx="1234440" cy="457200"/>
          </a:xfrm>
          <a:prstGeom prst="roundRect">
            <a:avLst>
              <a:gd name="adj" fmla="val 12000"/>
            </a:avLst>
          </a:prstGeom>
          <a:solidFill>
            <a:schemeClr val="bg2"/>
          </a:solidFill>
          <a:ln>
            <a:solidFill>
              <a:schemeClr val="bg2"/>
            </a:solidFill>
          </a:ln>
        </p:spPr>
        <p:txBody>
          <a:bodyPr wrap="square" lIns="25400" tIns="25400" rIns="25400" bIns="25400" rtlCol="0" anchor="ctr"/>
          <a:lstStyle/>
          <a:p>
            <a:pPr algn="ctr" indent="0" marL="0">
              <a:buNone/>
            </a:pPr>
            <a:r>
              <a:rPr lang="en-US" sz="950" b="1" dirty="0">
                <a:solidFill>
                  <a:schemeClr val="tx1"/>
                </a:solidFill>
                <a:latin typeface="Calibri" pitchFamily="34" charset="0"/>
                <a:ea typeface="Calibri" pitchFamily="34" charset="-122"/>
                <a:cs typeface="Calibri" pitchFamily="34" charset="-120"/>
              </a:rPr>
              <a:t>Use the organization default</a:t>
            </a:r>
            <a:endParaRPr lang="en-US" sz="950" dirty="0"/>
          </a:p>
        </p:txBody>
      </p:sp>
      <p:sp>
        <p:nvSpPr>
          <p:cNvPr id="15" name="arrow"/>
          <p:cNvSpPr/>
          <p:nvPr/>
        </p:nvSpPr>
        <p:spPr>
          <a:xfrm>
            <a:off x="3383280" y="2468880"/>
            <a:ext cx="365760" cy="182880"/>
          </a:xfrm>
          <a:prstGeom prst="line">
            <a:avLst/>
          </a:prstGeom>
          <a:noFill/>
          <a:ln w="15875">
            <a:solidFill>
              <a:schemeClr val="accent5"/>
            </a:solidFill>
            <a:prstDash val="solid"/>
            <a:tailEnd type="triangle"/>
          </a:ln>
        </p:spPr>
      </p:sp>
      <p:sp>
        <p:nvSpPr>
          <p:cNvPr id="16" name="arrow"/>
          <p:cNvSpPr/>
          <p:nvPr/>
        </p:nvSpPr>
        <p:spPr>
          <a:xfrm flipH="1">
            <a:off x="4434840" y="2468880"/>
            <a:ext cx="338328" cy="182880"/>
          </a:xfrm>
          <a:prstGeom prst="line">
            <a:avLst/>
          </a:prstGeom>
          <a:noFill/>
          <a:ln w="15875">
            <a:solidFill>
              <a:schemeClr val="accent5"/>
            </a:solidFill>
            <a:prstDash val="solid"/>
            <a:tailEnd type="triangle"/>
          </a:ln>
        </p:spPr>
      </p:sp>
      <p:sp>
        <p:nvSpPr>
          <p:cNvPr id="17" name="flow-box"/>
          <p:cNvSpPr/>
          <p:nvPr/>
        </p:nvSpPr>
        <p:spPr>
          <a:xfrm>
            <a:off x="3246120" y="2651760"/>
            <a:ext cx="1691640" cy="310896"/>
          </a:xfrm>
          <a:prstGeom prst="roundRect">
            <a:avLst>
              <a:gd name="adj" fmla="val 17647"/>
            </a:avLst>
          </a:prstGeom>
          <a:solidFill>
            <a:schemeClr val="tx2"/>
          </a:solidFill>
          <a:ln>
            <a:solidFill>
              <a:schemeClr val="tx2"/>
            </a:solidFill>
          </a:ln>
        </p:spPr>
        <p:txBody>
          <a:bodyPr wrap="square" lIns="25400" tIns="25400" rIns="25400" bIns="2540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Resolved mode</a:t>
            </a:r>
            <a:endParaRPr lang="en-US" sz="1000" dirty="0"/>
          </a:p>
        </p:txBody>
      </p:sp>
      <p:sp>
        <p:nvSpPr>
          <p:cNvPr id="18" name="arrow"/>
          <p:cNvSpPr/>
          <p:nvPr/>
        </p:nvSpPr>
        <p:spPr>
          <a:xfrm flipH="1">
            <a:off x="1783080" y="2807208"/>
            <a:ext cx="1463040" cy="347472"/>
          </a:xfrm>
          <a:prstGeom prst="line">
            <a:avLst/>
          </a:prstGeom>
          <a:noFill/>
          <a:ln w="15875">
            <a:solidFill>
              <a:schemeClr val="accent5"/>
            </a:solidFill>
            <a:prstDash val="solid"/>
            <a:tailEnd type="triangle"/>
          </a:ln>
        </p:spPr>
      </p:sp>
      <p:sp>
        <p:nvSpPr>
          <p:cNvPr id="19" name="arrow"/>
          <p:cNvSpPr/>
          <p:nvPr/>
        </p:nvSpPr>
        <p:spPr>
          <a:xfrm>
            <a:off x="4251960" y="2962656"/>
            <a:ext cx="91" cy="192024"/>
          </a:xfrm>
          <a:prstGeom prst="line">
            <a:avLst/>
          </a:prstGeom>
          <a:noFill/>
          <a:ln w="15875">
            <a:solidFill>
              <a:schemeClr val="accent5"/>
            </a:solidFill>
            <a:prstDash val="solid"/>
            <a:tailEnd type="triangle"/>
          </a:ln>
        </p:spPr>
      </p:sp>
      <p:sp>
        <p:nvSpPr>
          <p:cNvPr id="20" name="flow-box"/>
          <p:cNvSpPr/>
          <p:nvPr/>
        </p:nvSpPr>
        <p:spPr>
          <a:xfrm>
            <a:off x="685800" y="3154680"/>
            <a:ext cx="2194560" cy="365760"/>
          </a:xfrm>
          <a:prstGeom prst="roundRect">
            <a:avLst>
              <a:gd name="adj" fmla="val 15000"/>
            </a:avLst>
          </a:prstGeom>
          <a:solidFill>
            <a:schemeClr val="accent1"/>
          </a:solidFill>
          <a:ln>
            <a:solidFill>
              <a:schemeClr val="accent1"/>
            </a:solidFill>
          </a:ln>
        </p:spPr>
        <p:txBody>
          <a:bodyPr wrap="square" lIns="25400" tIns="25400" rIns="25400" bIns="25400" rtlCol="0" anchor="ctr"/>
          <a:lstStyle/>
          <a:p>
            <a:pPr algn="ctr" indent="0" marL="0">
              <a:buNone/>
            </a:pPr>
            <a:r>
              <a:rPr lang="en-US" sz="1050" b="1" dirty="0">
                <a:solidFill>
                  <a:schemeClr val="tx1"/>
                </a:solidFill>
                <a:latin typeface="Calibri" pitchFamily="34" charset="0"/>
                <a:ea typeface="Calibri" pitchFamily="34" charset="-122"/>
                <a:cs typeface="Calibri" pitchFamily="34" charset="-120"/>
              </a:rPr>
              <a:t>REQUIRED</a:t>
            </a:r>
            <a:endParaRPr lang="en-US" sz="1050" dirty="0"/>
          </a:p>
        </p:txBody>
      </p:sp>
      <p:sp>
        <p:nvSpPr>
          <p:cNvPr id="21" name="flow-box"/>
          <p:cNvSpPr/>
          <p:nvPr/>
        </p:nvSpPr>
        <p:spPr>
          <a:xfrm>
            <a:off x="3108960" y="3154680"/>
            <a:ext cx="2286000" cy="365760"/>
          </a:xfrm>
          <a:prstGeom prst="roundRect">
            <a:avLst>
              <a:gd name="adj" fmla="val 15000"/>
            </a:avLst>
          </a:prstGeom>
          <a:solidFill>
            <a:schemeClr val="accent2"/>
          </a:solidFill>
          <a:ln>
            <a:solidFill>
              <a:schemeClr val="accent2"/>
            </a:solidFill>
          </a:ln>
        </p:spPr>
        <p:txBody>
          <a:bodyPr wrap="square" lIns="25400" tIns="25400" rIns="25400" bIns="25400" rtlCol="0" anchor="ctr"/>
          <a:lstStyle/>
          <a:p>
            <a:pPr algn="ctr" indent="0" marL="0">
              <a:buNone/>
            </a:pPr>
            <a:r>
              <a:rPr lang="en-US" sz="1050" b="1" dirty="0">
                <a:solidFill>
                  <a:schemeClr val="bg1"/>
                </a:solidFill>
                <a:latin typeface="Calibri" pitchFamily="34" charset="0"/>
                <a:ea typeface="Calibri" pitchFamily="34" charset="-122"/>
                <a:cs typeface="Calibri" pitchFamily="34" charset="-120"/>
              </a:rPr>
              <a:t>AUTO</a:t>
            </a:r>
            <a:endParaRPr lang="en-US" sz="1050" dirty="0"/>
          </a:p>
        </p:txBody>
      </p:sp>
      <p:sp>
        <p:nvSpPr>
          <p:cNvPr id="22" name="Text 20"/>
          <p:cNvSpPr txBox="1"/>
          <p:nvPr/>
        </p:nvSpPr>
        <p:spPr>
          <a:xfrm>
            <a:off x="685800" y="3584448"/>
            <a:ext cx="2240280" cy="457200"/>
          </a:xfrm>
          <a:prstGeom prst="rect">
            <a:avLst/>
          </a:prstGeom>
          <a:noFill/>
          <a:ln/>
        </p:spPr>
        <p:txBody>
          <a:bodyPr wrap="square" lIns="0" tIns="0" rIns="0" bIns="0" rtlCol="0" anchor="t"/>
          <a:lstStyle/>
          <a:p>
            <a:pPr indent="0" marL="0">
              <a:buNone/>
            </a:pPr>
            <a:r>
              <a:rPr lang="en-US" sz="1000" dirty="0">
                <a:solidFill>
                  <a:schemeClr val="tx1"/>
                </a:solidFill>
                <a:latin typeface="Calibri" pitchFamily="34" charset="0"/>
                <a:ea typeface="Calibri" pitchFamily="34" charset="-122"/>
                <a:cs typeface="Calibri" pitchFamily="34" charset="-120"/>
              </a:rPr>
              <a:t>PENDING in the approval queue. The approver may not be the requester.</a:t>
            </a:r>
            <a:endParaRPr lang="en-US" sz="1000" dirty="0"/>
          </a:p>
        </p:txBody>
      </p:sp>
      <p:sp>
        <p:nvSpPr>
          <p:cNvPr id="23" name="Text 21"/>
          <p:cNvSpPr txBox="1"/>
          <p:nvPr/>
        </p:nvSpPr>
        <p:spPr>
          <a:xfrm>
            <a:off x="3108960" y="3584448"/>
            <a:ext cx="2286000" cy="457200"/>
          </a:xfrm>
          <a:prstGeom prst="rect">
            <a:avLst/>
          </a:prstGeom>
          <a:noFill/>
          <a:ln/>
        </p:spPr>
        <p:txBody>
          <a:bodyPr wrap="square" lIns="0" tIns="0" rIns="0" bIns="0" rtlCol="0" anchor="t"/>
          <a:lstStyle/>
          <a:p>
            <a:pPr indent="0" marL="0">
              <a:buNone/>
            </a:pPr>
            <a:r>
              <a:rPr lang="en-US" sz="1000" dirty="0">
                <a:solidFill>
                  <a:schemeClr val="tx1"/>
                </a:solidFill>
                <a:latin typeface="Calibri" pitchFamily="34" charset="0"/>
                <a:ea typeface="Calibri" pitchFamily="34" charset="-122"/>
                <a:cs typeface="Calibri" pitchFamily="34" charset="-120"/>
              </a:rPr>
              <a:t>APPROVED at once, unit HELD, audited as REQUEST_AUTO_APPROVED.</a:t>
            </a:r>
            <a:endParaRPr lang="en-US" sz="1000" dirty="0"/>
          </a:p>
        </p:txBody>
      </p:sp>
      <p:sp>
        <p:nvSpPr>
          <p:cNvPr id="24" name="Text 22"/>
          <p:cNvSpPr txBox="1"/>
          <p:nvPr/>
        </p:nvSpPr>
        <p:spPr>
          <a:xfrm>
            <a:off x="685800" y="4087368"/>
            <a:ext cx="4663440" cy="274320"/>
          </a:xfrm>
          <a:prstGeom prst="rect">
            <a:avLst/>
          </a:prstGeom>
          <a:noFill/>
          <a:ln/>
        </p:spPr>
        <p:txBody>
          <a:bodyPr wrap="square" lIns="0" tIns="0" rIns="0" bIns="0" rtlCol="0" anchor="t"/>
          <a:lstStyle/>
          <a:p>
            <a:pPr indent="0" marL="0">
              <a:buNone/>
            </a:pPr>
            <a:r>
              <a:rPr lang="en-US" sz="1000" b="1" i="1" dirty="0">
                <a:solidFill>
                  <a:schemeClr val="accent4"/>
                </a:solidFill>
                <a:latin typeface="Calibri" pitchFamily="34" charset="0"/>
                <a:ea typeface="Calibri" pitchFamily="34" charset="-122"/>
                <a:cs typeface="Calibri" pitchFamily="34" charset="-120"/>
              </a:rPr>
              <a:t>Missing or unknown mode → REQUIRED. The rule fails closed.</a:t>
            </a:r>
            <a:endParaRPr lang="en-US" sz="1000" dirty="0"/>
          </a:p>
        </p:txBody>
      </p:sp>
      <p:sp>
        <p:nvSpPr>
          <p:cNvPr id="25" name="screenshot-frame"/>
          <p:cNvSpPr/>
          <p:nvPr/>
        </p:nvSpPr>
        <p:spPr>
          <a:xfrm>
            <a:off x="5733288" y="955548"/>
            <a:ext cx="2980944" cy="1517904"/>
          </a:xfrm>
          <a:prstGeom prst="rect">
            <a:avLst/>
          </a:prstGeom>
          <a:solidFill>
            <a:schemeClr val="bg1"/>
          </a:solidFill>
          <a:ln w="9525">
            <a:solidFill>
              <a:schemeClr val="accent6"/>
            </a:solidFill>
            <a:prstDash val="solid"/>
          </a:ln>
          <a:effectLst>
            <a:outerShdw sx="100000" sy="100000" kx="0" ky="0" algn="bl" rotWithShape="0" blurRad="76200" dist="19050" dir="5400000">
              <a:srgbClr val="1B2430">
                <a:alpha val="8000"/>
              </a:srgbClr>
            </a:outerShdw>
          </a:effectLst>
        </p:spPr>
      </p:sp>
      <p:pic>
        <p:nvPicPr>
          <p:cNvPr id="26" name="screenshot" descr="Organization settings: checkout approval default and pickup window">    </p:cNvPr>
          <p:cNvPicPr>
            <a:picLocks noChangeAspect="1"/>
          </p:cNvPicPr>
          <p:nvPr/>
        </p:nvPicPr>
        <p:blipFill>
          <a:blip r:embed="rId1"/>
          <a:stretch>
            <a:fillRect/>
          </a:stretch>
        </p:blipFill>
        <p:spPr>
          <a:xfrm>
            <a:off x="5760720" y="982980"/>
            <a:ext cx="2926080" cy="1463040"/>
          </a:xfrm>
          <a:prstGeom prst="rect">
            <a:avLst/>
          </a:prstGeom>
        </p:spPr>
      </p:pic>
      <p:sp>
        <p:nvSpPr>
          <p:cNvPr id="27" name="card"/>
          <p:cNvSpPr/>
          <p:nvPr/>
        </p:nvSpPr>
        <p:spPr>
          <a:xfrm>
            <a:off x="5760720" y="2651760"/>
            <a:ext cx="2926080" cy="1828800"/>
          </a:xfrm>
          <a:prstGeom prst="roundRect">
            <a:avLst>
              <a:gd name="adj" fmla="val 3000"/>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28" name="Text 25"/>
          <p:cNvSpPr txBox="1"/>
          <p:nvPr/>
        </p:nvSpPr>
        <p:spPr>
          <a:xfrm>
            <a:off x="5925312" y="2770632"/>
            <a:ext cx="2651760" cy="1645920"/>
          </a:xfrm>
          <a:prstGeom prst="rect">
            <a:avLst/>
          </a:prstGeom>
          <a:noFill/>
          <a:ln/>
        </p:spPr>
        <p:txBody>
          <a:bodyPr wrap="square" lIns="0" tIns="0" rIns="0" bIns="0" rtlCol="0" anchor="t"/>
          <a:lstStyle/>
          <a:p>
            <a:pPr marL="152400" indent="-152400">
              <a:spcAft>
                <a:spcPts val="500"/>
              </a:spcAft>
              <a:buSzPct val="100000"/>
              <a:buChar char="•"/>
            </a:pPr>
            <a:r>
              <a:rPr lang="en-US" sz="1050" b="1" dirty="0">
                <a:solidFill>
                  <a:schemeClr val="tx1"/>
                </a:solidFill>
                <a:latin typeface="Calibri" pitchFamily="34" charset="0"/>
                <a:ea typeface="Calibri" pitchFamily="34" charset="-122"/>
                <a:cs typeface="Calibri" pitchFamily="34" charset="-120"/>
              </a:rPr>
              <a:t>Whether</a:t>
            </a:r>
            <a:pPr indent="0" marL="0">
              <a:spcAft>
                <a:spcPts val="500"/>
              </a:spcAft>
              <a:buNone/>
            </a:pPr>
            <a:r>
              <a:rPr lang="en-US" sz="1050" dirty="0">
                <a:solidFill>
                  <a:schemeClr val="tx1"/>
                </a:solidFill>
                <a:latin typeface="Calibri" pitchFamily="34" charset="0"/>
                <a:ea typeface="Calibri" pitchFamily="34" charset="-122"/>
                <a:cs typeface="Calibri" pitchFamily="34" charset="-120"/>
              </a:rPr>
              <a:t> a human decides is configurable. </a:t>
            </a:r>
            <a:pPr indent="0" marL="0">
              <a:spcAft>
                <a:spcPts val="500"/>
              </a:spcAft>
              <a:buNone/>
            </a:pPr>
            <a:r>
              <a:rPr lang="en-US" sz="1050" b="1" dirty="0">
                <a:solidFill>
                  <a:schemeClr val="tx1"/>
                </a:solidFill>
                <a:latin typeface="Calibri" pitchFamily="34" charset="0"/>
                <a:ea typeface="Calibri" pitchFamily="34" charset="-122"/>
                <a:cs typeface="Calibri" pitchFamily="34" charset="-120"/>
              </a:rPr>
              <a:t>Who</a:t>
            </a:r>
            <a:pPr indent="0" marL="0">
              <a:spcAft>
                <a:spcPts val="500"/>
              </a:spcAft>
              <a:buNone/>
            </a:pPr>
            <a:r>
              <a:rPr lang="en-US" sz="1050" dirty="0">
                <a:solidFill>
                  <a:schemeClr val="tx1"/>
                </a:solidFill>
                <a:latin typeface="Calibri" pitchFamily="34" charset="0"/>
                <a:ea typeface="Calibri" pitchFamily="34" charset="-122"/>
                <a:cs typeface="Calibri" pitchFamily="34" charset="-120"/>
              </a:rPr>
              <a:t> may decide is not.</a:t>
            </a:r>
            <a:endParaRPr lang="en-US" sz="1050" dirty="0"/>
          </a:p>
          <a:p>
            <a:pPr marL="152400" indent="-152400">
              <a:spcAft>
                <a:spcPts val="500"/>
              </a:spcAft>
              <a:buSzPct val="100000"/>
              <a:buChar char="•"/>
            </a:pPr>
            <a:r>
              <a:rPr lang="en-US" sz="1050" dirty="0">
                <a:solidFill>
                  <a:schemeClr val="tx1"/>
                </a:solidFill>
                <a:latin typeface="Calibri" pitchFamily="34" charset="0"/>
                <a:ea typeface="Calibri" pitchFamily="34" charset="-122"/>
                <a:cs typeface="Calibri" pitchFamily="34" charset="-120"/>
              </a:rPr>
              <a:t>Auto-approval has its own audit action, so the log never shows an approval with no approver behind it.</a:t>
            </a:r>
            <a:endParaRPr lang="en-US" sz="1050" dirty="0"/>
          </a:p>
          <a:p>
            <a:pPr marL="152400" indent="-152400">
              <a:spcAft>
                <a:spcPts val="500"/>
              </a:spcAft>
              <a:buSzPct val="100000"/>
              <a:buChar char="•"/>
            </a:pPr>
            <a:r>
              <a:rPr lang="en-US" sz="1050" dirty="0">
                <a:solidFill>
                  <a:schemeClr val="tx1"/>
                </a:solidFill>
                <a:latin typeface="Calibri" pitchFamily="34" charset="0"/>
                <a:ea typeface="Calibri" pitchFamily="34" charset="-122"/>
                <a:cs typeface="Calibri" pitchFamily="34" charset="-120"/>
              </a:rPr>
              <a:t>Changing the default is audited with before and after values.</a:t>
            </a:r>
            <a:endParaRPr lang="en-US" sz="1050" dirty="0"/>
          </a:p>
        </p:txBody>
      </p:sp>
      <p:sp>
        <p:nvSpPr>
          <p:cNvPr id="25" name="Slide Number Placeholder 0"/>
          <p:cNvSpPr>
            <a:spLocks noGrp="1"/>
          </p:cNvSpPr>
          <p:nvPr>
            <p:ph type="sldNum" sz="quarter" idx="4294967295"/>
          </p:nvPr>
        </p:nvSpPr>
        <p:spPr>
          <a:xfrm>
            <a:off x="8458200" y="473659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400800" cy="566928"/>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The Lifecycle Grew, Still One Table</a:t>
            </a:r>
            <a:endParaRPr lang="en-US" sz="2600" dirty="0"/>
          </a:p>
        </p:txBody>
      </p:sp>
      <p:sp>
        <p:nvSpPr>
          <p:cNvPr id="3" name="Text 0"/>
          <p:cNvSpPr/>
          <p:nvPr>
            <p:ph idx="101" type="body" hasCustomPrompt="1"/>
          </p:nvPr>
        </p:nvSpPr>
        <p:spPr>
          <a:xfrm>
            <a:off x="457200" y="4645152"/>
            <a:ext cx="8229600" cy="329184"/>
          </a:xfrm>
          <a:prstGeom prst="rect">
            <a:avLst/>
          </a:prstGeom>
          <a:noFill/>
          <a:ln/>
        </p:spPr>
        <p:txBody>
          <a:bodyPr wrap="square" lIns="0" tIns="0" rIns="0" bIns="0" rtlCol="0" anchor="ctr"/>
          <a:lstStyle/>
          <a:p>
            <a:pPr indent="0" marL="0">
              <a:buNone/>
            </a:pPr>
            <a:r>
              <a:rPr lang="en-US" sz="1000" i="1" dirty="0">
                <a:solidFill>
                  <a:schemeClr val="accent5"/>
                </a:solidFill>
                <a:latin typeface="Calibri" pitchFamily="34" charset="0"/>
                <a:ea typeface="Calibri" pitchFamily="34" charset="-122"/>
                <a:cs typeface="Calibri" pitchFamily="34" charset="-120"/>
              </a:rPr>
              <a:t>checkout.service.js TRANSITIONS. Every handler goes through assertTransition; each transition commits with its audit entry in one transaction.</a:t>
            </a:r>
            <a:endParaRPr lang="en-US" sz="1000" dirty="0"/>
          </a:p>
        </p:txBody>
      </p:sp>
      <p:sp>
        <p:nvSpPr>
          <p:cNvPr id="4" name="speaker"/>
          <p:cNvSpPr/>
          <p:nvPr/>
        </p:nvSpPr>
        <p:spPr>
          <a:xfrm>
            <a:off x="6949440" y="301752"/>
            <a:ext cx="1737360" cy="429768"/>
          </a:xfrm>
          <a:prstGeom prst="roundRect">
            <a:avLst>
              <a:gd name="adj" fmla="val 17021"/>
            </a:avLst>
          </a:prstGeom>
          <a:solidFill>
            <a:schemeClr val="tx1"/>
          </a:solidFill>
          <a:ln>
            <a:solidFill>
              <a:schemeClr val="tx1"/>
            </a:solid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Alex</a:t>
            </a:r>
            <a:endParaRPr lang="en-US" sz="1200" dirty="0"/>
          </a:p>
        </p:txBody>
      </p:sp>
      <p:sp>
        <p:nvSpPr>
          <p:cNvPr id="5" name="card"/>
          <p:cNvSpPr/>
          <p:nvPr/>
        </p:nvSpPr>
        <p:spPr>
          <a:xfrm>
            <a:off x="457200" y="960120"/>
            <a:ext cx="5440680" cy="3520440"/>
          </a:xfrm>
          <a:prstGeom prst="roundRect">
            <a:avLst>
              <a:gd name="adj" fmla="val 1558"/>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6" name="state"/>
          <p:cNvSpPr/>
          <p:nvPr/>
        </p:nvSpPr>
        <p:spPr>
          <a:xfrm>
            <a:off x="640080" y="1417320"/>
            <a:ext cx="896112" cy="384048"/>
          </a:xfrm>
          <a:prstGeom prst="roundRect">
            <a:avLst>
              <a:gd name="adj" fmla="val 14286"/>
            </a:avLst>
          </a:prstGeom>
          <a:solidFill>
            <a:schemeClr val="tx1"/>
          </a:solidFill>
          <a:ln>
            <a:solidFill>
              <a:schemeClr val="tx1"/>
            </a:solid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Pending</a:t>
            </a:r>
            <a:endParaRPr lang="en-US" sz="1000" dirty="0"/>
          </a:p>
        </p:txBody>
      </p:sp>
      <p:sp>
        <p:nvSpPr>
          <p:cNvPr id="7" name="state"/>
          <p:cNvSpPr/>
          <p:nvPr/>
        </p:nvSpPr>
        <p:spPr>
          <a:xfrm>
            <a:off x="1691640" y="1417320"/>
            <a:ext cx="896112" cy="384048"/>
          </a:xfrm>
          <a:prstGeom prst="roundRect">
            <a:avLst>
              <a:gd name="adj" fmla="val 14286"/>
            </a:avLst>
          </a:prstGeom>
          <a:solidFill>
            <a:schemeClr val="tx1"/>
          </a:solidFill>
          <a:ln>
            <a:solidFill>
              <a:schemeClr val="tx1"/>
            </a:solid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Approved</a:t>
            </a:r>
            <a:endParaRPr lang="en-US" sz="1000" dirty="0"/>
          </a:p>
        </p:txBody>
      </p:sp>
      <p:sp>
        <p:nvSpPr>
          <p:cNvPr id="8" name="state"/>
          <p:cNvSpPr/>
          <p:nvPr/>
        </p:nvSpPr>
        <p:spPr>
          <a:xfrm>
            <a:off x="2743200" y="1417320"/>
            <a:ext cx="896112" cy="384048"/>
          </a:xfrm>
          <a:prstGeom prst="roundRect">
            <a:avLst>
              <a:gd name="adj" fmla="val 14286"/>
            </a:avLst>
          </a:prstGeom>
          <a:solidFill>
            <a:schemeClr val="tx1"/>
          </a:solidFill>
          <a:ln>
            <a:solidFill>
              <a:schemeClr val="tx1"/>
            </a:solid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Checked out</a:t>
            </a:r>
            <a:endParaRPr lang="en-US" sz="1000" dirty="0"/>
          </a:p>
        </p:txBody>
      </p:sp>
      <p:sp>
        <p:nvSpPr>
          <p:cNvPr id="9" name="state"/>
          <p:cNvSpPr/>
          <p:nvPr/>
        </p:nvSpPr>
        <p:spPr>
          <a:xfrm>
            <a:off x="3794760" y="1417320"/>
            <a:ext cx="923544" cy="384048"/>
          </a:xfrm>
          <a:prstGeom prst="roundRect">
            <a:avLst>
              <a:gd name="adj" fmla="val 14286"/>
            </a:avLst>
          </a:prstGeom>
          <a:solidFill>
            <a:schemeClr val="accent1"/>
          </a:solidFill>
          <a:ln>
            <a:solidFill>
              <a:schemeClr val="accent1"/>
            </a:solidFill>
          </a:ln>
        </p:spPr>
        <p:txBody>
          <a:bodyPr wrap="square" lIns="0" tIns="0" rIns="0" bIns="0" rtlCol="0" anchor="ctr"/>
          <a:lstStyle/>
          <a:p>
            <a:pPr algn="ctr" indent="0" marL="0">
              <a:buNone/>
            </a:pPr>
            <a:r>
              <a:rPr lang="en-US" sz="1000" b="1" dirty="0">
                <a:solidFill>
                  <a:schemeClr val="tx1"/>
                </a:solidFill>
                <a:latin typeface="Calibri" pitchFamily="34" charset="0"/>
                <a:ea typeface="Calibri" pitchFamily="34" charset="-122"/>
                <a:cs typeface="Calibri" pitchFamily="34" charset="-120"/>
              </a:rPr>
              <a:t>Return pending</a:t>
            </a:r>
            <a:endParaRPr lang="en-US" sz="1000" dirty="0"/>
          </a:p>
        </p:txBody>
      </p:sp>
      <p:sp>
        <p:nvSpPr>
          <p:cNvPr id="10" name="state"/>
          <p:cNvSpPr/>
          <p:nvPr/>
        </p:nvSpPr>
        <p:spPr>
          <a:xfrm>
            <a:off x="4846320" y="1417320"/>
            <a:ext cx="896112" cy="384048"/>
          </a:xfrm>
          <a:prstGeom prst="roundRect">
            <a:avLst>
              <a:gd name="adj" fmla="val 14286"/>
            </a:avLst>
          </a:prstGeom>
          <a:solidFill>
            <a:schemeClr val="tx1"/>
          </a:solidFill>
          <a:ln>
            <a:solidFill>
              <a:schemeClr val="tx1"/>
            </a:solid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Returned</a:t>
            </a:r>
            <a:endParaRPr lang="en-US" sz="1000" dirty="0"/>
          </a:p>
        </p:txBody>
      </p:sp>
      <p:sp>
        <p:nvSpPr>
          <p:cNvPr id="11" name="arrow"/>
          <p:cNvSpPr/>
          <p:nvPr/>
        </p:nvSpPr>
        <p:spPr>
          <a:xfrm>
            <a:off x="1536192" y="1609344"/>
            <a:ext cx="155448" cy="91"/>
          </a:xfrm>
          <a:prstGeom prst="line">
            <a:avLst/>
          </a:prstGeom>
          <a:noFill/>
          <a:ln w="15875">
            <a:solidFill>
              <a:schemeClr val="accent5"/>
            </a:solidFill>
            <a:prstDash val="solid"/>
            <a:tailEnd type="triangle"/>
          </a:ln>
        </p:spPr>
      </p:sp>
      <p:sp>
        <p:nvSpPr>
          <p:cNvPr id="12" name="arrow"/>
          <p:cNvSpPr/>
          <p:nvPr/>
        </p:nvSpPr>
        <p:spPr>
          <a:xfrm>
            <a:off x="2587752" y="1609344"/>
            <a:ext cx="155448" cy="91"/>
          </a:xfrm>
          <a:prstGeom prst="line">
            <a:avLst/>
          </a:prstGeom>
          <a:noFill/>
          <a:ln w="15875">
            <a:solidFill>
              <a:schemeClr val="accent5"/>
            </a:solidFill>
            <a:prstDash val="solid"/>
            <a:tailEnd type="triangle"/>
          </a:ln>
        </p:spPr>
      </p:sp>
      <p:sp>
        <p:nvSpPr>
          <p:cNvPr id="13" name="arrow"/>
          <p:cNvSpPr/>
          <p:nvPr/>
        </p:nvSpPr>
        <p:spPr>
          <a:xfrm>
            <a:off x="3639312" y="1609344"/>
            <a:ext cx="155448" cy="91"/>
          </a:xfrm>
          <a:prstGeom prst="line">
            <a:avLst/>
          </a:prstGeom>
          <a:noFill/>
          <a:ln w="15875">
            <a:solidFill>
              <a:schemeClr val="accent3"/>
            </a:solidFill>
            <a:prstDash val="solid"/>
            <a:tailEnd type="triangle"/>
          </a:ln>
        </p:spPr>
      </p:sp>
      <p:sp>
        <p:nvSpPr>
          <p:cNvPr id="14" name="arrow"/>
          <p:cNvSpPr/>
          <p:nvPr/>
        </p:nvSpPr>
        <p:spPr>
          <a:xfrm>
            <a:off x="4690872" y="1609344"/>
            <a:ext cx="155448" cy="91"/>
          </a:xfrm>
          <a:prstGeom prst="line">
            <a:avLst/>
          </a:prstGeom>
          <a:noFill/>
          <a:ln w="15875">
            <a:solidFill>
              <a:schemeClr val="accent3"/>
            </a:solidFill>
            <a:prstDash val="solid"/>
            <a:tailEnd type="triangle"/>
          </a:ln>
        </p:spPr>
      </p:sp>
      <p:sp>
        <p:nvSpPr>
          <p:cNvPr id="15" name="arrow"/>
          <p:cNvSpPr/>
          <p:nvPr/>
        </p:nvSpPr>
        <p:spPr>
          <a:xfrm>
            <a:off x="4206240" y="1801368"/>
            <a:ext cx="91" cy="274320"/>
          </a:xfrm>
          <a:prstGeom prst="line">
            <a:avLst/>
          </a:prstGeom>
          <a:noFill/>
          <a:ln w="15875">
            <a:solidFill>
              <a:schemeClr val="accent3"/>
            </a:solidFill>
            <a:prstDash val="solid"/>
            <a:tailEnd type="triangle"/>
          </a:ln>
        </p:spPr>
      </p:sp>
      <p:sp>
        <p:nvSpPr>
          <p:cNvPr id="16" name="arrow"/>
          <p:cNvSpPr/>
          <p:nvPr/>
        </p:nvSpPr>
        <p:spPr>
          <a:xfrm flipH="1">
            <a:off x="3383280" y="2075688"/>
            <a:ext cx="822960" cy="91"/>
          </a:xfrm>
          <a:prstGeom prst="line">
            <a:avLst/>
          </a:prstGeom>
          <a:noFill/>
          <a:ln w="15875">
            <a:solidFill>
              <a:schemeClr val="accent3"/>
            </a:solidFill>
            <a:prstDash val="solid"/>
            <a:tailEnd type="triangle"/>
          </a:ln>
        </p:spPr>
      </p:sp>
      <p:sp>
        <p:nvSpPr>
          <p:cNvPr id="17" name="arrow"/>
          <p:cNvSpPr/>
          <p:nvPr/>
        </p:nvSpPr>
        <p:spPr>
          <a:xfrm flipV="1">
            <a:off x="3383280" y="1819656"/>
            <a:ext cx="91" cy="256032"/>
          </a:xfrm>
          <a:prstGeom prst="line">
            <a:avLst/>
          </a:prstGeom>
          <a:noFill/>
          <a:ln w="15875">
            <a:solidFill>
              <a:schemeClr val="accent3"/>
            </a:solidFill>
            <a:prstDash val="solid"/>
            <a:tailEnd type="triangle"/>
          </a:ln>
        </p:spPr>
      </p:sp>
      <p:sp>
        <p:nvSpPr>
          <p:cNvPr id="18" name="Text 16"/>
          <p:cNvSpPr txBox="1"/>
          <p:nvPr/>
        </p:nvSpPr>
        <p:spPr>
          <a:xfrm>
            <a:off x="3401568" y="2112264"/>
            <a:ext cx="822960" cy="201168"/>
          </a:xfrm>
          <a:prstGeom prst="rect">
            <a:avLst/>
          </a:prstGeom>
          <a:noFill/>
          <a:ln/>
        </p:spPr>
        <p:txBody>
          <a:bodyPr wrap="square" lIns="0" tIns="0" rIns="0" bIns="0" rtlCol="0" anchor="t"/>
          <a:lstStyle/>
          <a:p>
            <a:pPr algn="ctr" indent="0" marL="0">
              <a:buNone/>
            </a:pPr>
            <a:r>
              <a:rPr lang="en-US" sz="850" i="1" dirty="0">
                <a:solidFill>
                  <a:schemeClr val="accent3"/>
                </a:solidFill>
                <a:latin typeface="Calibri" pitchFamily="34" charset="0"/>
                <a:ea typeface="Calibri" pitchFamily="34" charset="-122"/>
                <a:cs typeface="Calibri" pitchFamily="34" charset="-120"/>
              </a:rPr>
              <a:t>return rejected</a:t>
            </a:r>
            <a:endParaRPr lang="en-US" sz="850" dirty="0"/>
          </a:p>
        </p:txBody>
      </p:sp>
      <p:sp>
        <p:nvSpPr>
          <p:cNvPr id="19" name="arrow"/>
          <p:cNvSpPr/>
          <p:nvPr/>
        </p:nvSpPr>
        <p:spPr>
          <a:xfrm>
            <a:off x="1088136" y="1801368"/>
            <a:ext cx="91" cy="713232"/>
          </a:xfrm>
          <a:prstGeom prst="line">
            <a:avLst/>
          </a:prstGeom>
          <a:noFill/>
          <a:ln w="15875">
            <a:solidFill>
              <a:schemeClr val="accent5"/>
            </a:solidFill>
            <a:prstDash val="solid"/>
            <a:tailEnd type="triangle"/>
          </a:ln>
        </p:spPr>
      </p:sp>
      <p:sp>
        <p:nvSpPr>
          <p:cNvPr id="20" name="state-terminal"/>
          <p:cNvSpPr/>
          <p:nvPr/>
        </p:nvSpPr>
        <p:spPr>
          <a:xfrm>
            <a:off x="594360" y="2514600"/>
            <a:ext cx="987552" cy="347472"/>
          </a:xfrm>
          <a:prstGeom prst="roundRect">
            <a:avLst>
              <a:gd name="adj" fmla="val 15789"/>
            </a:avLst>
          </a:prstGeom>
          <a:solidFill>
            <a:schemeClr val="bg2"/>
          </a:solidFill>
          <a:ln w="9525">
            <a:solidFill>
              <a:schemeClr val="accent6"/>
            </a:solidFill>
          </a:ln>
        </p:spPr>
        <p:txBody>
          <a:bodyPr wrap="square" lIns="0" tIns="0" rIns="0" bIns="0" rtlCol="0" anchor="ctr"/>
          <a:lstStyle/>
          <a:p>
            <a:pPr algn="ctr" indent="0" marL="0">
              <a:buNone/>
            </a:pPr>
            <a:r>
              <a:rPr lang="en-US" sz="950" dirty="0">
                <a:solidFill>
                  <a:schemeClr val="tx1"/>
                </a:solidFill>
                <a:latin typeface="Calibri" pitchFamily="34" charset="0"/>
                <a:ea typeface="Calibri" pitchFamily="34" charset="-122"/>
                <a:cs typeface="Calibri" pitchFamily="34" charset="-120"/>
              </a:rPr>
              <a:t>Denied · Cancelled</a:t>
            </a:r>
            <a:endParaRPr lang="en-US" sz="950" dirty="0"/>
          </a:p>
        </p:txBody>
      </p:sp>
      <p:sp>
        <p:nvSpPr>
          <p:cNvPr id="21" name="arrow"/>
          <p:cNvSpPr/>
          <p:nvPr/>
        </p:nvSpPr>
        <p:spPr>
          <a:xfrm>
            <a:off x="2139696" y="1801368"/>
            <a:ext cx="91" cy="713232"/>
          </a:xfrm>
          <a:prstGeom prst="line">
            <a:avLst/>
          </a:prstGeom>
          <a:noFill/>
          <a:ln w="15875">
            <a:solidFill>
              <a:schemeClr val="accent3"/>
            </a:solidFill>
            <a:prstDash val="solid"/>
            <a:tailEnd type="triangle"/>
          </a:ln>
        </p:spPr>
      </p:sp>
      <p:sp>
        <p:nvSpPr>
          <p:cNvPr id="22" name="state-terminal"/>
          <p:cNvSpPr/>
          <p:nvPr/>
        </p:nvSpPr>
        <p:spPr>
          <a:xfrm>
            <a:off x="1673352" y="2514600"/>
            <a:ext cx="932688" cy="347472"/>
          </a:xfrm>
          <a:prstGeom prst="roundRect">
            <a:avLst>
              <a:gd name="adj" fmla="val 15789"/>
            </a:avLst>
          </a:prstGeom>
          <a:solidFill>
            <a:schemeClr val="accent1"/>
          </a:solidFill>
          <a:ln w="9525">
            <a:solidFill>
              <a:schemeClr val="accent1"/>
            </a:solidFill>
          </a:ln>
        </p:spPr>
        <p:txBody>
          <a:bodyPr wrap="square" lIns="0" tIns="0" rIns="0" bIns="0" rtlCol="0" anchor="ctr"/>
          <a:lstStyle/>
          <a:p>
            <a:pPr algn="ctr" indent="0" marL="0">
              <a:buNone/>
            </a:pPr>
            <a:r>
              <a:rPr lang="en-US" sz="950" b="1" dirty="0">
                <a:solidFill>
                  <a:schemeClr val="tx1"/>
                </a:solidFill>
                <a:latin typeface="Calibri" pitchFamily="34" charset="0"/>
                <a:ea typeface="Calibri" pitchFamily="34" charset="-122"/>
                <a:cs typeface="Calibri" pitchFamily="34" charset="-120"/>
              </a:rPr>
              <a:t>Expired</a:t>
            </a:r>
            <a:endParaRPr lang="en-US" sz="950" dirty="0"/>
          </a:p>
        </p:txBody>
      </p:sp>
      <p:sp>
        <p:nvSpPr>
          <p:cNvPr id="23" name="arrow"/>
          <p:cNvSpPr/>
          <p:nvPr/>
        </p:nvSpPr>
        <p:spPr>
          <a:xfrm>
            <a:off x="2971800" y="1801368"/>
            <a:ext cx="91" cy="1170432"/>
          </a:xfrm>
          <a:prstGeom prst="line">
            <a:avLst/>
          </a:prstGeom>
          <a:noFill/>
          <a:ln w="15875">
            <a:solidFill>
              <a:schemeClr val="accent5"/>
            </a:solidFill>
            <a:prstDash val="solid"/>
            <a:tailEnd type="triangle"/>
          </a:ln>
        </p:spPr>
      </p:sp>
      <p:sp>
        <p:nvSpPr>
          <p:cNvPr id="24" name="state"/>
          <p:cNvSpPr/>
          <p:nvPr/>
        </p:nvSpPr>
        <p:spPr>
          <a:xfrm>
            <a:off x="2724912" y="2971800"/>
            <a:ext cx="932688" cy="384048"/>
          </a:xfrm>
          <a:prstGeom prst="roundRect">
            <a:avLst>
              <a:gd name="adj" fmla="val 14286"/>
            </a:avLst>
          </a:prstGeom>
          <a:solidFill>
            <a:schemeClr val="tx1"/>
          </a:solidFill>
          <a:ln>
            <a:solidFill>
              <a:schemeClr val="tx1"/>
            </a:solid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Overdue</a:t>
            </a:r>
            <a:endParaRPr lang="en-US" sz="1000" dirty="0"/>
          </a:p>
        </p:txBody>
      </p:sp>
      <p:sp>
        <p:nvSpPr>
          <p:cNvPr id="25" name="arrow"/>
          <p:cNvSpPr/>
          <p:nvPr/>
        </p:nvSpPr>
        <p:spPr>
          <a:xfrm>
            <a:off x="3191256" y="3355848"/>
            <a:ext cx="91" cy="301752"/>
          </a:xfrm>
          <a:prstGeom prst="line">
            <a:avLst/>
          </a:prstGeom>
          <a:noFill/>
          <a:ln w="15875">
            <a:solidFill>
              <a:schemeClr val="accent5"/>
            </a:solidFill>
            <a:prstDash val="solid"/>
            <a:tailEnd type="triangle"/>
          </a:ln>
        </p:spPr>
      </p:sp>
      <p:sp>
        <p:nvSpPr>
          <p:cNvPr id="26" name="state-terminal"/>
          <p:cNvSpPr/>
          <p:nvPr/>
        </p:nvSpPr>
        <p:spPr>
          <a:xfrm>
            <a:off x="2724912" y="3657600"/>
            <a:ext cx="932688" cy="347472"/>
          </a:xfrm>
          <a:prstGeom prst="roundRect">
            <a:avLst>
              <a:gd name="adj" fmla="val 15789"/>
            </a:avLst>
          </a:prstGeom>
          <a:solidFill>
            <a:schemeClr val="bg2"/>
          </a:solidFill>
          <a:ln w="9525">
            <a:solidFill>
              <a:schemeClr val="accent6"/>
            </a:solidFill>
          </a:ln>
        </p:spPr>
        <p:txBody>
          <a:bodyPr wrap="square" lIns="0" tIns="0" rIns="0" bIns="0" rtlCol="0" anchor="ctr"/>
          <a:lstStyle/>
          <a:p>
            <a:pPr algn="ctr" indent="0" marL="0">
              <a:buNone/>
            </a:pPr>
            <a:r>
              <a:rPr lang="en-US" sz="950" dirty="0">
                <a:solidFill>
                  <a:schemeClr val="tx1"/>
                </a:solidFill>
                <a:latin typeface="Calibri" pitchFamily="34" charset="0"/>
                <a:ea typeface="Calibri" pitchFamily="34" charset="-122"/>
                <a:cs typeface="Calibri" pitchFamily="34" charset="-120"/>
              </a:rPr>
              <a:t>Lost</a:t>
            </a:r>
            <a:endParaRPr lang="en-US" sz="950" dirty="0"/>
          </a:p>
        </p:txBody>
      </p:sp>
      <p:sp>
        <p:nvSpPr>
          <p:cNvPr id="27" name="arrow"/>
          <p:cNvSpPr/>
          <p:nvPr/>
        </p:nvSpPr>
        <p:spPr>
          <a:xfrm flipV="1">
            <a:off x="3657600" y="1801368"/>
            <a:ext cx="914400" cy="1362456"/>
          </a:xfrm>
          <a:prstGeom prst="line">
            <a:avLst/>
          </a:prstGeom>
          <a:noFill/>
          <a:ln w="15875">
            <a:solidFill>
              <a:schemeClr val="accent3"/>
            </a:solidFill>
            <a:prstDash val="solid"/>
            <a:tailEnd type="triangle"/>
          </a:ln>
        </p:spPr>
      </p:sp>
      <p:sp>
        <p:nvSpPr>
          <p:cNvPr id="28" name="Text 26"/>
          <p:cNvSpPr txBox="1"/>
          <p:nvPr/>
        </p:nvSpPr>
        <p:spPr>
          <a:xfrm>
            <a:off x="640080" y="4069080"/>
            <a:ext cx="3017520" cy="365760"/>
          </a:xfrm>
          <a:prstGeom prst="rect">
            <a:avLst/>
          </a:prstGeom>
          <a:noFill/>
          <a:ln/>
        </p:spPr>
        <p:txBody>
          <a:bodyPr wrap="square" lIns="0" tIns="0" rIns="0" bIns="0" rtlCol="0" anchor="t"/>
          <a:lstStyle/>
          <a:p>
            <a:pPr indent="0" marL="0">
              <a:buNone/>
            </a:pPr>
            <a:r>
              <a:rPr lang="en-US" sz="900" i="1" dirty="0">
                <a:solidFill>
                  <a:schemeClr val="accent5"/>
                </a:solidFill>
                <a:latin typeface="Calibri" pitchFamily="34" charset="0"/>
                <a:ea typeface="Calibri" pitchFamily="34" charset="-122"/>
                <a:cs typeface="Calibri" pitchFamily="34" charset="-120"/>
              </a:rPr>
              <a:t>Pending and approved requests can also be cancelled. Checked-out units can be marked lost.</a:t>
            </a:r>
            <a:endParaRPr lang="en-US" sz="900" dirty="0"/>
          </a:p>
        </p:txBody>
      </p:sp>
      <p:sp>
        <p:nvSpPr>
          <p:cNvPr id="29" name="legend"/>
          <p:cNvSpPr/>
          <p:nvPr/>
        </p:nvSpPr>
        <p:spPr>
          <a:xfrm>
            <a:off x="3794760" y="3886200"/>
            <a:ext cx="228600" cy="182880"/>
          </a:xfrm>
          <a:prstGeom prst="roundRect">
            <a:avLst>
              <a:gd name="adj" fmla="val 20000"/>
            </a:avLst>
          </a:prstGeom>
          <a:solidFill>
            <a:schemeClr val="accent1"/>
          </a:solidFill>
          <a:ln w="12700">
            <a:solidFill>
              <a:schemeClr val="accent1"/>
            </a:solidFill>
            <a:prstDash val="solid"/>
          </a:ln>
        </p:spPr>
      </p:sp>
      <p:sp>
        <p:nvSpPr>
          <p:cNvPr id="30" name="Text 28"/>
          <p:cNvSpPr txBox="1"/>
          <p:nvPr/>
        </p:nvSpPr>
        <p:spPr>
          <a:xfrm>
            <a:off x="4069080" y="3877056"/>
            <a:ext cx="822960" cy="201168"/>
          </a:xfrm>
          <a:prstGeom prst="rect">
            <a:avLst/>
          </a:prstGeom>
          <a:noFill/>
          <a:ln/>
        </p:spPr>
        <p:txBody>
          <a:bodyPr wrap="square" lIns="0" tIns="0" rIns="0" bIns="0" rtlCol="0" anchor="t"/>
          <a:lstStyle/>
          <a:p>
            <a:pPr indent="0" marL="0">
              <a:buNone/>
            </a:pPr>
            <a:r>
              <a:rPr lang="en-US" sz="950" dirty="0">
                <a:solidFill>
                  <a:schemeClr val="tx1"/>
                </a:solidFill>
                <a:latin typeface="Calibri" pitchFamily="34" charset="0"/>
                <a:ea typeface="Calibri" pitchFamily="34" charset="-122"/>
                <a:cs typeface="Calibri" pitchFamily="34" charset="-120"/>
              </a:rPr>
              <a:t>New state</a:t>
            </a:r>
            <a:endParaRPr lang="en-US" sz="950" dirty="0"/>
          </a:p>
        </p:txBody>
      </p:sp>
      <p:sp>
        <p:nvSpPr>
          <p:cNvPr id="31" name="legend"/>
          <p:cNvSpPr/>
          <p:nvPr/>
        </p:nvSpPr>
        <p:spPr>
          <a:xfrm>
            <a:off x="3794760" y="4206240"/>
            <a:ext cx="228600" cy="0"/>
          </a:xfrm>
          <a:prstGeom prst="line">
            <a:avLst/>
          </a:prstGeom>
          <a:noFill/>
          <a:ln w="19050">
            <a:solidFill>
              <a:schemeClr val="accent3"/>
            </a:solidFill>
            <a:prstDash val="solid"/>
          </a:ln>
        </p:spPr>
      </p:sp>
      <p:sp>
        <p:nvSpPr>
          <p:cNvPr id="32" name="Text 30"/>
          <p:cNvSpPr txBox="1"/>
          <p:nvPr/>
        </p:nvSpPr>
        <p:spPr>
          <a:xfrm>
            <a:off x="4069080" y="4114800"/>
            <a:ext cx="1097280" cy="201168"/>
          </a:xfrm>
          <a:prstGeom prst="rect">
            <a:avLst/>
          </a:prstGeom>
          <a:noFill/>
          <a:ln/>
        </p:spPr>
        <p:txBody>
          <a:bodyPr wrap="square" lIns="0" tIns="0" rIns="0" bIns="0" rtlCol="0" anchor="t"/>
          <a:lstStyle/>
          <a:p>
            <a:pPr indent="0" marL="0">
              <a:buNone/>
            </a:pPr>
            <a:r>
              <a:rPr lang="en-US" sz="950" dirty="0">
                <a:solidFill>
                  <a:schemeClr val="tx1"/>
                </a:solidFill>
                <a:latin typeface="Calibri" pitchFamily="34" charset="0"/>
                <a:ea typeface="Calibri" pitchFamily="34" charset="-122"/>
                <a:cs typeface="Calibri" pitchFamily="34" charset="-120"/>
              </a:rPr>
              <a:t>New transition</a:t>
            </a:r>
            <a:endParaRPr lang="en-US" sz="950" dirty="0"/>
          </a:p>
        </p:txBody>
      </p:sp>
      <p:sp>
        <p:nvSpPr>
          <p:cNvPr id="33" name="card"/>
          <p:cNvSpPr/>
          <p:nvPr/>
        </p:nvSpPr>
        <p:spPr>
          <a:xfrm>
            <a:off x="6126480" y="960120"/>
            <a:ext cx="2560320" cy="3520440"/>
          </a:xfrm>
          <a:prstGeom prst="roundRect">
            <a:avLst>
              <a:gd name="adj" fmla="val 2143"/>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34" name="Text 32"/>
          <p:cNvSpPr txBox="1"/>
          <p:nvPr/>
        </p:nvSpPr>
        <p:spPr>
          <a:xfrm>
            <a:off x="6291072" y="1069848"/>
            <a:ext cx="2286000" cy="292608"/>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What changed and why</a:t>
            </a:r>
            <a:endParaRPr lang="en-US" sz="1300" dirty="0"/>
          </a:p>
        </p:txBody>
      </p:sp>
      <p:sp>
        <p:nvSpPr>
          <p:cNvPr id="35" name="Text 33"/>
          <p:cNvSpPr txBox="1"/>
          <p:nvPr/>
        </p:nvSpPr>
        <p:spPr>
          <a:xfrm>
            <a:off x="6291072" y="1417320"/>
            <a:ext cx="2286000" cy="3017520"/>
          </a:xfrm>
          <a:prstGeom prst="rect">
            <a:avLst/>
          </a:prstGeom>
          <a:noFill/>
          <a:ln/>
        </p:spPr>
        <p:txBody>
          <a:bodyPr wrap="square" lIns="0" tIns="0" rIns="0" bIns="0" rtlCol="0" anchor="t"/>
          <a:lstStyle/>
          <a:p>
            <a:pPr marL="152400" indent="-152400">
              <a:spcAft>
                <a:spcPts val="500"/>
              </a:spcAft>
              <a:buSzPct val="100000"/>
              <a:buChar char="•"/>
            </a:pPr>
            <a:r>
              <a:rPr lang="en-US" sz="1050" b="1" dirty="0">
                <a:solidFill>
                  <a:schemeClr val="tx1"/>
                </a:solidFill>
                <a:latin typeface="Calibri" pitchFamily="34" charset="0"/>
                <a:ea typeface="Calibri" pitchFamily="34" charset="-122"/>
                <a:cs typeface="Calibri" pitchFamily="34" charset="-120"/>
              </a:rPr>
              <a:t>Return pending. </a:t>
            </a:r>
            <a:pPr indent="0" marL="0">
              <a:spcAft>
                <a:spcPts val="500"/>
              </a:spcAft>
              <a:buNone/>
            </a:pPr>
            <a:r>
              <a:rPr lang="en-US" sz="1050" dirty="0">
                <a:solidFill>
                  <a:schemeClr val="tx1"/>
                </a:solidFill>
                <a:latin typeface="Calibri" pitchFamily="34" charset="0"/>
                <a:ea typeface="Calibri" pitchFamily="34" charset="-122"/>
                <a:cs typeface="Calibri" pitchFamily="34" charset="-120"/>
              </a:rPr>
              <a:t>The unit stays out and the borrower stays responsible until someone else confirms.</a:t>
            </a:r>
            <a:endParaRPr lang="en-US" sz="1050" dirty="0"/>
          </a:p>
          <a:p>
            <a:pPr marL="152400" indent="-152400">
              <a:spcAft>
                <a:spcPts val="500"/>
              </a:spcAft>
              <a:buSzPct val="100000"/>
              <a:buChar char="•"/>
            </a:pPr>
            <a:r>
              <a:rPr lang="en-US" sz="1050" b="1" dirty="0">
                <a:solidFill>
                  <a:schemeClr val="tx1"/>
                </a:solidFill>
                <a:latin typeface="Calibri" pitchFamily="34" charset="0"/>
                <a:ea typeface="Calibri" pitchFamily="34" charset="-122"/>
                <a:cs typeface="Calibri" pitchFamily="34" charset="-120"/>
              </a:rPr>
              <a:t>Sole confirmer. </a:t>
            </a:r>
            <a:pPr indent="0" marL="0">
              <a:spcAft>
                <a:spcPts val="500"/>
              </a:spcAft>
              <a:buNone/>
            </a:pPr>
            <a:r>
              <a:rPr lang="en-US" sz="1050" dirty="0">
                <a:solidFill>
                  <a:schemeClr val="tx1"/>
                </a:solidFill>
                <a:latin typeface="Calibri" pitchFamily="34" charset="0"/>
                <a:ea typeface="Calibri" pitchFamily="34" charset="-122"/>
                <a:cs typeface="Calibri" pitchFamily="34" charset="-120"/>
              </a:rPr>
              <a:t>If the borrower is the only approver, they may close it, and the audit entry says so.</a:t>
            </a:r>
            <a:endParaRPr lang="en-US" sz="1050" dirty="0"/>
          </a:p>
          <a:p>
            <a:pPr marL="152400" indent="-152400">
              <a:spcAft>
                <a:spcPts val="500"/>
              </a:spcAft>
              <a:buSzPct val="100000"/>
              <a:buChar char="•"/>
            </a:pPr>
            <a:r>
              <a:rPr lang="en-US" sz="1050" b="1" dirty="0">
                <a:solidFill>
                  <a:schemeClr val="tx1"/>
                </a:solidFill>
                <a:latin typeface="Calibri" pitchFamily="34" charset="0"/>
                <a:ea typeface="Calibri" pitchFamily="34" charset="-122"/>
                <a:cs typeface="Calibri" pitchFamily="34" charset="-120"/>
              </a:rPr>
              <a:t>Expired. </a:t>
            </a:r>
            <a:pPr indent="0" marL="0">
              <a:spcAft>
                <a:spcPts val="500"/>
              </a:spcAft>
              <a:buNone/>
            </a:pPr>
            <a:r>
              <a:rPr lang="en-US" sz="1050" dirty="0">
                <a:solidFill>
                  <a:schemeClr val="tx1"/>
                </a:solidFill>
                <a:latin typeface="Calibri" pitchFamily="34" charset="0"/>
                <a:ea typeface="Calibri" pitchFamily="34" charset="-122"/>
                <a:cs typeface="Calibri" pitchFamily="34" charset="-120"/>
              </a:rPr>
              <a:t>Approvals not collected in the pickup window (48 h default) release the unit.</a:t>
            </a:r>
            <a:endParaRPr lang="en-US" sz="1050" dirty="0"/>
          </a:p>
        </p:txBody>
      </p:sp>
      <p:sp>
        <p:nvSpPr>
          <p:cNvPr id="25" name="Slide Number Placeholder 0"/>
          <p:cNvSpPr>
            <a:spLocks noGrp="1"/>
          </p:cNvSpPr>
          <p:nvPr>
            <p:ph type="sldNum" sz="quarter" idx="4294967295"/>
          </p:nvPr>
        </p:nvSpPr>
        <p:spPr>
          <a:xfrm>
            <a:off x="8458200" y="473659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400800" cy="566928"/>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Who May Borrow Is Now Configurable</a:t>
            </a:r>
            <a:endParaRPr lang="en-US" sz="2600" dirty="0"/>
          </a:p>
        </p:txBody>
      </p:sp>
      <p:sp>
        <p:nvSpPr>
          <p:cNvPr id="3" name="Text 0"/>
          <p:cNvSpPr/>
          <p:nvPr>
            <p:ph idx="101" type="body" hasCustomPrompt="1"/>
          </p:nvPr>
        </p:nvSpPr>
        <p:spPr>
          <a:xfrm>
            <a:off x="457200" y="4645152"/>
            <a:ext cx="8229600" cy="329184"/>
          </a:xfrm>
          <a:prstGeom prst="rect">
            <a:avLst/>
          </a:prstGeom>
          <a:noFill/>
          <a:ln/>
        </p:spPr>
        <p:txBody>
          <a:bodyPr wrap="square" lIns="0" tIns="0" rIns="0" bIns="0" rtlCol="0" anchor="ctr"/>
          <a:lstStyle/>
          <a:p>
            <a:pPr indent="0" marL="0">
              <a:buNone/>
            </a:pPr>
            <a:r>
              <a:rPr lang="en-US" sz="1000" i="1" dirty="0">
                <a:solidFill>
                  <a:schemeClr val="accent5"/>
                </a:solidFill>
                <a:latin typeface="Calibri" pitchFamily="34" charset="0"/>
                <a:ea typeface="Calibri" pitchFamily="34" charset="-122"/>
                <a:cs typeface="Calibri" pitchFamily="34" charset="-120"/>
              </a:rPr>
              <a:t>SCRUM-149 and SCRUM-150. Manual tests MT-26, MT-27 and MT-34; automated suites groups.test.js (41), group.test.js (13), allowedGroupIds.test.js (5).</a:t>
            </a:r>
            <a:endParaRPr lang="en-US" sz="1000" dirty="0"/>
          </a:p>
        </p:txBody>
      </p:sp>
      <p:sp>
        <p:nvSpPr>
          <p:cNvPr id="4" name="speaker"/>
          <p:cNvSpPr/>
          <p:nvPr/>
        </p:nvSpPr>
        <p:spPr>
          <a:xfrm>
            <a:off x="6949440" y="301752"/>
            <a:ext cx="1737360" cy="429768"/>
          </a:xfrm>
          <a:prstGeom prst="roundRect">
            <a:avLst>
              <a:gd name="adj" fmla="val 17021"/>
            </a:avLst>
          </a:prstGeom>
          <a:solidFill>
            <a:schemeClr val="tx1"/>
          </a:solidFill>
          <a:ln>
            <a:solidFill>
              <a:schemeClr val="tx1"/>
            </a:solid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Amber</a:t>
            </a:r>
            <a:endParaRPr lang="en-US" sz="1200" dirty="0"/>
          </a:p>
        </p:txBody>
      </p:sp>
      <p:sp>
        <p:nvSpPr>
          <p:cNvPr id="5" name="screenshot-frame"/>
          <p:cNvSpPr/>
          <p:nvPr/>
        </p:nvSpPr>
        <p:spPr>
          <a:xfrm>
            <a:off x="447798" y="932688"/>
            <a:ext cx="4042163" cy="2020824"/>
          </a:xfrm>
          <a:prstGeom prst="rect">
            <a:avLst/>
          </a:prstGeom>
          <a:solidFill>
            <a:schemeClr val="bg1"/>
          </a:solidFill>
          <a:ln w="9525">
            <a:solidFill>
              <a:schemeClr val="accent6"/>
            </a:solidFill>
            <a:prstDash val="solid"/>
          </a:ln>
          <a:effectLst>
            <a:outerShdw sx="100000" sy="100000" kx="0" ky="0" algn="bl" rotWithShape="0" blurRad="76200" dist="19050" dir="5400000">
              <a:srgbClr val="1B2430">
                <a:alpha val="8000"/>
              </a:srgbClr>
            </a:outerShdw>
          </a:effectLst>
        </p:spPr>
      </p:sp>
      <p:pic>
        <p:nvPicPr>
          <p:cNvPr id="6" name="screenshot" descr="Member view: restricted drone with notice that only Certified Drone Pilots can request it">    </p:cNvPr>
          <p:cNvPicPr>
            <a:picLocks noChangeAspect="1"/>
          </p:cNvPicPr>
          <p:nvPr/>
        </p:nvPicPr>
        <p:blipFill>
          <a:blip r:embed="rId1"/>
          <a:stretch>
            <a:fillRect/>
          </a:stretch>
        </p:blipFill>
        <p:spPr>
          <a:xfrm>
            <a:off x="475230" y="960120"/>
            <a:ext cx="3987299" cy="1965960"/>
          </a:xfrm>
          <a:prstGeom prst="rect">
            <a:avLst/>
          </a:prstGeom>
        </p:spPr>
      </p:pic>
      <p:sp>
        <p:nvSpPr>
          <p:cNvPr id="7" name="screenshot-frame"/>
          <p:cNvSpPr/>
          <p:nvPr/>
        </p:nvSpPr>
        <p:spPr>
          <a:xfrm>
            <a:off x="777943" y="2990088"/>
            <a:ext cx="3381873" cy="1563624"/>
          </a:xfrm>
          <a:prstGeom prst="rect">
            <a:avLst/>
          </a:prstGeom>
          <a:solidFill>
            <a:schemeClr val="bg1"/>
          </a:solidFill>
          <a:ln w="9525">
            <a:solidFill>
              <a:schemeClr val="accent6"/>
            </a:solidFill>
            <a:prstDash val="solid"/>
          </a:ln>
          <a:effectLst>
            <a:outerShdw sx="100000" sy="100000" kx="0" ky="0" algn="bl" rotWithShape="0" blurRad="76200" dist="19050" dir="5400000">
              <a:srgbClr val="1B2430">
                <a:alpha val="8000"/>
              </a:srgbClr>
            </a:outerShdw>
          </a:effectLst>
        </p:spPr>
      </p:sp>
      <p:pic>
        <p:nvPicPr>
          <p:cNvPr id="8" name="screenshot" descr="Group detail page for Certified Drone Pilots">    </p:cNvPr>
          <p:cNvPicPr>
            <a:picLocks noChangeAspect="1"/>
          </p:cNvPicPr>
          <p:nvPr/>
        </p:nvPicPr>
        <p:blipFill>
          <a:blip r:embed="rId2"/>
          <a:stretch>
            <a:fillRect/>
          </a:stretch>
        </p:blipFill>
        <p:spPr>
          <a:xfrm>
            <a:off x="805375" y="3017520"/>
            <a:ext cx="3327009" cy="1508760"/>
          </a:xfrm>
          <a:prstGeom prst="rect">
            <a:avLst/>
          </a:prstGeom>
        </p:spPr>
      </p:pic>
      <p:sp>
        <p:nvSpPr>
          <p:cNvPr id="9" name="card"/>
          <p:cNvSpPr/>
          <p:nvPr/>
        </p:nvSpPr>
        <p:spPr>
          <a:xfrm>
            <a:off x="4709160" y="960120"/>
            <a:ext cx="3977640" cy="3547872"/>
          </a:xfrm>
          <a:prstGeom prst="roundRect">
            <a:avLst>
              <a:gd name="adj" fmla="val 1546"/>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10" name="Text 6"/>
          <p:cNvSpPr txBox="1"/>
          <p:nvPr/>
        </p:nvSpPr>
        <p:spPr>
          <a:xfrm>
            <a:off x="4892040" y="1078992"/>
            <a:ext cx="3657600" cy="292608"/>
          </a:xfrm>
          <a:prstGeom prst="rect">
            <a:avLst/>
          </a:prstGeom>
          <a:noFill/>
          <a:ln/>
        </p:spPr>
        <p:txBody>
          <a:bodyPr wrap="square" lIns="0" tIns="0" rIns="0" bIns="0" rtlCol="0" anchor="t"/>
          <a:lstStyle/>
          <a:p>
            <a:pPr indent="0" marL="0">
              <a:buNone/>
            </a:pPr>
            <a:r>
              <a:rPr lang="en-US" sz="1400" b="1" dirty="0">
                <a:solidFill>
                  <a:schemeClr val="tx1"/>
                </a:solidFill>
                <a:latin typeface="Cambria" pitchFamily="34" charset="0"/>
                <a:ea typeface="Cambria" pitchFamily="34" charset="-122"/>
                <a:cs typeface="Cambria" pitchFamily="34" charset="-120"/>
              </a:rPr>
              <a:t>Enforced on the server, twice</a:t>
            </a:r>
            <a:endParaRPr lang="en-US" sz="1400" dirty="0"/>
          </a:p>
        </p:txBody>
      </p:sp>
      <p:sp>
        <p:nvSpPr>
          <p:cNvPr id="11" name="Text 7"/>
          <p:cNvSpPr txBox="1"/>
          <p:nvPr/>
        </p:nvSpPr>
        <p:spPr>
          <a:xfrm>
            <a:off x="4892040" y="1444752"/>
            <a:ext cx="3657600" cy="3017520"/>
          </a:xfrm>
          <a:prstGeom prst="rect">
            <a:avLst/>
          </a:prstGeom>
          <a:noFill/>
          <a:ln/>
        </p:spPr>
        <p:txBody>
          <a:bodyPr wrap="square" lIns="0" tIns="0" rIns="0" bIns="0" rtlCol="0" anchor="t"/>
          <a:lstStyle/>
          <a:p>
            <a:pPr marL="152400" indent="-152400">
              <a:spcAft>
                <a:spcPts val="500"/>
              </a:spcAft>
              <a:buSzPct val="100000"/>
              <a:buChar char="•"/>
            </a:pPr>
            <a:r>
              <a:rPr lang="en-US" sz="1100" b="1" dirty="0">
                <a:solidFill>
                  <a:schemeClr val="tx1"/>
                </a:solidFill>
                <a:latin typeface="Calibri" pitchFamily="34" charset="0"/>
                <a:ea typeface="Calibri" pitchFamily="34" charset="-122"/>
                <a:cs typeface="Calibri" pitchFamily="34" charset="-120"/>
              </a:rPr>
              <a:t>Checked on submit and on approval. </a:t>
            </a:r>
            <a:pPr indent="0" marL="0">
              <a:spcAft>
                <a:spcPts val="500"/>
              </a:spcAft>
              <a:buNone/>
            </a:pPr>
            <a:r>
              <a:rPr lang="en-US" sz="1100" dirty="0">
                <a:solidFill>
                  <a:schemeClr val="tx1"/>
                </a:solidFill>
                <a:latin typeface="Calibri" pitchFamily="34" charset="0"/>
                <a:ea typeface="Calibri" pitchFamily="34" charset="-122"/>
                <a:cs typeface="Calibri" pitchFamily="34" charset="-120"/>
              </a:rPr>
              <a:t>An approver cannot approve a member who is not eligible, even through a direct API call.</a:t>
            </a:r>
            <a:endParaRPr lang="en-US" sz="1100" dirty="0"/>
          </a:p>
          <a:p>
            <a:pPr marL="152400" indent="-152400">
              <a:spcAft>
                <a:spcPts val="500"/>
              </a:spcAft>
              <a:buSzPct val="100000"/>
              <a:buChar char="•"/>
            </a:pPr>
            <a:r>
              <a:rPr lang="en-US" sz="1100" b="1" dirty="0">
                <a:solidFill>
                  <a:schemeClr val="tx1"/>
                </a:solidFill>
                <a:latin typeface="Calibri" pitchFamily="34" charset="0"/>
                <a:ea typeface="Calibri" pitchFamily="34" charset="-122"/>
                <a:cs typeface="Calibri" pitchFamily="34" charset="-120"/>
              </a:rPr>
              <a:t>Restricted assets stay visible. </a:t>
            </a:r>
            <a:pPr indent="0" marL="0">
              <a:spcAft>
                <a:spcPts val="500"/>
              </a:spcAft>
              <a:buNone/>
            </a:pPr>
            <a:r>
              <a:rPr lang="en-US" sz="1100" dirty="0">
                <a:solidFill>
                  <a:schemeClr val="tx1"/>
                </a:solidFill>
                <a:latin typeface="Calibri" pitchFamily="34" charset="0"/>
                <a:ea typeface="Calibri" pitchFamily="34" charset="-122"/>
                <a:cs typeface="Calibri" pitchFamily="34" charset="-120"/>
              </a:rPr>
              <a:t>Members see a Restricted badge and who can borrow it, so they know whom to ask.</a:t>
            </a:r>
            <a:endParaRPr lang="en-US" sz="1100" dirty="0"/>
          </a:p>
          <a:p>
            <a:pPr marL="152400" indent="-152400">
              <a:spcAft>
                <a:spcPts val="500"/>
              </a:spcAft>
              <a:buSzPct val="100000"/>
              <a:buChar char="•"/>
            </a:pPr>
            <a:r>
              <a:rPr lang="en-US" sz="1100" b="1" dirty="0">
                <a:solidFill>
                  <a:schemeClr val="tx1"/>
                </a:solidFill>
                <a:latin typeface="Calibri" pitchFamily="34" charset="0"/>
                <a:ea typeface="Calibri" pitchFamily="34" charset="-122"/>
                <a:cs typeface="Calibri" pitchFamily="34" charset="-120"/>
              </a:rPr>
              <a:t>Every group change is audited. </a:t>
            </a:r>
            <a:pPr indent="0" marL="0">
              <a:spcAft>
                <a:spcPts val="500"/>
              </a:spcAft>
              <a:buNone/>
            </a:pPr>
            <a:r>
              <a:rPr lang="en-US" sz="1100" dirty="0">
                <a:solidFill>
                  <a:schemeClr val="tx1"/>
                </a:solidFill>
                <a:latin typeface="Calibri" pitchFamily="34" charset="0"/>
                <a:ea typeface="Calibri" pitchFamily="34" charset="-122"/>
                <a:cs typeface="Calibri" pitchFamily="34" charset="-120"/>
              </a:rPr>
              <a:t>Five new actions, from group created to member removed.</a:t>
            </a:r>
            <a:endParaRPr lang="en-US" sz="1100" dirty="0"/>
          </a:p>
          <a:p>
            <a:pPr marL="152400" indent="-152400">
              <a:spcAft>
                <a:spcPts val="500"/>
              </a:spcAft>
              <a:buSzPct val="100000"/>
              <a:buChar char="•"/>
            </a:pPr>
            <a:r>
              <a:rPr lang="en-US" sz="1100" b="1" dirty="0">
                <a:solidFill>
                  <a:schemeClr val="tx1"/>
                </a:solidFill>
                <a:latin typeface="Calibri" pitchFamily="34" charset="0"/>
                <a:ea typeface="Calibri" pitchFamily="34" charset="-122"/>
                <a:cs typeface="Calibri" pitchFamily="34" charset="-120"/>
              </a:rPr>
              <a:t>Tenant isolation extended. </a:t>
            </a:r>
            <a:pPr indent="0" marL="0">
              <a:spcAft>
                <a:spcPts val="500"/>
              </a:spcAft>
              <a:buNone/>
            </a:pPr>
            <a:r>
              <a:rPr lang="en-US" sz="1100" dirty="0">
                <a:solidFill>
                  <a:schemeClr val="tx1"/>
                </a:solidFill>
                <a:latin typeface="Calibri" pitchFamily="34" charset="0"/>
                <a:ea typeface="Calibri" pitchFamily="34" charset="-122"/>
                <a:cs typeface="Calibri" pitchFamily="34" charset="-120"/>
              </a:rPr>
              <a:t>Another organization's group ids return 404, as everywhere else.</a:t>
            </a:r>
            <a:endParaRPr lang="en-US" sz="1100" dirty="0"/>
          </a:p>
          <a:p>
            <a:pPr marL="152400" indent="-152400">
              <a:spcAft>
                <a:spcPts val="500"/>
              </a:spcAft>
              <a:buSzPct val="100000"/>
              <a:buChar char="•"/>
            </a:pPr>
            <a:r>
              <a:rPr lang="en-US" sz="1100" b="1" dirty="0">
                <a:solidFill>
                  <a:schemeClr val="tx1"/>
                </a:solidFill>
                <a:latin typeface="Calibri" pitchFamily="34" charset="0"/>
                <a:ea typeface="Calibri" pitchFamily="34" charset="-122"/>
                <a:cs typeface="Calibri" pitchFamily="34" charset="-120"/>
              </a:rPr>
              <a:t>Deactivated members </a:t>
            </a:r>
            <a:pPr indent="0" marL="0">
              <a:spcAft>
                <a:spcPts val="500"/>
              </a:spcAft>
              <a:buNone/>
            </a:pPr>
            <a:r>
              <a:rPr lang="en-US" sz="1100" dirty="0">
                <a:solidFill>
                  <a:schemeClr val="tx1"/>
                </a:solidFill>
                <a:latin typeface="Calibri" pitchFamily="34" charset="0"/>
                <a:ea typeface="Calibri" pitchFamily="34" charset="-122"/>
                <a:cs typeface="Calibri" pitchFamily="34" charset="-120"/>
              </a:rPr>
              <a:t>get the same 401 at sign-in as a wrong password, so the response reveals nothing.</a:t>
            </a:r>
            <a:endParaRPr lang="en-US" sz="1100" dirty="0"/>
          </a:p>
        </p:txBody>
      </p:sp>
      <p:sp>
        <p:nvSpPr>
          <p:cNvPr id="25" name="Slide Number Placeholder 0"/>
          <p:cNvSpPr>
            <a:spLocks noGrp="1"/>
          </p:cNvSpPr>
          <p:nvPr>
            <p:ph type="sldNum" sz="quarter" idx="4294967295"/>
          </p:nvPr>
        </p:nvSpPr>
        <p:spPr>
          <a:xfrm>
            <a:off x="8458200" y="473659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400800" cy="566928"/>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AI-Assisted Search: The Model Only Ranks</a:t>
            </a:r>
            <a:endParaRPr lang="en-US" sz="2600" dirty="0"/>
          </a:p>
        </p:txBody>
      </p:sp>
      <p:sp>
        <p:nvSpPr>
          <p:cNvPr id="3" name="Text 0"/>
          <p:cNvSpPr/>
          <p:nvPr>
            <p:ph idx="101" type="body" hasCustomPrompt="1"/>
          </p:nvPr>
        </p:nvSpPr>
        <p:spPr>
          <a:xfrm>
            <a:off x="457200" y="4645152"/>
            <a:ext cx="8229600" cy="329184"/>
          </a:xfrm>
          <a:prstGeom prst="rect">
            <a:avLst/>
          </a:prstGeom>
          <a:noFill/>
          <a:ln/>
        </p:spPr>
        <p:txBody>
          <a:bodyPr wrap="square" lIns="0" tIns="0" rIns="0" bIns="0" rtlCol="0" anchor="ctr"/>
          <a:lstStyle/>
          <a:p>
            <a:pPr indent="0" marL="0">
              <a:buNone/>
            </a:pPr>
            <a:r>
              <a:rPr lang="en-US" sz="1000" i="1" dirty="0">
                <a:solidFill>
                  <a:schemeClr val="accent5"/>
                </a:solidFill>
                <a:latin typeface="Calibri" pitchFamily="34" charset="0"/>
                <a:ea typeface="Calibri" pitchFamily="34" charset="-122"/>
                <a:cs typeface="Calibri" pitchFamily="34" charset="-120"/>
              </a:rPr>
              <a:t>SCRUM-103, 145, 146, 200, 201 and 151. The model is mocked in every automated test; Foundry is off by default (FOUNDRY_ENABLED=false).</a:t>
            </a:r>
            <a:endParaRPr lang="en-US" sz="1000" dirty="0"/>
          </a:p>
        </p:txBody>
      </p:sp>
      <p:sp>
        <p:nvSpPr>
          <p:cNvPr id="4" name="speaker"/>
          <p:cNvSpPr/>
          <p:nvPr/>
        </p:nvSpPr>
        <p:spPr>
          <a:xfrm>
            <a:off x="6949440" y="301752"/>
            <a:ext cx="1737360" cy="429768"/>
          </a:xfrm>
          <a:prstGeom prst="roundRect">
            <a:avLst>
              <a:gd name="adj" fmla="val 17021"/>
            </a:avLst>
          </a:prstGeom>
          <a:solidFill>
            <a:schemeClr val="tx1"/>
          </a:solidFill>
          <a:ln>
            <a:solidFill>
              <a:schemeClr val="tx1"/>
            </a:solid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Amber</a:t>
            </a:r>
            <a:endParaRPr lang="en-US" sz="1200" dirty="0"/>
          </a:p>
        </p:txBody>
      </p:sp>
      <p:sp>
        <p:nvSpPr>
          <p:cNvPr id="5" name="card"/>
          <p:cNvSpPr/>
          <p:nvPr/>
        </p:nvSpPr>
        <p:spPr>
          <a:xfrm>
            <a:off x="457200" y="960120"/>
            <a:ext cx="1581912" cy="1600200"/>
          </a:xfrm>
          <a:prstGeom prst="roundRect">
            <a:avLst>
              <a:gd name="adj" fmla="val 3468"/>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6" name="step-number"/>
          <p:cNvSpPr/>
          <p:nvPr/>
        </p:nvSpPr>
        <p:spPr>
          <a:xfrm>
            <a:off x="594360" y="1078992"/>
            <a:ext cx="292608" cy="292608"/>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1</a:t>
            </a:r>
            <a:endParaRPr lang="en-US" sz="1100" dirty="0"/>
          </a:p>
        </p:txBody>
      </p:sp>
      <p:sp>
        <p:nvSpPr>
          <p:cNvPr id="7" name="Text 5"/>
          <p:cNvSpPr txBox="1"/>
          <p:nvPr/>
        </p:nvSpPr>
        <p:spPr>
          <a:xfrm>
            <a:off x="594360" y="1444752"/>
            <a:ext cx="1325880" cy="274320"/>
          </a:xfrm>
          <a:prstGeom prst="rect">
            <a:avLst/>
          </a:prstGeom>
          <a:noFill/>
          <a:ln/>
        </p:spPr>
        <p:txBody>
          <a:bodyPr wrap="square" lIns="0" tIns="0" rIns="0" bIns="0" rtlCol="0" anchor="t"/>
          <a:lstStyle/>
          <a:p>
            <a:pPr indent="0" marL="0">
              <a:buNone/>
            </a:pPr>
            <a:r>
              <a:rPr lang="en-US" sz="1250" b="1" dirty="0">
                <a:solidFill>
                  <a:schemeClr val="tx1"/>
                </a:solidFill>
                <a:latin typeface="Cambria" pitchFamily="34" charset="0"/>
                <a:ea typeface="Cambria" pitchFamily="34" charset="-122"/>
                <a:cs typeface="Cambria" pitchFamily="34" charset="-120"/>
              </a:rPr>
              <a:t>Member types</a:t>
            </a:r>
            <a:endParaRPr lang="en-US" sz="1250" dirty="0"/>
          </a:p>
        </p:txBody>
      </p:sp>
      <p:sp>
        <p:nvSpPr>
          <p:cNvPr id="8" name="Text 6"/>
          <p:cNvSpPr txBox="1"/>
          <p:nvPr/>
        </p:nvSpPr>
        <p:spPr>
          <a:xfrm>
            <a:off x="594360" y="1737360"/>
            <a:ext cx="1353312" cy="777240"/>
          </a:xfrm>
          <a:prstGeom prst="rect">
            <a:avLst/>
          </a:prstGeom>
          <a:noFill/>
          <a:ln/>
        </p:spPr>
        <p:txBody>
          <a:bodyPr wrap="square" lIns="0" tIns="0" rIns="0" bIns="0" rtlCol="0" anchor="t"/>
          <a:lstStyle/>
          <a:p>
            <a:pPr indent="0" marL="0">
              <a:buNone/>
            </a:pPr>
            <a:r>
              <a:rPr lang="en-US" sz="1000" dirty="0">
                <a:solidFill>
                  <a:schemeClr val="tx1"/>
                </a:solidFill>
                <a:latin typeface="Calibri" pitchFamily="34" charset="0"/>
                <a:ea typeface="Calibri" pitchFamily="34" charset="-122"/>
                <a:cs typeface="Calibri" pitchFamily="34" charset="-120"/>
              </a:rPr>
              <a:t>Debounced search bar, up to 200 characters</a:t>
            </a:r>
            <a:endParaRPr lang="en-US" sz="1000" dirty="0"/>
          </a:p>
        </p:txBody>
      </p:sp>
      <p:sp>
        <p:nvSpPr>
          <p:cNvPr id="9" name="arrow"/>
          <p:cNvSpPr/>
          <p:nvPr/>
        </p:nvSpPr>
        <p:spPr>
          <a:xfrm>
            <a:off x="2039112" y="1755648"/>
            <a:ext cx="91440" cy="91"/>
          </a:xfrm>
          <a:prstGeom prst="line">
            <a:avLst/>
          </a:prstGeom>
          <a:noFill/>
          <a:ln w="19050">
            <a:solidFill>
              <a:schemeClr val="accent5"/>
            </a:solidFill>
            <a:prstDash val="solid"/>
            <a:tailEnd type="triangle"/>
          </a:ln>
        </p:spPr>
      </p:sp>
      <p:sp>
        <p:nvSpPr>
          <p:cNvPr id="10" name="card"/>
          <p:cNvSpPr/>
          <p:nvPr/>
        </p:nvSpPr>
        <p:spPr>
          <a:xfrm>
            <a:off x="2130552" y="960120"/>
            <a:ext cx="1581912" cy="1600200"/>
          </a:xfrm>
          <a:prstGeom prst="roundRect">
            <a:avLst>
              <a:gd name="adj" fmla="val 3468"/>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11" name="step-number"/>
          <p:cNvSpPr/>
          <p:nvPr/>
        </p:nvSpPr>
        <p:spPr>
          <a:xfrm>
            <a:off x="2267712" y="1078992"/>
            <a:ext cx="292608" cy="292608"/>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2</a:t>
            </a:r>
            <a:endParaRPr lang="en-US" sz="1100" dirty="0"/>
          </a:p>
        </p:txBody>
      </p:sp>
      <p:sp>
        <p:nvSpPr>
          <p:cNvPr id="12" name="Text 10"/>
          <p:cNvSpPr txBox="1"/>
          <p:nvPr/>
        </p:nvSpPr>
        <p:spPr>
          <a:xfrm>
            <a:off x="2267712" y="1444752"/>
            <a:ext cx="1325880" cy="274320"/>
          </a:xfrm>
          <a:prstGeom prst="rect">
            <a:avLst/>
          </a:prstGeom>
          <a:noFill/>
          <a:ln/>
        </p:spPr>
        <p:txBody>
          <a:bodyPr wrap="square" lIns="0" tIns="0" rIns="0" bIns="0" rtlCol="0" anchor="t"/>
          <a:lstStyle/>
          <a:p>
            <a:pPr indent="0" marL="0">
              <a:buNone/>
            </a:pPr>
            <a:r>
              <a:rPr lang="en-US" sz="1250" b="1" dirty="0">
                <a:solidFill>
                  <a:schemeClr val="tx1"/>
                </a:solidFill>
                <a:latin typeface="Cambria" pitchFamily="34" charset="0"/>
                <a:ea typeface="Cambria" pitchFamily="34" charset="-122"/>
                <a:cs typeface="Cambria" pitchFamily="34" charset="-120"/>
              </a:rPr>
              <a:t>API checks</a:t>
            </a:r>
            <a:endParaRPr lang="en-US" sz="1250" dirty="0"/>
          </a:p>
        </p:txBody>
      </p:sp>
      <p:sp>
        <p:nvSpPr>
          <p:cNvPr id="13" name="Text 11"/>
          <p:cNvSpPr txBox="1"/>
          <p:nvPr/>
        </p:nvSpPr>
        <p:spPr>
          <a:xfrm>
            <a:off x="2267712" y="1737360"/>
            <a:ext cx="1353312" cy="777240"/>
          </a:xfrm>
          <a:prstGeom prst="rect">
            <a:avLst/>
          </a:prstGeom>
          <a:noFill/>
          <a:ln/>
        </p:spPr>
        <p:txBody>
          <a:bodyPr wrap="square" lIns="0" tIns="0" rIns="0" bIns="0" rtlCol="0" anchor="t"/>
          <a:lstStyle/>
          <a:p>
            <a:pPr indent="0" marL="0">
              <a:buNone/>
            </a:pPr>
            <a:r>
              <a:rPr lang="en-US" sz="1000" dirty="0">
                <a:solidFill>
                  <a:schemeClr val="tx1"/>
                </a:solidFill>
                <a:latin typeface="Calibri" pitchFamily="34" charset="0"/>
                <a:ea typeface="Calibri" pitchFamily="34" charset="-122"/>
                <a:cs typeface="Calibri" pitchFamily="34" charset="-120"/>
              </a:rPr>
              <a:t>assets:read; organization comes from the token only</a:t>
            </a:r>
            <a:endParaRPr lang="en-US" sz="1000" dirty="0"/>
          </a:p>
        </p:txBody>
      </p:sp>
      <p:sp>
        <p:nvSpPr>
          <p:cNvPr id="14" name="arrow"/>
          <p:cNvSpPr/>
          <p:nvPr/>
        </p:nvSpPr>
        <p:spPr>
          <a:xfrm>
            <a:off x="3712464" y="1755648"/>
            <a:ext cx="91440" cy="91"/>
          </a:xfrm>
          <a:prstGeom prst="line">
            <a:avLst/>
          </a:prstGeom>
          <a:noFill/>
          <a:ln w="19050">
            <a:solidFill>
              <a:schemeClr val="accent5"/>
            </a:solidFill>
            <a:prstDash val="solid"/>
            <a:tailEnd type="triangle"/>
          </a:ln>
        </p:spPr>
      </p:sp>
      <p:sp>
        <p:nvSpPr>
          <p:cNvPr id="15" name="card"/>
          <p:cNvSpPr/>
          <p:nvPr/>
        </p:nvSpPr>
        <p:spPr>
          <a:xfrm>
            <a:off x="3803904" y="960120"/>
            <a:ext cx="1581912" cy="1600200"/>
          </a:xfrm>
          <a:prstGeom prst="roundRect">
            <a:avLst>
              <a:gd name="adj" fmla="val 3468"/>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16" name="step-number"/>
          <p:cNvSpPr/>
          <p:nvPr/>
        </p:nvSpPr>
        <p:spPr>
          <a:xfrm>
            <a:off x="3941064" y="1078992"/>
            <a:ext cx="292608" cy="292608"/>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3</a:t>
            </a:r>
            <a:endParaRPr lang="en-US" sz="1100" dirty="0"/>
          </a:p>
        </p:txBody>
      </p:sp>
      <p:sp>
        <p:nvSpPr>
          <p:cNvPr id="17" name="Text 15"/>
          <p:cNvSpPr txBox="1"/>
          <p:nvPr/>
        </p:nvSpPr>
        <p:spPr>
          <a:xfrm>
            <a:off x="3941064" y="1444752"/>
            <a:ext cx="1325880" cy="274320"/>
          </a:xfrm>
          <a:prstGeom prst="rect">
            <a:avLst/>
          </a:prstGeom>
          <a:noFill/>
          <a:ln/>
        </p:spPr>
        <p:txBody>
          <a:bodyPr wrap="square" lIns="0" tIns="0" rIns="0" bIns="0" rtlCol="0" anchor="t"/>
          <a:lstStyle/>
          <a:p>
            <a:pPr indent="0" marL="0">
              <a:buNone/>
            </a:pPr>
            <a:r>
              <a:rPr lang="en-US" sz="1250" b="1" dirty="0">
                <a:solidFill>
                  <a:schemeClr val="tx1"/>
                </a:solidFill>
                <a:latin typeface="Cambria" pitchFamily="34" charset="0"/>
                <a:ea typeface="Cambria" pitchFamily="34" charset="-122"/>
                <a:cs typeface="Cambria" pitchFamily="34" charset="-120"/>
              </a:rPr>
              <a:t>Backend picks</a:t>
            </a:r>
            <a:endParaRPr lang="en-US" sz="1250" dirty="0"/>
          </a:p>
        </p:txBody>
      </p:sp>
      <p:sp>
        <p:nvSpPr>
          <p:cNvPr id="18" name="Text 16"/>
          <p:cNvSpPr txBox="1"/>
          <p:nvPr/>
        </p:nvSpPr>
        <p:spPr>
          <a:xfrm>
            <a:off x="3941064" y="1737360"/>
            <a:ext cx="1353312" cy="777240"/>
          </a:xfrm>
          <a:prstGeom prst="rect">
            <a:avLst/>
          </a:prstGeom>
          <a:noFill/>
          <a:ln/>
        </p:spPr>
        <p:txBody>
          <a:bodyPr wrap="square" lIns="0" tIns="0" rIns="0" bIns="0" rtlCol="0" anchor="t"/>
          <a:lstStyle/>
          <a:p>
            <a:pPr indent="0" marL="0">
              <a:buNone/>
            </a:pPr>
            <a:r>
              <a:rPr lang="en-US" sz="1000" dirty="0">
                <a:solidFill>
                  <a:schemeClr val="tx1"/>
                </a:solidFill>
                <a:latin typeface="Calibri" pitchFamily="34" charset="0"/>
                <a:ea typeface="Calibri" pitchFamily="34" charset="-122"/>
                <a:cs typeface="Calibri" pitchFamily="34" charset="-120"/>
              </a:rPr>
              <a:t>Up to 100 candidates from this organization, retired assets excluded</a:t>
            </a:r>
            <a:endParaRPr lang="en-US" sz="1000" dirty="0"/>
          </a:p>
        </p:txBody>
      </p:sp>
      <p:sp>
        <p:nvSpPr>
          <p:cNvPr id="19" name="arrow"/>
          <p:cNvSpPr/>
          <p:nvPr/>
        </p:nvSpPr>
        <p:spPr>
          <a:xfrm>
            <a:off x="5385816" y="1755648"/>
            <a:ext cx="91440" cy="91"/>
          </a:xfrm>
          <a:prstGeom prst="line">
            <a:avLst/>
          </a:prstGeom>
          <a:noFill/>
          <a:ln w="19050">
            <a:solidFill>
              <a:schemeClr val="accent5"/>
            </a:solidFill>
            <a:prstDash val="solid"/>
            <a:tailEnd type="triangle"/>
          </a:ln>
        </p:spPr>
      </p:sp>
      <p:sp>
        <p:nvSpPr>
          <p:cNvPr id="20" name="card"/>
          <p:cNvSpPr/>
          <p:nvPr/>
        </p:nvSpPr>
        <p:spPr>
          <a:xfrm>
            <a:off x="5477256" y="960120"/>
            <a:ext cx="1581912" cy="1600200"/>
          </a:xfrm>
          <a:prstGeom prst="roundRect">
            <a:avLst>
              <a:gd name="adj" fmla="val 3468"/>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21" name="step-number"/>
          <p:cNvSpPr/>
          <p:nvPr/>
        </p:nvSpPr>
        <p:spPr>
          <a:xfrm>
            <a:off x="5614416" y="1078992"/>
            <a:ext cx="292608" cy="292608"/>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4</a:t>
            </a:r>
            <a:endParaRPr lang="en-US" sz="1100" dirty="0"/>
          </a:p>
        </p:txBody>
      </p:sp>
      <p:sp>
        <p:nvSpPr>
          <p:cNvPr id="22" name="Text 20"/>
          <p:cNvSpPr txBox="1"/>
          <p:nvPr/>
        </p:nvSpPr>
        <p:spPr>
          <a:xfrm>
            <a:off x="5614416" y="1444752"/>
            <a:ext cx="1325880" cy="274320"/>
          </a:xfrm>
          <a:prstGeom prst="rect">
            <a:avLst/>
          </a:prstGeom>
          <a:noFill/>
          <a:ln/>
        </p:spPr>
        <p:txBody>
          <a:bodyPr wrap="square" lIns="0" tIns="0" rIns="0" bIns="0" rtlCol="0" anchor="t"/>
          <a:lstStyle/>
          <a:p>
            <a:pPr indent="0" marL="0">
              <a:buNone/>
            </a:pPr>
            <a:r>
              <a:rPr lang="en-US" sz="1250" b="1" dirty="0">
                <a:solidFill>
                  <a:schemeClr val="tx1"/>
                </a:solidFill>
                <a:latin typeface="Cambria" pitchFamily="34" charset="0"/>
                <a:ea typeface="Cambria" pitchFamily="34" charset="-122"/>
                <a:cs typeface="Cambria" pitchFamily="34" charset="-120"/>
              </a:rPr>
              <a:t>Model ranks</a:t>
            </a:r>
            <a:endParaRPr lang="en-US" sz="1250" dirty="0"/>
          </a:p>
        </p:txBody>
      </p:sp>
      <p:sp>
        <p:nvSpPr>
          <p:cNvPr id="23" name="Text 21"/>
          <p:cNvSpPr txBox="1"/>
          <p:nvPr/>
        </p:nvSpPr>
        <p:spPr>
          <a:xfrm>
            <a:off x="5614416" y="1737360"/>
            <a:ext cx="1353312" cy="777240"/>
          </a:xfrm>
          <a:prstGeom prst="rect">
            <a:avLst/>
          </a:prstGeom>
          <a:noFill/>
          <a:ln/>
        </p:spPr>
        <p:txBody>
          <a:bodyPr wrap="square" lIns="0" tIns="0" rIns="0" bIns="0" rtlCol="0" anchor="t"/>
          <a:lstStyle/>
          <a:p>
            <a:pPr indent="0" marL="0">
              <a:buNone/>
            </a:pPr>
            <a:r>
              <a:rPr lang="en-US" sz="1000" dirty="0">
                <a:solidFill>
                  <a:schemeClr val="tx1"/>
                </a:solidFill>
                <a:latin typeface="Calibri" pitchFamily="34" charset="0"/>
                <a:ea typeface="Calibri" pitchFamily="34" charset="-122"/>
                <a:cs typeface="Calibri" pitchFamily="34" charset="-120"/>
              </a:rPr>
              <a:t>Microsoft Foundry orders the candidates; any other id it returns is dropped</a:t>
            </a:r>
            <a:endParaRPr lang="en-US" sz="1000" dirty="0"/>
          </a:p>
        </p:txBody>
      </p:sp>
      <p:sp>
        <p:nvSpPr>
          <p:cNvPr id="24" name="arrow"/>
          <p:cNvSpPr/>
          <p:nvPr/>
        </p:nvSpPr>
        <p:spPr>
          <a:xfrm>
            <a:off x="7059168" y="1755648"/>
            <a:ext cx="91440" cy="91"/>
          </a:xfrm>
          <a:prstGeom prst="line">
            <a:avLst/>
          </a:prstGeom>
          <a:noFill/>
          <a:ln w="19050">
            <a:solidFill>
              <a:schemeClr val="accent5"/>
            </a:solidFill>
            <a:prstDash val="solid"/>
            <a:tailEnd type="triangle"/>
          </a:ln>
        </p:spPr>
      </p:sp>
      <p:sp>
        <p:nvSpPr>
          <p:cNvPr id="25" name="card"/>
          <p:cNvSpPr/>
          <p:nvPr/>
        </p:nvSpPr>
        <p:spPr>
          <a:xfrm>
            <a:off x="7150608" y="960120"/>
            <a:ext cx="1581912" cy="1600200"/>
          </a:xfrm>
          <a:prstGeom prst="roundRect">
            <a:avLst>
              <a:gd name="adj" fmla="val 3468"/>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26" name="step-number"/>
          <p:cNvSpPr/>
          <p:nvPr/>
        </p:nvSpPr>
        <p:spPr>
          <a:xfrm>
            <a:off x="7287768" y="1078992"/>
            <a:ext cx="292608" cy="292608"/>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5</a:t>
            </a:r>
            <a:endParaRPr lang="en-US" sz="1100" dirty="0"/>
          </a:p>
        </p:txBody>
      </p:sp>
      <p:sp>
        <p:nvSpPr>
          <p:cNvPr id="27" name="Text 25"/>
          <p:cNvSpPr txBox="1"/>
          <p:nvPr/>
        </p:nvSpPr>
        <p:spPr>
          <a:xfrm>
            <a:off x="7287768" y="1444752"/>
            <a:ext cx="1325880" cy="274320"/>
          </a:xfrm>
          <a:prstGeom prst="rect">
            <a:avLst/>
          </a:prstGeom>
          <a:noFill/>
          <a:ln/>
        </p:spPr>
        <p:txBody>
          <a:bodyPr wrap="square" lIns="0" tIns="0" rIns="0" bIns="0" rtlCol="0" anchor="t"/>
          <a:lstStyle/>
          <a:p>
            <a:pPr indent="0" marL="0">
              <a:buNone/>
            </a:pPr>
            <a:r>
              <a:rPr lang="en-US" sz="1250" b="1" dirty="0">
                <a:solidFill>
                  <a:schemeClr val="tx1"/>
                </a:solidFill>
                <a:latin typeface="Cambria" pitchFamily="34" charset="0"/>
                <a:ea typeface="Cambria" pitchFamily="34" charset="-122"/>
                <a:cs typeface="Cambria" pitchFamily="34" charset="-120"/>
              </a:rPr>
              <a:t>Results</a:t>
            </a:r>
            <a:endParaRPr lang="en-US" sz="1250" dirty="0"/>
          </a:p>
        </p:txBody>
      </p:sp>
      <p:sp>
        <p:nvSpPr>
          <p:cNvPr id="28" name="Text 26"/>
          <p:cNvSpPr txBox="1"/>
          <p:nvPr/>
        </p:nvSpPr>
        <p:spPr>
          <a:xfrm>
            <a:off x="7287768" y="1737360"/>
            <a:ext cx="1353312" cy="777240"/>
          </a:xfrm>
          <a:prstGeom prst="rect">
            <a:avLst/>
          </a:prstGeom>
          <a:noFill/>
          <a:ln/>
        </p:spPr>
        <p:txBody>
          <a:bodyPr wrap="square" lIns="0" tIns="0" rIns="0" bIns="0" rtlCol="0" anchor="t"/>
          <a:lstStyle/>
          <a:p>
            <a:pPr indent="0" marL="0">
              <a:buNone/>
            </a:pPr>
            <a:r>
              <a:rPr lang="en-US" sz="1000" dirty="0">
                <a:solidFill>
                  <a:schemeClr val="tx1"/>
                </a:solidFill>
                <a:latin typeface="Calibri" pitchFamily="34" charset="0"/>
                <a:ea typeface="Calibri" pitchFamily="34" charset="-122"/>
                <a:cs typeface="Calibri" pitchFamily="34" charset="-120"/>
              </a:rPr>
              <a:t>Ranked matches, each with a short reason</a:t>
            </a:r>
            <a:endParaRPr lang="en-US" sz="1000" dirty="0"/>
          </a:p>
        </p:txBody>
      </p:sp>
      <p:sp>
        <p:nvSpPr>
          <p:cNvPr id="29" name="card"/>
          <p:cNvSpPr/>
          <p:nvPr/>
        </p:nvSpPr>
        <p:spPr>
          <a:xfrm>
            <a:off x="457200" y="2724912"/>
            <a:ext cx="2651760" cy="1188720"/>
          </a:xfrm>
          <a:prstGeom prst="roundRect">
            <a:avLst>
              <a:gd name="adj" fmla="val 4615"/>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30" name="Text 28"/>
          <p:cNvSpPr txBox="1"/>
          <p:nvPr/>
        </p:nvSpPr>
        <p:spPr>
          <a:xfrm>
            <a:off x="594360" y="2816352"/>
            <a:ext cx="2377440" cy="274320"/>
          </a:xfrm>
          <a:prstGeom prst="rect">
            <a:avLst/>
          </a:prstGeom>
          <a:noFill/>
          <a:ln/>
        </p:spPr>
        <p:txBody>
          <a:bodyPr wrap="square" lIns="0" tIns="0" rIns="0" bIns="0" rtlCol="0" anchor="t"/>
          <a:lstStyle/>
          <a:p>
            <a:pPr indent="0" marL="0">
              <a:buNone/>
            </a:pPr>
            <a:r>
              <a:rPr lang="en-US" sz="1200" b="1" dirty="0">
                <a:solidFill>
                  <a:schemeClr val="tx1"/>
                </a:solidFill>
                <a:latin typeface="Cambria" pitchFamily="34" charset="0"/>
                <a:ea typeface="Cambria" pitchFamily="34" charset="-122"/>
                <a:cs typeface="Cambria" pitchFamily="34" charset="-120"/>
              </a:rPr>
              <a:t>Every failure is a fallback</a:t>
            </a:r>
            <a:endParaRPr lang="en-US" sz="1200" dirty="0"/>
          </a:p>
        </p:txBody>
      </p:sp>
      <p:sp>
        <p:nvSpPr>
          <p:cNvPr id="31" name="Text 29"/>
          <p:cNvSpPr txBox="1"/>
          <p:nvPr/>
        </p:nvSpPr>
        <p:spPr>
          <a:xfrm>
            <a:off x="594360" y="3108960"/>
            <a:ext cx="2395728" cy="777240"/>
          </a:xfrm>
          <a:prstGeom prst="rect">
            <a:avLst/>
          </a:prstGeom>
          <a:noFill/>
          <a:ln/>
        </p:spPr>
        <p:txBody>
          <a:bodyPr wrap="square" lIns="0" tIns="0" rIns="0" bIns="0" rtlCol="0" anchor="t"/>
          <a:lstStyle/>
          <a:p>
            <a:pPr indent="0" marL="0">
              <a:buNone/>
            </a:pPr>
            <a:r>
              <a:rPr lang="en-US" sz="1000" dirty="0">
                <a:solidFill>
                  <a:schemeClr val="tx1"/>
                </a:solidFill>
                <a:latin typeface="Calibri" pitchFamily="34" charset="0"/>
                <a:ea typeface="Calibri" pitchFamily="34" charset="-122"/>
                <a:cs typeface="Calibri" pitchFamily="34" charset="-120"/>
              </a:rPr>
              <a:t>Foundry off, slow (10 s timeout) or answering off-contract returns the same candidates in plain order. Search never breaks because the model did.</a:t>
            </a:r>
            <a:endParaRPr lang="en-US" sz="1000" dirty="0"/>
          </a:p>
        </p:txBody>
      </p:sp>
      <p:sp>
        <p:nvSpPr>
          <p:cNvPr id="32" name="card"/>
          <p:cNvSpPr/>
          <p:nvPr/>
        </p:nvSpPr>
        <p:spPr>
          <a:xfrm>
            <a:off x="3246120" y="2724912"/>
            <a:ext cx="2651760" cy="1188720"/>
          </a:xfrm>
          <a:prstGeom prst="roundRect">
            <a:avLst>
              <a:gd name="adj" fmla="val 4615"/>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33" name="Text 31"/>
          <p:cNvSpPr txBox="1"/>
          <p:nvPr/>
        </p:nvSpPr>
        <p:spPr>
          <a:xfrm>
            <a:off x="3383280" y="2816352"/>
            <a:ext cx="2377440" cy="274320"/>
          </a:xfrm>
          <a:prstGeom prst="rect">
            <a:avLst/>
          </a:prstGeom>
          <a:noFill/>
          <a:ln/>
        </p:spPr>
        <p:txBody>
          <a:bodyPr wrap="square" lIns="0" tIns="0" rIns="0" bIns="0" rtlCol="0" anchor="t"/>
          <a:lstStyle/>
          <a:p>
            <a:pPr indent="0" marL="0">
              <a:buNone/>
            </a:pPr>
            <a:r>
              <a:rPr lang="en-US" sz="1200" b="1" dirty="0">
                <a:solidFill>
                  <a:schemeClr val="tx1"/>
                </a:solidFill>
                <a:latin typeface="Cambria" pitchFamily="34" charset="0"/>
                <a:ea typeface="Cambria" pitchFamily="34" charset="-122"/>
                <a:cs typeface="Cambria" pitchFamily="34" charset="-120"/>
              </a:rPr>
              <a:t>Built to be safe with member data</a:t>
            </a:r>
            <a:endParaRPr lang="en-US" sz="1200" dirty="0"/>
          </a:p>
        </p:txBody>
      </p:sp>
      <p:sp>
        <p:nvSpPr>
          <p:cNvPr id="34" name="Text 32"/>
          <p:cNvSpPr txBox="1"/>
          <p:nvPr/>
        </p:nvSpPr>
        <p:spPr>
          <a:xfrm>
            <a:off x="3383280" y="3108960"/>
            <a:ext cx="2395728" cy="777240"/>
          </a:xfrm>
          <a:prstGeom prst="rect">
            <a:avLst/>
          </a:prstGeom>
          <a:noFill/>
          <a:ln/>
        </p:spPr>
        <p:txBody>
          <a:bodyPr wrap="square" lIns="0" tIns="0" rIns="0" bIns="0" rtlCol="0" anchor="t"/>
          <a:lstStyle/>
          <a:p>
            <a:pPr indent="0" marL="0">
              <a:buNone/>
            </a:pPr>
            <a:r>
              <a:rPr lang="en-US" sz="1000" dirty="0">
                <a:solidFill>
                  <a:schemeClr val="tx1"/>
                </a:solidFill>
                <a:latin typeface="Calibri" pitchFamily="34" charset="0"/>
                <a:ea typeface="Calibri" pitchFamily="34" charset="-122"/>
                <a:cs typeface="Calibri" pitchFamily="34" charset="-120"/>
              </a:rPr>
              <a:t>The model never connects to MongoDB. Logs keep a prompt hash, latency and status, never the query or the answer.</a:t>
            </a:r>
            <a:endParaRPr lang="en-US" sz="1000" dirty="0"/>
          </a:p>
        </p:txBody>
      </p:sp>
      <p:sp>
        <p:nvSpPr>
          <p:cNvPr id="35" name="card"/>
          <p:cNvSpPr/>
          <p:nvPr/>
        </p:nvSpPr>
        <p:spPr>
          <a:xfrm>
            <a:off x="6035040" y="2724912"/>
            <a:ext cx="2651760" cy="1188720"/>
          </a:xfrm>
          <a:prstGeom prst="roundRect">
            <a:avLst>
              <a:gd name="adj" fmla="val 4615"/>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36" name="Text 34"/>
          <p:cNvSpPr txBox="1"/>
          <p:nvPr/>
        </p:nvSpPr>
        <p:spPr>
          <a:xfrm>
            <a:off x="6172200" y="2816352"/>
            <a:ext cx="2377440" cy="274320"/>
          </a:xfrm>
          <a:prstGeom prst="rect">
            <a:avLst/>
          </a:prstGeom>
          <a:noFill/>
          <a:ln/>
        </p:spPr>
        <p:txBody>
          <a:bodyPr wrap="square" lIns="0" tIns="0" rIns="0" bIns="0" rtlCol="0" anchor="t"/>
          <a:lstStyle/>
          <a:p>
            <a:pPr indent="0" marL="0">
              <a:buNone/>
            </a:pPr>
            <a:r>
              <a:rPr lang="en-US" sz="1200" b="1" dirty="0">
                <a:solidFill>
                  <a:schemeClr val="tx1"/>
                </a:solidFill>
                <a:latin typeface="Cambria" pitchFamily="34" charset="0"/>
                <a:ea typeface="Cambria" pitchFamily="34" charset="-122"/>
                <a:cs typeface="Cambria" pitchFamily="34" charset="-120"/>
              </a:rPr>
              <a:t>Reused for "Similar items"</a:t>
            </a:r>
            <a:endParaRPr lang="en-US" sz="1200" dirty="0"/>
          </a:p>
        </p:txBody>
      </p:sp>
      <p:sp>
        <p:nvSpPr>
          <p:cNvPr id="37" name="Text 35"/>
          <p:cNvSpPr txBox="1"/>
          <p:nvPr/>
        </p:nvSpPr>
        <p:spPr>
          <a:xfrm>
            <a:off x="6172200" y="3108960"/>
            <a:ext cx="2395728" cy="777240"/>
          </a:xfrm>
          <a:prstGeom prst="rect">
            <a:avLst/>
          </a:prstGeom>
          <a:noFill/>
          <a:ln/>
        </p:spPr>
        <p:txBody>
          <a:bodyPr wrap="square" lIns="0" tIns="0" rIns="0" bIns="0" rtlCol="0" anchor="t"/>
          <a:lstStyle/>
          <a:p>
            <a:pPr indent="0" marL="0">
              <a:buNone/>
            </a:pPr>
            <a:r>
              <a:rPr lang="en-US" sz="1000" dirty="0">
                <a:solidFill>
                  <a:schemeClr val="tx1"/>
                </a:solidFill>
                <a:latin typeface="Calibri" pitchFamily="34" charset="0"/>
                <a:ea typeface="Calibri" pitchFamily="34" charset="-122"/>
                <a:cs typeface="Calibri" pitchFamily="34" charset="-120"/>
              </a:rPr>
              <a:t>SCRUM-151 runs the same pipeline and applies group eligibility before the model sees a candidate.</a:t>
            </a:r>
            <a:endParaRPr lang="en-US" sz="1000" dirty="0"/>
          </a:p>
        </p:txBody>
      </p:sp>
      <p:sp>
        <p:nvSpPr>
          <p:cNvPr id="38" name="card"/>
          <p:cNvSpPr/>
          <p:nvPr/>
        </p:nvSpPr>
        <p:spPr>
          <a:xfrm>
            <a:off x="457200" y="4050792"/>
            <a:ext cx="8229600" cy="457200"/>
          </a:xfrm>
          <a:prstGeom prst="roundRect">
            <a:avLst>
              <a:gd name="adj" fmla="val 12000"/>
            </a:avLst>
          </a:prstGeom>
          <a:solidFill>
            <a:schemeClr val="tx1"/>
          </a:solidFill>
          <a:ln w="12700">
            <a:solidFill>
              <a:schemeClr val="tx1"/>
            </a:solidFill>
            <a:prstDash val="solid"/>
          </a:ln>
        </p:spPr>
      </p:sp>
      <p:sp>
        <p:nvSpPr>
          <p:cNvPr id="39" name="badge"/>
          <p:cNvSpPr/>
          <p:nvPr/>
        </p:nvSpPr>
        <p:spPr>
          <a:xfrm>
            <a:off x="594360" y="4160520"/>
            <a:ext cx="960120" cy="237744"/>
          </a:xfrm>
          <a:prstGeom prst="roundRect">
            <a:avLst>
              <a:gd name="adj" fmla="val 50000"/>
            </a:avLst>
          </a:prstGeom>
          <a:solidFill>
            <a:schemeClr val="accent4"/>
          </a:solidFill>
          <a:ln>
            <a:solidFill>
              <a:schemeClr val="accent4"/>
            </a:solidFill>
          </a:ln>
        </p:spPr>
        <p:txBody>
          <a:bodyPr wrap="square" lIns="0" tIns="0" rIns="0" bIns="0" rtlCol="0" anchor="ctr"/>
          <a:lstStyle/>
          <a:p>
            <a:pPr algn="ctr" indent="0" marL="0">
              <a:buNone/>
            </a:pPr>
            <a:r>
              <a:rPr lang="en-US" sz="800" b="1" dirty="0">
                <a:solidFill>
                  <a:schemeClr val="bg1"/>
                </a:solidFill>
                <a:latin typeface="Calibri" pitchFamily="34" charset="0"/>
                <a:ea typeface="Calibri" pitchFamily="34" charset="-122"/>
                <a:cs typeface="Calibri" pitchFamily="34" charset="-120"/>
              </a:rPr>
              <a:t>NOT SHIPPED</a:t>
            </a:r>
            <a:endParaRPr lang="en-US" sz="800" dirty="0"/>
          </a:p>
        </p:txBody>
      </p:sp>
      <p:sp>
        <p:nvSpPr>
          <p:cNvPr id="40" name="Text 38"/>
          <p:cNvSpPr txBox="1"/>
          <p:nvPr/>
        </p:nvSpPr>
        <p:spPr>
          <a:xfrm>
            <a:off x="1691640" y="4050792"/>
            <a:ext cx="6858000" cy="457200"/>
          </a:xfrm>
          <a:prstGeom prst="rect">
            <a:avLst/>
          </a:prstGeom>
          <a:noFill/>
          <a:ln/>
        </p:spPr>
        <p:txBody>
          <a:bodyPr wrap="square" lIns="0" tIns="0" rIns="0" bIns="0" rtlCol="0" anchor="ctr"/>
          <a:lstStyle/>
          <a:p>
            <a:pPr indent="0" marL="0">
              <a:buNone/>
            </a:pPr>
            <a:r>
              <a:rPr lang="en-US" sz="1050" dirty="0">
                <a:solidFill>
                  <a:schemeClr val="bg1"/>
                </a:solidFill>
                <a:latin typeface="Calibri" pitchFamily="34" charset="0"/>
                <a:ea typeface="Calibri" pitchFamily="34" charset="-122"/>
                <a:cs typeface="Calibri" pitchFamily="34" charset="-120"/>
              </a:rPr>
              <a:t>SCRUM-147, semantic retrieval with vector search. Candidates are still chosen by text match. Now in the Iteration 3 sprint.</a:t>
            </a:r>
            <a:endParaRPr lang="en-US" sz="1050" dirty="0"/>
          </a:p>
        </p:txBody>
      </p:sp>
      <p:sp>
        <p:nvSpPr>
          <p:cNvPr id="25" name="Slide Number Placeholder 0"/>
          <p:cNvSpPr>
            <a:spLocks noGrp="1"/>
          </p:cNvSpPr>
          <p:nvPr>
            <p:ph type="sldNum" sz="quarter" idx="4294967295"/>
          </p:nvPr>
        </p:nvSpPr>
        <p:spPr>
          <a:xfrm>
            <a:off x="8458200" y="473659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400800" cy="566928"/>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Security, Reported Honestly</a:t>
            </a:r>
            <a:endParaRPr lang="en-US" sz="2600" dirty="0"/>
          </a:p>
        </p:txBody>
      </p:sp>
      <p:sp>
        <p:nvSpPr>
          <p:cNvPr id="3" name="Text 0"/>
          <p:cNvSpPr/>
          <p:nvPr>
            <p:ph idx="101" type="body" hasCustomPrompt="1"/>
          </p:nvPr>
        </p:nvSpPr>
        <p:spPr>
          <a:xfrm>
            <a:off x="457200" y="4645152"/>
            <a:ext cx="8229600" cy="329184"/>
          </a:xfrm>
          <a:prstGeom prst="rect">
            <a:avLst/>
          </a:prstGeom>
          <a:noFill/>
          <a:ln/>
        </p:spPr>
        <p:txBody>
          <a:bodyPr wrap="square" lIns="0" tIns="0" rIns="0" bIns="0" rtlCol="0" anchor="ctr"/>
          <a:lstStyle/>
          <a:p>
            <a:pPr indent="0" marL="0">
              <a:buNone/>
            </a:pPr>
            <a:r>
              <a:rPr lang="en-US" sz="1000" i="1" dirty="0">
                <a:solidFill>
                  <a:schemeClr val="accent5"/>
                </a:solidFill>
                <a:latin typeface="Calibri" pitchFamily="34" charset="0"/>
                <a:ea typeface="Calibri" pitchFamily="34" charset="-122"/>
                <a:cs typeface="Calibri" pitchFamily="34" charset="-120"/>
              </a:rPr>
              <a:t>SR-8 is in the risk register with an owner. We would rather present it as open than claim a layer that is not switched on.</a:t>
            </a:r>
            <a:endParaRPr lang="en-US" sz="1000" dirty="0"/>
          </a:p>
        </p:txBody>
      </p:sp>
      <p:sp>
        <p:nvSpPr>
          <p:cNvPr id="4" name="speaker"/>
          <p:cNvSpPr/>
          <p:nvPr/>
        </p:nvSpPr>
        <p:spPr>
          <a:xfrm>
            <a:off x="6949440" y="301752"/>
            <a:ext cx="1737360" cy="429768"/>
          </a:xfrm>
          <a:prstGeom prst="roundRect">
            <a:avLst>
              <a:gd name="adj" fmla="val 17021"/>
            </a:avLst>
          </a:prstGeom>
          <a:solidFill>
            <a:schemeClr val="tx1"/>
          </a:solidFill>
          <a:ln>
            <a:solidFill>
              <a:schemeClr val="tx1"/>
            </a:solid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Amber</a:t>
            </a:r>
            <a:endParaRPr lang="en-US" sz="1200" dirty="0"/>
          </a:p>
        </p:txBody>
      </p:sp>
      <p:sp>
        <p:nvSpPr>
          <p:cNvPr id="5" name="card"/>
          <p:cNvSpPr/>
          <p:nvPr/>
        </p:nvSpPr>
        <p:spPr>
          <a:xfrm>
            <a:off x="457200" y="960120"/>
            <a:ext cx="3977640" cy="3547872"/>
          </a:xfrm>
          <a:prstGeom prst="roundRect">
            <a:avLst>
              <a:gd name="adj" fmla="val 1546"/>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6" name="badge"/>
          <p:cNvSpPr/>
          <p:nvPr/>
        </p:nvSpPr>
        <p:spPr>
          <a:xfrm>
            <a:off x="640080" y="1097280"/>
            <a:ext cx="1600200" cy="256032"/>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850" b="1" dirty="0">
                <a:solidFill>
                  <a:schemeClr val="bg1"/>
                </a:solidFill>
                <a:latin typeface="Calibri" pitchFamily="34" charset="0"/>
                <a:ea typeface="Calibri" pitchFamily="34" charset="-122"/>
                <a:cs typeface="Calibri" pitchFamily="34" charset="-120"/>
              </a:rPr>
              <a:t>HELD THIS ITERATION</a:t>
            </a:r>
            <a:endParaRPr lang="en-US" sz="850" dirty="0"/>
          </a:p>
        </p:txBody>
      </p:sp>
      <p:sp>
        <p:nvSpPr>
          <p:cNvPr id="7" name="Text 5"/>
          <p:cNvSpPr txBox="1"/>
          <p:nvPr/>
        </p:nvSpPr>
        <p:spPr>
          <a:xfrm>
            <a:off x="640080" y="1481328"/>
            <a:ext cx="3611880" cy="2971800"/>
          </a:xfrm>
          <a:prstGeom prst="rect">
            <a:avLst/>
          </a:prstGeom>
          <a:noFill/>
          <a:ln/>
        </p:spPr>
        <p:txBody>
          <a:bodyPr wrap="square" lIns="0" tIns="0" rIns="0" bIns="0" rtlCol="0" anchor="t"/>
          <a:lstStyle/>
          <a:p>
            <a:pPr marL="152400" indent="-152400">
              <a:spcAft>
                <a:spcPts val="500"/>
              </a:spcAft>
              <a:buSzPct val="100000"/>
              <a:buChar char="•"/>
            </a:pPr>
            <a:r>
              <a:rPr lang="en-US" sz="1100" b="1" dirty="0">
                <a:solidFill>
                  <a:schemeClr val="tx1"/>
                </a:solidFill>
                <a:latin typeface="Calibri" pitchFamily="34" charset="0"/>
                <a:ea typeface="Calibri" pitchFamily="34" charset="-122"/>
                <a:cs typeface="Calibri" pitchFamily="34" charset="-120"/>
              </a:rPr>
              <a:t>Separation of duties reaches returns. </a:t>
            </a:r>
            <a:pPr indent="0" marL="0">
              <a:spcAft>
                <a:spcPts val="500"/>
              </a:spcAft>
              <a:buNone/>
            </a:pPr>
            <a:r>
              <a:rPr lang="en-US" sz="1100" dirty="0">
                <a:solidFill>
                  <a:schemeClr val="tx1"/>
                </a:solidFill>
                <a:latin typeface="Calibri" pitchFamily="34" charset="0"/>
                <a:ea typeface="Calibri" pitchFamily="34" charset="-122"/>
                <a:cs typeface="Calibri" pitchFamily="34" charset="-120"/>
              </a:rPr>
              <a:t>Nobody confirms their own return unless they are the only approver, and then the log says so.</a:t>
            </a:r>
            <a:endParaRPr lang="en-US" sz="1100" dirty="0"/>
          </a:p>
          <a:p>
            <a:pPr marL="152400" indent="-152400">
              <a:spcAft>
                <a:spcPts val="500"/>
              </a:spcAft>
              <a:buSzPct val="100000"/>
              <a:buChar char="•"/>
            </a:pPr>
            <a:r>
              <a:rPr lang="en-US" sz="1100" b="1" dirty="0">
                <a:solidFill>
                  <a:schemeClr val="tx1"/>
                </a:solidFill>
                <a:latin typeface="Calibri" pitchFamily="34" charset="0"/>
                <a:ea typeface="Calibri" pitchFamily="34" charset="-122"/>
                <a:cs typeface="Calibri" pitchFamily="34" charset="-120"/>
              </a:rPr>
              <a:t>New rules fail closed. </a:t>
            </a:r>
            <a:pPr indent="0" marL="0">
              <a:spcAft>
                <a:spcPts val="500"/>
              </a:spcAft>
              <a:buNone/>
            </a:pPr>
            <a:r>
              <a:rPr lang="en-US" sz="1100" dirty="0">
                <a:solidFill>
                  <a:schemeClr val="tx1"/>
                </a:solidFill>
                <a:latin typeface="Calibri" pitchFamily="34" charset="0"/>
                <a:ea typeface="Calibri" pitchFamily="34" charset="-122"/>
                <a:cs typeface="Calibri" pitchFamily="34" charset="-120"/>
              </a:rPr>
              <a:t>An unknown approval mode means an approver is required.</a:t>
            </a:r>
            <a:endParaRPr lang="en-US" sz="1100" dirty="0"/>
          </a:p>
          <a:p>
            <a:pPr marL="152400" indent="-152400">
              <a:spcAft>
                <a:spcPts val="500"/>
              </a:spcAft>
              <a:buSzPct val="100000"/>
              <a:buChar char="•"/>
            </a:pPr>
            <a:r>
              <a:rPr lang="en-US" sz="1100" b="1" dirty="0">
                <a:solidFill>
                  <a:schemeClr val="tx1"/>
                </a:solidFill>
                <a:latin typeface="Calibri" pitchFamily="34" charset="0"/>
                <a:ea typeface="Calibri" pitchFamily="34" charset="-122"/>
                <a:cs typeface="Calibri" pitchFamily="34" charset="-120"/>
              </a:rPr>
              <a:t>A new attack surface, bounded. </a:t>
            </a:r>
            <a:pPr indent="0" marL="0">
              <a:spcAft>
                <a:spcPts val="500"/>
              </a:spcAft>
              <a:buNone/>
            </a:pPr>
            <a:r>
              <a:rPr lang="en-US" sz="1100" dirty="0">
                <a:solidFill>
                  <a:schemeClr val="tx1"/>
                </a:solidFill>
                <a:latin typeface="Calibri" pitchFamily="34" charset="0"/>
                <a:ea typeface="Calibri" pitchFamily="34" charset="-122"/>
                <a:cs typeface="Calibri" pitchFamily="34" charset="-120"/>
              </a:rPr>
              <a:t>Search text reaches a model, but the model can only reorder ids we chose for this organization.</a:t>
            </a:r>
            <a:endParaRPr lang="en-US" sz="1100" dirty="0"/>
          </a:p>
          <a:p>
            <a:pPr marL="152400" indent="-152400">
              <a:spcAft>
                <a:spcPts val="500"/>
              </a:spcAft>
              <a:buSzPct val="100000"/>
              <a:buChar char="•"/>
            </a:pPr>
            <a:r>
              <a:rPr lang="en-US" sz="1100" b="1" dirty="0">
                <a:solidFill>
                  <a:schemeClr val="tx1"/>
                </a:solidFill>
                <a:latin typeface="Calibri" pitchFamily="34" charset="0"/>
                <a:ea typeface="Calibri" pitchFamily="34" charset="-122"/>
                <a:cs typeface="Calibri" pitchFamily="34" charset="-120"/>
              </a:rPr>
              <a:t>Tests for the new pages. </a:t>
            </a:r>
            <a:pPr indent="0" marL="0">
              <a:spcAft>
                <a:spcPts val="500"/>
              </a:spcAft>
              <a:buNone/>
            </a:pPr>
            <a:r>
              <a:rPr lang="en-US" sz="1100" dirty="0">
                <a:solidFill>
                  <a:schemeClr val="tx1"/>
                </a:solidFill>
                <a:latin typeface="Calibri" pitchFamily="34" charset="0"/>
                <a:ea typeface="Calibri" pitchFamily="34" charset="-122"/>
                <a:cs typeface="Calibri" pitchFamily="34" charset="-120"/>
              </a:rPr>
              <a:t>Tenant isolation was re-run on groups, alternatives and search (MT-34).</a:t>
            </a:r>
            <a:endParaRPr lang="en-US" sz="1100" dirty="0"/>
          </a:p>
        </p:txBody>
      </p:sp>
      <p:sp>
        <p:nvSpPr>
          <p:cNvPr id="8" name="card"/>
          <p:cNvSpPr/>
          <p:nvPr/>
        </p:nvSpPr>
        <p:spPr>
          <a:xfrm>
            <a:off x="4663440" y="960120"/>
            <a:ext cx="4023360" cy="3547872"/>
          </a:xfrm>
          <a:prstGeom prst="roundRect">
            <a:avLst>
              <a:gd name="adj" fmla="val 1546"/>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9" name="badge"/>
          <p:cNvSpPr/>
          <p:nvPr/>
        </p:nvSpPr>
        <p:spPr>
          <a:xfrm>
            <a:off x="4846320" y="1097280"/>
            <a:ext cx="1005840" cy="256032"/>
          </a:xfrm>
          <a:prstGeom prst="roundRect">
            <a:avLst>
              <a:gd name="adj" fmla="val 50000"/>
            </a:avLst>
          </a:prstGeom>
          <a:solidFill>
            <a:schemeClr val="accent4"/>
          </a:solidFill>
          <a:ln>
            <a:solidFill>
              <a:schemeClr val="accent4"/>
            </a:solidFill>
          </a:ln>
        </p:spPr>
        <p:txBody>
          <a:bodyPr wrap="square" lIns="0" tIns="0" rIns="0" bIns="0" rtlCol="0" anchor="ctr"/>
          <a:lstStyle/>
          <a:p>
            <a:pPr algn="ctr" indent="0" marL="0">
              <a:buNone/>
            </a:pPr>
            <a:r>
              <a:rPr lang="en-US" sz="850" b="1" dirty="0">
                <a:solidFill>
                  <a:schemeClr val="bg1"/>
                </a:solidFill>
                <a:latin typeface="Calibri" pitchFamily="34" charset="0"/>
                <a:ea typeface="Calibri" pitchFamily="34" charset="-122"/>
                <a:cs typeface="Calibri" pitchFamily="34" charset="-120"/>
              </a:rPr>
              <a:t>STILL OPEN</a:t>
            </a:r>
            <a:endParaRPr lang="en-US" sz="850" dirty="0"/>
          </a:p>
        </p:txBody>
      </p:sp>
      <p:sp>
        <p:nvSpPr>
          <p:cNvPr id="10" name="Text 8"/>
          <p:cNvSpPr txBox="1"/>
          <p:nvPr/>
        </p:nvSpPr>
        <p:spPr>
          <a:xfrm>
            <a:off x="4846320" y="1463040"/>
            <a:ext cx="3657600" cy="292608"/>
          </a:xfrm>
          <a:prstGeom prst="rect">
            <a:avLst/>
          </a:prstGeom>
          <a:noFill/>
          <a:ln/>
        </p:spPr>
        <p:txBody>
          <a:bodyPr wrap="square" lIns="0" tIns="0" rIns="0" bIns="0" rtlCol="0" anchor="t"/>
          <a:lstStyle/>
          <a:p>
            <a:pPr indent="0" marL="0">
              <a:buNone/>
            </a:pPr>
            <a:r>
              <a:rPr lang="en-US" sz="1350" b="1" dirty="0">
                <a:solidFill>
                  <a:schemeClr val="tx1"/>
                </a:solidFill>
                <a:latin typeface="Cambria" pitchFamily="34" charset="0"/>
                <a:ea typeface="Cambria" pitchFamily="34" charset="-122"/>
                <a:cs typeface="Cambria" pitchFamily="34" charset="-120"/>
              </a:rPr>
              <a:t>Audit immutability at the database layer</a:t>
            </a:r>
            <a:endParaRPr lang="en-US" sz="1350" dirty="0"/>
          </a:p>
        </p:txBody>
      </p:sp>
      <p:sp>
        <p:nvSpPr>
          <p:cNvPr id="11" name="Text 9"/>
          <p:cNvSpPr txBox="1"/>
          <p:nvPr/>
        </p:nvSpPr>
        <p:spPr>
          <a:xfrm>
            <a:off x="4846320" y="1764792"/>
            <a:ext cx="3657600" cy="228600"/>
          </a:xfrm>
          <a:prstGeom prst="rect">
            <a:avLst/>
          </a:prstGeom>
          <a:noFill/>
          <a:ln/>
        </p:spPr>
        <p:txBody>
          <a:bodyPr wrap="square" lIns="0" tIns="0" rIns="0" bIns="0" rtlCol="0" anchor="t"/>
          <a:lstStyle/>
          <a:p>
            <a:pPr indent="0" marL="0">
              <a:buNone/>
            </a:pPr>
            <a:r>
              <a:rPr lang="en-US" sz="1000" dirty="0">
                <a:solidFill>
                  <a:schemeClr val="accent5"/>
                </a:solidFill>
                <a:latin typeface="Calibri" pitchFamily="34" charset="0"/>
                <a:ea typeface="Calibri" pitchFamily="34" charset="-122"/>
                <a:cs typeface="Calibri" pitchFamily="34" charset="-120"/>
              </a:rPr>
              <a:t>SCRUM-125  ·  SR-8 partially satisfied</a:t>
            </a:r>
            <a:endParaRPr lang="en-US" sz="1000" dirty="0"/>
          </a:p>
        </p:txBody>
      </p:sp>
      <p:sp>
        <p:nvSpPr>
          <p:cNvPr id="12" name="Text 10"/>
          <p:cNvSpPr txBox="1"/>
          <p:nvPr/>
        </p:nvSpPr>
        <p:spPr>
          <a:xfrm>
            <a:off x="4846320" y="2103120"/>
            <a:ext cx="3611880" cy="233172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chemeClr val="tx1"/>
                </a:solidFill>
                <a:latin typeface="Calibri" pitchFamily="34" charset="0"/>
                <a:ea typeface="Calibri" pitchFamily="34" charset="-122"/>
                <a:cs typeface="Calibri" pitchFamily="34" charset="-120"/>
              </a:rPr>
              <a:t>The insert-only role and its test have been merged since Iteration 1. Applying it on Atlas is still blocked on console access.</a:t>
            </a:r>
            <a:endParaRPr lang="en-US" sz="1100" dirty="0"/>
          </a:p>
          <a:p>
            <a:pPr marL="152400" indent="-152400">
              <a:spcAft>
                <a:spcPts val="500"/>
              </a:spcAft>
              <a:buSzPct val="100000"/>
              <a:buChar char="•"/>
            </a:pPr>
            <a:r>
              <a:rPr lang="en-US" sz="1100" dirty="0">
                <a:solidFill>
                  <a:schemeClr val="tx1"/>
                </a:solidFill>
                <a:latin typeface="Calibri" pitchFamily="34" charset="0"/>
                <a:ea typeface="Calibri" pitchFamily="34" charset="-122"/>
                <a:cs typeface="Calibri" pitchFamily="34" charset="-120"/>
              </a:rPr>
              <a:t>Until then, anything that bypasses Mongoose could change audit rows. The application layer is tested and holds.</a:t>
            </a:r>
            <a:endParaRPr lang="en-US" sz="1100" dirty="0"/>
          </a:p>
          <a:p>
            <a:pPr marL="152400" indent="-152400">
              <a:spcAft>
                <a:spcPts val="500"/>
              </a:spcAft>
              <a:buSzPct val="100000"/>
              <a:buChar char="•"/>
            </a:pPr>
            <a:r>
              <a:rPr lang="en-US" sz="1100" b="1" dirty="0">
                <a:solidFill>
                  <a:schemeClr val="tx1"/>
                </a:solidFill>
                <a:latin typeface="Calibri" pitchFamily="34" charset="0"/>
                <a:ea typeface="Calibri" pitchFamily="34" charset="-122"/>
                <a:cs typeface="Calibri" pitchFamily="34" charset="-120"/>
              </a:rPr>
              <a:t>Our board was wrong: </a:t>
            </a:r>
            <a:pPr indent="0" marL="0">
              <a:spcAft>
                <a:spcPts val="500"/>
              </a:spcAft>
              <a:buNone/>
            </a:pPr>
            <a:r>
              <a:rPr lang="en-US" sz="1100" dirty="0">
                <a:solidFill>
                  <a:schemeClr val="tx1"/>
                </a:solidFill>
                <a:latin typeface="Calibri" pitchFamily="34" charset="0"/>
                <a:ea typeface="Calibri" pitchFamily="34" charset="-122"/>
                <a:cs typeface="Calibri" pitchFamily="34" charset="-120"/>
              </a:rPr>
              <a:t>Jira shows SCRUM-125 Done. The STD is right. We are reopening the ticket.</a:t>
            </a:r>
            <a:endParaRPr lang="en-US" sz="1100" dirty="0"/>
          </a:p>
        </p:txBody>
      </p:sp>
      <p:sp>
        <p:nvSpPr>
          <p:cNvPr id="25" name="Slide Number Placeholder 0"/>
          <p:cNvSpPr>
            <a:spLocks noGrp="1"/>
          </p:cNvSpPr>
          <p:nvPr>
            <p:ph type="sldNum" sz="quarter" idx="4294967295"/>
          </p:nvPr>
        </p:nvSpPr>
        <p:spPr>
          <a:xfrm>
            <a:off x="8458200" y="473659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badge"/>
          <p:cNvSpPr/>
          <p:nvPr/>
        </p:nvSpPr>
        <p:spPr>
          <a:xfrm>
            <a:off x="457200" y="411480"/>
            <a:ext cx="1554480" cy="292608"/>
          </a:xfrm>
          <a:prstGeom prst="roundRect">
            <a:avLst>
              <a:gd name="adj" fmla="val 50000"/>
            </a:avLst>
          </a:prstGeom>
          <a:solidFill>
            <a:schemeClr val="accent1"/>
          </a:solidFill>
          <a:ln>
            <a:solidFill>
              <a:schemeClr val="accent1"/>
            </a:solidFill>
          </a:ln>
        </p:spPr>
        <p:txBody>
          <a:bodyPr wrap="square" lIns="0" tIns="0" rIns="0" bIns="0" rtlCol="0" anchor="ctr"/>
          <a:lstStyle/>
          <a:p>
            <a:pPr algn="ctr" indent="0" marL="0">
              <a:buNone/>
            </a:pPr>
            <a:r>
              <a:rPr lang="en-US" sz="1000" b="1" dirty="0">
                <a:solidFill>
                  <a:schemeClr val="tx1"/>
                </a:solidFill>
                <a:latin typeface="Calibri" pitchFamily="34" charset="0"/>
                <a:ea typeface="Calibri" pitchFamily="34" charset="-122"/>
                <a:cs typeface="Calibri" pitchFamily="34" charset="-120"/>
              </a:rPr>
              <a:t>LIVE ON STAGING</a:t>
            </a:r>
            <a:endParaRPr lang="en-US" sz="1000" dirty="0"/>
          </a:p>
        </p:txBody>
      </p:sp>
      <p:sp>
        <p:nvSpPr>
          <p:cNvPr id="3" name="Text 0"/>
          <p:cNvSpPr/>
          <p:nvPr>
            <p:ph idx="100" type="title" hasCustomPrompt="1"/>
          </p:nvPr>
        </p:nvSpPr>
        <p:spPr>
          <a:xfrm>
            <a:off x="457200" y="777240"/>
            <a:ext cx="8229600" cy="548640"/>
          </a:xfrm>
          <a:prstGeom prst="rect">
            <a:avLst/>
          </a:prstGeom>
          <a:noFill/>
          <a:ln/>
        </p:spPr>
        <p:txBody>
          <a:bodyPr wrap="square" lIns="0" tIns="0" rIns="0" bIns="0" rtlCol="0" anchor="ctr"/>
          <a:lstStyle/>
          <a:p>
            <a:pPr algn="l" indent="0" marL="0">
              <a:buNone/>
            </a:pPr>
            <a:r>
              <a:rPr lang="en-US" sz="2600" b="1" dirty="0">
                <a:solidFill>
                  <a:schemeClr val="bg1"/>
                </a:solidFill>
                <a:latin typeface="Cambria" pitchFamily="34" charset="0"/>
                <a:ea typeface="Cambria" pitchFamily="34" charset="-122"/>
                <a:cs typeface="Cambria" pitchFamily="34" charset="-120"/>
              </a:rPr>
              <a:t>Demo: One Organization, End to End</a:t>
            </a:r>
            <a:endParaRPr lang="en-US" sz="2600" dirty="0"/>
          </a:p>
        </p:txBody>
      </p:sp>
      <p:sp>
        <p:nvSpPr>
          <p:cNvPr id="4" name="Text 2"/>
          <p:cNvSpPr txBox="1"/>
          <p:nvPr/>
        </p:nvSpPr>
        <p:spPr>
          <a:xfrm>
            <a:off x="457200" y="1325880"/>
            <a:ext cx="8229600" cy="256032"/>
          </a:xfrm>
          <a:prstGeom prst="rect">
            <a:avLst/>
          </a:prstGeom>
          <a:noFill/>
          <a:ln/>
        </p:spPr>
        <p:txBody>
          <a:bodyPr wrap="square" lIns="0" tIns="0" rIns="0" bIns="0" rtlCol="0" anchor="t"/>
          <a:lstStyle/>
          <a:p>
            <a:pPr indent="0" marL="0">
              <a:buNone/>
            </a:pPr>
            <a:r>
              <a:rPr lang="en-US" sz="1150" dirty="0">
                <a:solidFill>
                  <a:schemeClr val="accent6"/>
                </a:solidFill>
                <a:latin typeface="Calibri" pitchFamily="34" charset="0"/>
                <a:ea typeface="Calibri" pitchFamily="34" charset="-122"/>
                <a:cs typeface="Calibri" pitchFamily="34" charset="-120"/>
              </a:rPr>
              <a:t>Recorded by Orelmis Toribio (member) and Mateus Silva (organization admin) at safe-drop-five.vercel.app</a:t>
            </a:r>
            <a:endParaRPr lang="en-US" sz="1150" dirty="0"/>
          </a:p>
        </p:txBody>
      </p:sp>
      <p:sp>
        <p:nvSpPr>
          <p:cNvPr id="5" name="card"/>
          <p:cNvSpPr/>
          <p:nvPr/>
        </p:nvSpPr>
        <p:spPr>
          <a:xfrm>
            <a:off x="457200" y="1737360"/>
            <a:ext cx="4663440" cy="2880360"/>
          </a:xfrm>
          <a:prstGeom prst="roundRect">
            <a:avLst>
              <a:gd name="adj" fmla="val 1905"/>
            </a:avLst>
          </a:prstGeom>
          <a:solidFill>
            <a:schemeClr val="tx2"/>
          </a:solidFill>
          <a:ln w="12700">
            <a:solidFill>
              <a:schemeClr val="tx2"/>
            </a:solidFill>
            <a:prstDash val="solid"/>
          </a:ln>
        </p:spPr>
      </p:sp>
      <p:sp>
        <p:nvSpPr>
          <p:cNvPr id="6" name="Text 4"/>
          <p:cNvSpPr txBox="1"/>
          <p:nvPr/>
        </p:nvSpPr>
        <p:spPr>
          <a:xfrm>
            <a:off x="621792" y="1874520"/>
            <a:ext cx="411480" cy="274320"/>
          </a:xfrm>
          <a:prstGeom prst="rect">
            <a:avLst/>
          </a:prstGeom>
          <a:noFill/>
          <a:ln/>
        </p:spPr>
        <p:txBody>
          <a:bodyPr wrap="square" lIns="0" tIns="0" rIns="0" bIns="0" rtlCol="0" anchor="t"/>
          <a:lstStyle/>
          <a:p>
            <a:pPr indent="0" marL="0">
              <a:buNone/>
            </a:pPr>
            <a:r>
              <a:rPr lang="en-US" sz="1050" b="1" dirty="0">
                <a:solidFill>
                  <a:schemeClr val="accent1"/>
                </a:solidFill>
                <a:latin typeface="Calibri" pitchFamily="34" charset="0"/>
                <a:ea typeface="Calibri" pitchFamily="34" charset="-122"/>
                <a:cs typeface="Calibri" pitchFamily="34" charset="-120"/>
              </a:rPr>
              <a:t>0:00</a:t>
            </a:r>
            <a:endParaRPr lang="en-US" sz="1050" dirty="0"/>
          </a:p>
        </p:txBody>
      </p:sp>
      <p:sp>
        <p:nvSpPr>
          <p:cNvPr id="7" name="Text 5"/>
          <p:cNvSpPr txBox="1"/>
          <p:nvPr/>
        </p:nvSpPr>
        <p:spPr>
          <a:xfrm>
            <a:off x="1060704" y="1874520"/>
            <a:ext cx="1783080" cy="411480"/>
          </a:xfrm>
          <a:prstGeom prst="rect">
            <a:avLst/>
          </a:prstGeom>
          <a:noFill/>
          <a:ln/>
        </p:spPr>
        <p:txBody>
          <a:bodyPr wrap="square" lIns="0" tIns="0" rIns="0" bIns="0" rtlCol="0" anchor="t"/>
          <a:lstStyle/>
          <a:p>
            <a:pPr indent="0" marL="0">
              <a:buNone/>
            </a:pPr>
            <a:r>
              <a:rPr lang="en-US" sz="1050" dirty="0">
                <a:solidFill>
                  <a:schemeClr val="bg1"/>
                </a:solidFill>
                <a:latin typeface="Calibri" pitchFamily="34" charset="0"/>
                <a:ea typeface="Calibri" pitchFamily="34" charset="-122"/>
                <a:cs typeface="Calibri" pitchFamily="34" charset="-120"/>
              </a:rPr>
              <a:t>Create an organization</a:t>
            </a:r>
            <a:endParaRPr lang="en-US" sz="1050" dirty="0"/>
          </a:p>
        </p:txBody>
      </p:sp>
      <p:sp>
        <p:nvSpPr>
          <p:cNvPr id="8" name="Text 6"/>
          <p:cNvSpPr txBox="1"/>
          <p:nvPr/>
        </p:nvSpPr>
        <p:spPr>
          <a:xfrm>
            <a:off x="621792" y="2313432"/>
            <a:ext cx="411480" cy="274320"/>
          </a:xfrm>
          <a:prstGeom prst="rect">
            <a:avLst/>
          </a:prstGeom>
          <a:noFill/>
          <a:ln/>
        </p:spPr>
        <p:txBody>
          <a:bodyPr wrap="square" lIns="0" tIns="0" rIns="0" bIns="0" rtlCol="0" anchor="t"/>
          <a:lstStyle/>
          <a:p>
            <a:pPr indent="0" marL="0">
              <a:buNone/>
            </a:pPr>
            <a:r>
              <a:rPr lang="en-US" sz="1050" b="1" dirty="0">
                <a:solidFill>
                  <a:schemeClr val="accent1"/>
                </a:solidFill>
                <a:latin typeface="Calibri" pitchFamily="34" charset="0"/>
                <a:ea typeface="Calibri" pitchFamily="34" charset="-122"/>
                <a:cs typeface="Calibri" pitchFamily="34" charset="-120"/>
              </a:rPr>
              <a:t>1:18</a:t>
            </a:r>
            <a:endParaRPr lang="en-US" sz="1050" dirty="0"/>
          </a:p>
        </p:txBody>
      </p:sp>
      <p:sp>
        <p:nvSpPr>
          <p:cNvPr id="9" name="Text 7"/>
          <p:cNvSpPr txBox="1"/>
          <p:nvPr/>
        </p:nvSpPr>
        <p:spPr>
          <a:xfrm>
            <a:off x="1060704" y="2313432"/>
            <a:ext cx="1783080" cy="411480"/>
          </a:xfrm>
          <a:prstGeom prst="rect">
            <a:avLst/>
          </a:prstGeom>
          <a:noFill/>
          <a:ln/>
        </p:spPr>
        <p:txBody>
          <a:bodyPr wrap="square" lIns="0" tIns="0" rIns="0" bIns="0" rtlCol="0" anchor="t"/>
          <a:lstStyle/>
          <a:p>
            <a:pPr indent="0" marL="0">
              <a:buNone/>
            </a:pPr>
            <a:r>
              <a:rPr lang="en-US" sz="1050" dirty="0">
                <a:solidFill>
                  <a:schemeClr val="bg1"/>
                </a:solidFill>
                <a:latin typeface="Calibri" pitchFamily="34" charset="0"/>
                <a:ea typeface="Calibri" pitchFamily="34" charset="-122"/>
                <a:cs typeface="Calibri" pitchFamily="34" charset="-120"/>
              </a:rPr>
              <a:t>Approval default, pickup window</a:t>
            </a:r>
            <a:endParaRPr lang="en-US" sz="1050" dirty="0"/>
          </a:p>
        </p:txBody>
      </p:sp>
      <p:sp>
        <p:nvSpPr>
          <p:cNvPr id="10" name="Text 8"/>
          <p:cNvSpPr txBox="1"/>
          <p:nvPr/>
        </p:nvSpPr>
        <p:spPr>
          <a:xfrm>
            <a:off x="621792" y="2752344"/>
            <a:ext cx="411480" cy="274320"/>
          </a:xfrm>
          <a:prstGeom prst="rect">
            <a:avLst/>
          </a:prstGeom>
          <a:noFill/>
          <a:ln/>
        </p:spPr>
        <p:txBody>
          <a:bodyPr wrap="square" lIns="0" tIns="0" rIns="0" bIns="0" rtlCol="0" anchor="t"/>
          <a:lstStyle/>
          <a:p>
            <a:pPr indent="0" marL="0">
              <a:buNone/>
            </a:pPr>
            <a:r>
              <a:rPr lang="en-US" sz="1050" b="1" dirty="0">
                <a:solidFill>
                  <a:schemeClr val="accent1"/>
                </a:solidFill>
                <a:latin typeface="Calibri" pitchFamily="34" charset="0"/>
                <a:ea typeface="Calibri" pitchFamily="34" charset="-122"/>
                <a:cs typeface="Calibri" pitchFamily="34" charset="-120"/>
              </a:rPr>
              <a:t>1:36</a:t>
            </a:r>
            <a:endParaRPr lang="en-US" sz="1050" dirty="0"/>
          </a:p>
        </p:txBody>
      </p:sp>
      <p:sp>
        <p:nvSpPr>
          <p:cNvPr id="11" name="Text 9"/>
          <p:cNvSpPr txBox="1"/>
          <p:nvPr/>
        </p:nvSpPr>
        <p:spPr>
          <a:xfrm>
            <a:off x="1060704" y="2752344"/>
            <a:ext cx="1783080" cy="411480"/>
          </a:xfrm>
          <a:prstGeom prst="rect">
            <a:avLst/>
          </a:prstGeom>
          <a:noFill/>
          <a:ln/>
        </p:spPr>
        <p:txBody>
          <a:bodyPr wrap="square" lIns="0" tIns="0" rIns="0" bIns="0" rtlCol="0" anchor="t"/>
          <a:lstStyle/>
          <a:p>
            <a:pPr indent="0" marL="0">
              <a:buNone/>
            </a:pPr>
            <a:r>
              <a:rPr lang="en-US" sz="1050" dirty="0">
                <a:solidFill>
                  <a:schemeClr val="bg1"/>
                </a:solidFill>
                <a:latin typeface="Calibri" pitchFamily="34" charset="0"/>
                <a:ea typeface="Calibri" pitchFamily="34" charset="-122"/>
                <a:cs typeface="Calibri" pitchFamily="34" charset="-120"/>
              </a:rPr>
              <a:t>Invite a member</a:t>
            </a:r>
            <a:endParaRPr lang="en-US" sz="1050" dirty="0"/>
          </a:p>
        </p:txBody>
      </p:sp>
      <p:sp>
        <p:nvSpPr>
          <p:cNvPr id="12" name="Text 10"/>
          <p:cNvSpPr txBox="1"/>
          <p:nvPr/>
        </p:nvSpPr>
        <p:spPr>
          <a:xfrm>
            <a:off x="621792" y="3191256"/>
            <a:ext cx="411480" cy="274320"/>
          </a:xfrm>
          <a:prstGeom prst="rect">
            <a:avLst/>
          </a:prstGeom>
          <a:noFill/>
          <a:ln/>
        </p:spPr>
        <p:txBody>
          <a:bodyPr wrap="square" lIns="0" tIns="0" rIns="0" bIns="0" rtlCol="0" anchor="t"/>
          <a:lstStyle/>
          <a:p>
            <a:pPr indent="0" marL="0">
              <a:buNone/>
            </a:pPr>
            <a:r>
              <a:rPr lang="en-US" sz="1050" b="1" dirty="0">
                <a:solidFill>
                  <a:schemeClr val="accent1"/>
                </a:solidFill>
                <a:latin typeface="Calibri" pitchFamily="34" charset="0"/>
                <a:ea typeface="Calibri" pitchFamily="34" charset="-122"/>
                <a:cs typeface="Calibri" pitchFamily="34" charset="-120"/>
              </a:rPr>
              <a:t>2:06</a:t>
            </a:r>
            <a:endParaRPr lang="en-US" sz="1050" dirty="0"/>
          </a:p>
        </p:txBody>
      </p:sp>
      <p:sp>
        <p:nvSpPr>
          <p:cNvPr id="13" name="Text 11"/>
          <p:cNvSpPr txBox="1"/>
          <p:nvPr/>
        </p:nvSpPr>
        <p:spPr>
          <a:xfrm>
            <a:off x="1060704" y="3191256"/>
            <a:ext cx="1783080" cy="411480"/>
          </a:xfrm>
          <a:prstGeom prst="rect">
            <a:avLst/>
          </a:prstGeom>
          <a:noFill/>
          <a:ln/>
        </p:spPr>
        <p:txBody>
          <a:bodyPr wrap="square" lIns="0" tIns="0" rIns="0" bIns="0" rtlCol="0" anchor="t"/>
          <a:lstStyle/>
          <a:p>
            <a:pPr indent="0" marL="0">
              <a:buNone/>
            </a:pPr>
            <a:r>
              <a:rPr lang="en-US" sz="1050" dirty="0">
                <a:solidFill>
                  <a:schemeClr val="bg1"/>
                </a:solidFill>
                <a:latin typeface="Calibri" pitchFamily="34" charset="0"/>
                <a:ea typeface="Calibri" pitchFamily="34" charset="-122"/>
                <a:cs typeface="Calibri" pitchFamily="34" charset="-120"/>
              </a:rPr>
              <a:t>Create a group</a:t>
            </a:r>
            <a:endParaRPr lang="en-US" sz="1050" dirty="0"/>
          </a:p>
        </p:txBody>
      </p:sp>
      <p:sp>
        <p:nvSpPr>
          <p:cNvPr id="14" name="Text 12"/>
          <p:cNvSpPr txBox="1"/>
          <p:nvPr/>
        </p:nvSpPr>
        <p:spPr>
          <a:xfrm>
            <a:off x="621792" y="3630168"/>
            <a:ext cx="411480" cy="274320"/>
          </a:xfrm>
          <a:prstGeom prst="rect">
            <a:avLst/>
          </a:prstGeom>
          <a:noFill/>
          <a:ln/>
        </p:spPr>
        <p:txBody>
          <a:bodyPr wrap="square" lIns="0" tIns="0" rIns="0" bIns="0" rtlCol="0" anchor="t"/>
          <a:lstStyle/>
          <a:p>
            <a:pPr indent="0" marL="0">
              <a:buNone/>
            </a:pPr>
            <a:r>
              <a:rPr lang="en-US" sz="1050" b="1" dirty="0">
                <a:solidFill>
                  <a:schemeClr val="accent1"/>
                </a:solidFill>
                <a:latin typeface="Calibri" pitchFamily="34" charset="0"/>
                <a:ea typeface="Calibri" pitchFamily="34" charset="-122"/>
                <a:cs typeface="Calibri" pitchFamily="34" charset="-120"/>
              </a:rPr>
              <a:t>2:24</a:t>
            </a:r>
            <a:endParaRPr lang="en-US" sz="1050" dirty="0"/>
          </a:p>
        </p:txBody>
      </p:sp>
      <p:sp>
        <p:nvSpPr>
          <p:cNvPr id="15" name="Text 13"/>
          <p:cNvSpPr txBox="1"/>
          <p:nvPr/>
        </p:nvSpPr>
        <p:spPr>
          <a:xfrm>
            <a:off x="1060704" y="3630168"/>
            <a:ext cx="1783080" cy="411480"/>
          </a:xfrm>
          <a:prstGeom prst="rect">
            <a:avLst/>
          </a:prstGeom>
          <a:noFill/>
          <a:ln/>
        </p:spPr>
        <p:txBody>
          <a:bodyPr wrap="square" lIns="0" tIns="0" rIns="0" bIns="0" rtlCol="0" anchor="t"/>
          <a:lstStyle/>
          <a:p>
            <a:pPr indent="0" marL="0">
              <a:buNone/>
            </a:pPr>
            <a:r>
              <a:rPr lang="en-US" sz="1050" dirty="0">
                <a:solidFill>
                  <a:schemeClr val="bg1"/>
                </a:solidFill>
                <a:latin typeface="Calibri" pitchFamily="34" charset="0"/>
                <a:ea typeface="Calibri" pitchFamily="34" charset="-122"/>
                <a:cs typeface="Calibri" pitchFamily="34" charset="-120"/>
              </a:rPr>
              <a:t>Add assets: per-asset approval, restriction</a:t>
            </a:r>
            <a:endParaRPr lang="en-US" sz="1050" dirty="0"/>
          </a:p>
        </p:txBody>
      </p:sp>
      <p:sp>
        <p:nvSpPr>
          <p:cNvPr id="16" name="Text 14"/>
          <p:cNvSpPr txBox="1"/>
          <p:nvPr/>
        </p:nvSpPr>
        <p:spPr>
          <a:xfrm>
            <a:off x="621792" y="4069080"/>
            <a:ext cx="411480" cy="274320"/>
          </a:xfrm>
          <a:prstGeom prst="rect">
            <a:avLst/>
          </a:prstGeom>
          <a:noFill/>
          <a:ln/>
        </p:spPr>
        <p:txBody>
          <a:bodyPr wrap="square" lIns="0" tIns="0" rIns="0" bIns="0" rtlCol="0" anchor="t"/>
          <a:lstStyle/>
          <a:p>
            <a:pPr indent="0" marL="0">
              <a:buNone/>
            </a:pPr>
            <a:r>
              <a:rPr lang="en-US" sz="1050" b="1" dirty="0">
                <a:solidFill>
                  <a:schemeClr val="accent1"/>
                </a:solidFill>
                <a:latin typeface="Calibri" pitchFamily="34" charset="0"/>
                <a:ea typeface="Calibri" pitchFamily="34" charset="-122"/>
                <a:cs typeface="Calibri" pitchFamily="34" charset="-120"/>
              </a:rPr>
              <a:t>4:42</a:t>
            </a:r>
            <a:endParaRPr lang="en-US" sz="1050" dirty="0"/>
          </a:p>
        </p:txBody>
      </p:sp>
      <p:sp>
        <p:nvSpPr>
          <p:cNvPr id="17" name="Text 15"/>
          <p:cNvSpPr txBox="1"/>
          <p:nvPr/>
        </p:nvSpPr>
        <p:spPr>
          <a:xfrm>
            <a:off x="1060704" y="4069080"/>
            <a:ext cx="1783080" cy="411480"/>
          </a:xfrm>
          <a:prstGeom prst="rect">
            <a:avLst/>
          </a:prstGeom>
          <a:noFill/>
          <a:ln/>
        </p:spPr>
        <p:txBody>
          <a:bodyPr wrap="square" lIns="0" tIns="0" rIns="0" bIns="0" rtlCol="0" anchor="t"/>
          <a:lstStyle/>
          <a:p>
            <a:pPr indent="0" marL="0">
              <a:buNone/>
            </a:pPr>
            <a:r>
              <a:rPr lang="en-US" sz="1050" dirty="0">
                <a:solidFill>
                  <a:schemeClr val="bg1"/>
                </a:solidFill>
                <a:latin typeface="Calibri" pitchFamily="34" charset="0"/>
                <a:ea typeface="Calibri" pitchFamily="34" charset="-122"/>
                <a:cs typeface="Calibri" pitchFamily="34" charset="-120"/>
              </a:rPr>
              <a:t>Member's first sign-in</a:t>
            </a:r>
            <a:endParaRPr lang="en-US" sz="1050" dirty="0"/>
          </a:p>
        </p:txBody>
      </p:sp>
      <p:sp>
        <p:nvSpPr>
          <p:cNvPr id="18" name="Text 16"/>
          <p:cNvSpPr txBox="1"/>
          <p:nvPr/>
        </p:nvSpPr>
        <p:spPr>
          <a:xfrm>
            <a:off x="2907792" y="1874520"/>
            <a:ext cx="411480" cy="274320"/>
          </a:xfrm>
          <a:prstGeom prst="rect">
            <a:avLst/>
          </a:prstGeom>
          <a:noFill/>
          <a:ln/>
        </p:spPr>
        <p:txBody>
          <a:bodyPr wrap="square" lIns="0" tIns="0" rIns="0" bIns="0" rtlCol="0" anchor="t"/>
          <a:lstStyle/>
          <a:p>
            <a:pPr indent="0" marL="0">
              <a:buNone/>
            </a:pPr>
            <a:r>
              <a:rPr lang="en-US" sz="1050" b="1" dirty="0">
                <a:solidFill>
                  <a:schemeClr val="accent1"/>
                </a:solidFill>
                <a:latin typeface="Calibri" pitchFamily="34" charset="0"/>
                <a:ea typeface="Calibri" pitchFamily="34" charset="-122"/>
                <a:cs typeface="Calibri" pitchFamily="34" charset="-120"/>
              </a:rPr>
              <a:t>5:24</a:t>
            </a:r>
            <a:endParaRPr lang="en-US" sz="1050" dirty="0"/>
          </a:p>
        </p:txBody>
      </p:sp>
      <p:sp>
        <p:nvSpPr>
          <p:cNvPr id="19" name="Text 17"/>
          <p:cNvSpPr txBox="1"/>
          <p:nvPr/>
        </p:nvSpPr>
        <p:spPr>
          <a:xfrm>
            <a:off x="3346704" y="1874520"/>
            <a:ext cx="1783080" cy="411480"/>
          </a:xfrm>
          <a:prstGeom prst="rect">
            <a:avLst/>
          </a:prstGeom>
          <a:noFill/>
          <a:ln/>
        </p:spPr>
        <p:txBody>
          <a:bodyPr wrap="square" lIns="0" tIns="0" rIns="0" bIns="0" rtlCol="0" anchor="t"/>
          <a:lstStyle/>
          <a:p>
            <a:pPr indent="0" marL="0">
              <a:buNone/>
            </a:pPr>
            <a:r>
              <a:rPr lang="en-US" sz="1050" dirty="0">
                <a:solidFill>
                  <a:schemeClr val="bg1"/>
                </a:solidFill>
                <a:latin typeface="Calibri" pitchFamily="34" charset="0"/>
                <a:ea typeface="Calibri" pitchFamily="34" charset="-122"/>
                <a:cs typeface="Calibri" pitchFamily="34" charset="-120"/>
              </a:rPr>
              <a:t>Auto-approved request, own pickup</a:t>
            </a:r>
            <a:endParaRPr lang="en-US" sz="1050" dirty="0"/>
          </a:p>
        </p:txBody>
      </p:sp>
      <p:sp>
        <p:nvSpPr>
          <p:cNvPr id="20" name="Text 18"/>
          <p:cNvSpPr txBox="1"/>
          <p:nvPr/>
        </p:nvSpPr>
        <p:spPr>
          <a:xfrm>
            <a:off x="2907792" y="2313432"/>
            <a:ext cx="411480" cy="274320"/>
          </a:xfrm>
          <a:prstGeom prst="rect">
            <a:avLst/>
          </a:prstGeom>
          <a:noFill/>
          <a:ln/>
        </p:spPr>
        <p:txBody>
          <a:bodyPr wrap="square" lIns="0" tIns="0" rIns="0" bIns="0" rtlCol="0" anchor="t"/>
          <a:lstStyle/>
          <a:p>
            <a:pPr indent="0" marL="0">
              <a:buNone/>
            </a:pPr>
            <a:r>
              <a:rPr lang="en-US" sz="1050" b="1" dirty="0">
                <a:solidFill>
                  <a:schemeClr val="accent1"/>
                </a:solidFill>
                <a:latin typeface="Calibri" pitchFamily="34" charset="0"/>
                <a:ea typeface="Calibri" pitchFamily="34" charset="-122"/>
                <a:cs typeface="Calibri" pitchFamily="34" charset="-120"/>
              </a:rPr>
              <a:t>6:00</a:t>
            </a:r>
            <a:endParaRPr lang="en-US" sz="1050" dirty="0"/>
          </a:p>
        </p:txBody>
      </p:sp>
      <p:sp>
        <p:nvSpPr>
          <p:cNvPr id="21" name="Text 19"/>
          <p:cNvSpPr txBox="1"/>
          <p:nvPr/>
        </p:nvSpPr>
        <p:spPr>
          <a:xfrm>
            <a:off x="3346704" y="2313432"/>
            <a:ext cx="1783080" cy="411480"/>
          </a:xfrm>
          <a:prstGeom prst="rect">
            <a:avLst/>
          </a:prstGeom>
          <a:noFill/>
          <a:ln/>
        </p:spPr>
        <p:txBody>
          <a:bodyPr wrap="square" lIns="0" tIns="0" rIns="0" bIns="0" rtlCol="0" anchor="t"/>
          <a:lstStyle/>
          <a:p>
            <a:pPr indent="0" marL="0">
              <a:buNone/>
            </a:pPr>
            <a:r>
              <a:rPr lang="en-US" sz="1050" dirty="0">
                <a:solidFill>
                  <a:schemeClr val="bg1"/>
                </a:solidFill>
                <a:latin typeface="Calibri" pitchFamily="34" charset="0"/>
                <a:ea typeface="Calibri" pitchFamily="34" charset="-122"/>
                <a:cs typeface="Calibri" pitchFamily="34" charset="-120"/>
              </a:rPr>
              <a:t>"Similar items available now"</a:t>
            </a:r>
            <a:endParaRPr lang="en-US" sz="1050" dirty="0"/>
          </a:p>
        </p:txBody>
      </p:sp>
      <p:sp>
        <p:nvSpPr>
          <p:cNvPr id="22" name="Text 20"/>
          <p:cNvSpPr txBox="1"/>
          <p:nvPr/>
        </p:nvSpPr>
        <p:spPr>
          <a:xfrm>
            <a:off x="2907792" y="2752344"/>
            <a:ext cx="411480" cy="274320"/>
          </a:xfrm>
          <a:prstGeom prst="rect">
            <a:avLst/>
          </a:prstGeom>
          <a:noFill/>
          <a:ln/>
        </p:spPr>
        <p:txBody>
          <a:bodyPr wrap="square" lIns="0" tIns="0" rIns="0" bIns="0" rtlCol="0" anchor="t"/>
          <a:lstStyle/>
          <a:p>
            <a:pPr indent="0" marL="0">
              <a:buNone/>
            </a:pPr>
            <a:r>
              <a:rPr lang="en-US" sz="1050" b="1" dirty="0">
                <a:solidFill>
                  <a:schemeClr val="accent1"/>
                </a:solidFill>
                <a:latin typeface="Calibri" pitchFamily="34" charset="0"/>
                <a:ea typeface="Calibri" pitchFamily="34" charset="-122"/>
                <a:cs typeface="Calibri" pitchFamily="34" charset="-120"/>
              </a:rPr>
              <a:t>6:36</a:t>
            </a:r>
            <a:endParaRPr lang="en-US" sz="1050" dirty="0"/>
          </a:p>
        </p:txBody>
      </p:sp>
      <p:sp>
        <p:nvSpPr>
          <p:cNvPr id="23" name="Text 21"/>
          <p:cNvSpPr txBox="1"/>
          <p:nvPr/>
        </p:nvSpPr>
        <p:spPr>
          <a:xfrm>
            <a:off x="3346704" y="2752344"/>
            <a:ext cx="1783080" cy="411480"/>
          </a:xfrm>
          <a:prstGeom prst="rect">
            <a:avLst/>
          </a:prstGeom>
          <a:noFill/>
          <a:ln/>
        </p:spPr>
        <p:txBody>
          <a:bodyPr wrap="square" lIns="0" tIns="0" rIns="0" bIns="0" rtlCol="0" anchor="t"/>
          <a:lstStyle/>
          <a:p>
            <a:pPr indent="0" marL="0">
              <a:buNone/>
            </a:pPr>
            <a:r>
              <a:rPr lang="en-US" sz="1050" dirty="0">
                <a:solidFill>
                  <a:schemeClr val="bg1"/>
                </a:solidFill>
                <a:latin typeface="Calibri" pitchFamily="34" charset="0"/>
                <a:ea typeface="Calibri" pitchFamily="34" charset="-122"/>
                <a:cs typeface="Calibri" pitchFamily="34" charset="-120"/>
              </a:rPr>
              <a:t>Restricted drone: refused, then granted</a:t>
            </a:r>
            <a:endParaRPr lang="en-US" sz="1050" dirty="0"/>
          </a:p>
        </p:txBody>
      </p:sp>
      <p:sp>
        <p:nvSpPr>
          <p:cNvPr id="24" name="Text 22"/>
          <p:cNvSpPr txBox="1"/>
          <p:nvPr/>
        </p:nvSpPr>
        <p:spPr>
          <a:xfrm>
            <a:off x="2907792" y="3191256"/>
            <a:ext cx="411480" cy="274320"/>
          </a:xfrm>
          <a:prstGeom prst="rect">
            <a:avLst/>
          </a:prstGeom>
          <a:noFill/>
          <a:ln/>
        </p:spPr>
        <p:txBody>
          <a:bodyPr wrap="square" lIns="0" tIns="0" rIns="0" bIns="0" rtlCol="0" anchor="t"/>
          <a:lstStyle/>
          <a:p>
            <a:pPr indent="0" marL="0">
              <a:buNone/>
            </a:pPr>
            <a:r>
              <a:rPr lang="en-US" sz="1050" b="1" dirty="0">
                <a:solidFill>
                  <a:schemeClr val="accent1"/>
                </a:solidFill>
                <a:latin typeface="Calibri" pitchFamily="34" charset="0"/>
                <a:ea typeface="Calibri" pitchFamily="34" charset="-122"/>
                <a:cs typeface="Calibri" pitchFamily="34" charset="-120"/>
              </a:rPr>
              <a:t>7:54</a:t>
            </a:r>
            <a:endParaRPr lang="en-US" sz="1050" dirty="0"/>
          </a:p>
        </p:txBody>
      </p:sp>
      <p:sp>
        <p:nvSpPr>
          <p:cNvPr id="25" name="Text 23"/>
          <p:cNvSpPr txBox="1"/>
          <p:nvPr/>
        </p:nvSpPr>
        <p:spPr>
          <a:xfrm>
            <a:off x="3346704" y="3191256"/>
            <a:ext cx="1783080" cy="411480"/>
          </a:xfrm>
          <a:prstGeom prst="rect">
            <a:avLst/>
          </a:prstGeom>
          <a:noFill/>
          <a:ln/>
        </p:spPr>
        <p:txBody>
          <a:bodyPr wrap="square" lIns="0" tIns="0" rIns="0" bIns="0" rtlCol="0" anchor="t"/>
          <a:lstStyle/>
          <a:p>
            <a:pPr indent="0" marL="0">
              <a:buNone/>
            </a:pPr>
            <a:r>
              <a:rPr lang="en-US" sz="1050" dirty="0">
                <a:solidFill>
                  <a:schemeClr val="bg1"/>
                </a:solidFill>
                <a:latin typeface="Calibri" pitchFamily="34" charset="0"/>
                <a:ea typeface="Calibri" pitchFamily="34" charset="-122"/>
                <a:cs typeface="Calibri" pitchFamily="34" charset="-120"/>
              </a:rPr>
              <a:t>Approval queue and handoff</a:t>
            </a:r>
            <a:endParaRPr lang="en-US" sz="1050" dirty="0"/>
          </a:p>
        </p:txBody>
      </p:sp>
      <p:sp>
        <p:nvSpPr>
          <p:cNvPr id="26" name="Text 24"/>
          <p:cNvSpPr txBox="1"/>
          <p:nvPr/>
        </p:nvSpPr>
        <p:spPr>
          <a:xfrm>
            <a:off x="2907792" y="3630168"/>
            <a:ext cx="411480" cy="274320"/>
          </a:xfrm>
          <a:prstGeom prst="rect">
            <a:avLst/>
          </a:prstGeom>
          <a:noFill/>
          <a:ln/>
        </p:spPr>
        <p:txBody>
          <a:bodyPr wrap="square" lIns="0" tIns="0" rIns="0" bIns="0" rtlCol="0" anchor="t"/>
          <a:lstStyle/>
          <a:p>
            <a:pPr indent="0" marL="0">
              <a:buNone/>
            </a:pPr>
            <a:r>
              <a:rPr lang="en-US" sz="1050" b="1" dirty="0">
                <a:solidFill>
                  <a:schemeClr val="accent1"/>
                </a:solidFill>
                <a:latin typeface="Calibri" pitchFamily="34" charset="0"/>
                <a:ea typeface="Calibri" pitchFamily="34" charset="-122"/>
                <a:cs typeface="Calibri" pitchFamily="34" charset="-120"/>
              </a:rPr>
              <a:t>8:42</a:t>
            </a:r>
            <a:endParaRPr lang="en-US" sz="1050" dirty="0"/>
          </a:p>
        </p:txBody>
      </p:sp>
      <p:sp>
        <p:nvSpPr>
          <p:cNvPr id="27" name="Text 25"/>
          <p:cNvSpPr txBox="1"/>
          <p:nvPr/>
        </p:nvSpPr>
        <p:spPr>
          <a:xfrm>
            <a:off x="3346704" y="3630168"/>
            <a:ext cx="1783080" cy="411480"/>
          </a:xfrm>
          <a:prstGeom prst="rect">
            <a:avLst/>
          </a:prstGeom>
          <a:noFill/>
          <a:ln/>
        </p:spPr>
        <p:txBody>
          <a:bodyPr wrap="square" lIns="0" tIns="0" rIns="0" bIns="0" rtlCol="0" anchor="t"/>
          <a:lstStyle/>
          <a:p>
            <a:pPr indent="0" marL="0">
              <a:buNone/>
            </a:pPr>
            <a:r>
              <a:rPr lang="en-US" sz="1050" dirty="0">
                <a:solidFill>
                  <a:schemeClr val="bg1"/>
                </a:solidFill>
                <a:latin typeface="Calibri" pitchFamily="34" charset="0"/>
                <a:ea typeface="Calibri" pitchFamily="34" charset="-122"/>
                <a:cs typeface="Calibri" pitchFamily="34" charset="-120"/>
              </a:rPr>
              <a:t>Two-step return</a:t>
            </a:r>
            <a:endParaRPr lang="en-US" sz="1050" dirty="0"/>
          </a:p>
        </p:txBody>
      </p:sp>
      <p:sp>
        <p:nvSpPr>
          <p:cNvPr id="28" name="Text 26"/>
          <p:cNvSpPr txBox="1"/>
          <p:nvPr/>
        </p:nvSpPr>
        <p:spPr>
          <a:xfrm>
            <a:off x="2907792" y="4069080"/>
            <a:ext cx="411480" cy="274320"/>
          </a:xfrm>
          <a:prstGeom prst="rect">
            <a:avLst/>
          </a:prstGeom>
          <a:noFill/>
          <a:ln/>
        </p:spPr>
        <p:txBody>
          <a:bodyPr wrap="square" lIns="0" tIns="0" rIns="0" bIns="0" rtlCol="0" anchor="t"/>
          <a:lstStyle/>
          <a:p>
            <a:pPr indent="0" marL="0">
              <a:buNone/>
            </a:pPr>
            <a:r>
              <a:rPr lang="en-US" sz="1050" b="1" dirty="0">
                <a:solidFill>
                  <a:schemeClr val="accent1"/>
                </a:solidFill>
                <a:latin typeface="Calibri" pitchFamily="34" charset="0"/>
                <a:ea typeface="Calibri" pitchFamily="34" charset="-122"/>
                <a:cs typeface="Calibri" pitchFamily="34" charset="-120"/>
              </a:rPr>
              <a:t>10:36</a:t>
            </a:r>
            <a:endParaRPr lang="en-US" sz="1050" dirty="0"/>
          </a:p>
        </p:txBody>
      </p:sp>
      <p:sp>
        <p:nvSpPr>
          <p:cNvPr id="29" name="Text 27"/>
          <p:cNvSpPr txBox="1"/>
          <p:nvPr/>
        </p:nvSpPr>
        <p:spPr>
          <a:xfrm>
            <a:off x="3346704" y="4069080"/>
            <a:ext cx="1783080" cy="411480"/>
          </a:xfrm>
          <a:prstGeom prst="rect">
            <a:avLst/>
          </a:prstGeom>
          <a:noFill/>
          <a:ln/>
        </p:spPr>
        <p:txBody>
          <a:bodyPr wrap="square" lIns="0" tIns="0" rIns="0" bIns="0" rtlCol="0" anchor="t"/>
          <a:lstStyle/>
          <a:p>
            <a:pPr indent="0" marL="0">
              <a:buNone/>
            </a:pPr>
            <a:r>
              <a:rPr lang="en-US" sz="1050" dirty="0">
                <a:solidFill>
                  <a:schemeClr val="bg1"/>
                </a:solidFill>
                <a:latin typeface="Calibri" pitchFamily="34" charset="0"/>
                <a:ea typeface="Calibri" pitchFamily="34" charset="-122"/>
                <a:cs typeface="Calibri" pitchFamily="34" charset="-120"/>
              </a:rPr>
              <a:t>Audit log and dashboard</a:t>
            </a:r>
            <a:endParaRPr lang="en-US" sz="1050" dirty="0"/>
          </a:p>
        </p:txBody>
      </p:sp>
      <p:sp>
        <p:nvSpPr>
          <p:cNvPr id="30" name="screenshot-frame"/>
          <p:cNvSpPr/>
          <p:nvPr/>
        </p:nvSpPr>
        <p:spPr>
          <a:xfrm>
            <a:off x="5321808" y="2346621"/>
            <a:ext cx="3392424" cy="1661837"/>
          </a:xfrm>
          <a:prstGeom prst="rect">
            <a:avLst/>
          </a:prstGeom>
          <a:solidFill>
            <a:schemeClr val="bg1"/>
          </a:solidFill>
          <a:ln w="9525">
            <a:solidFill>
              <a:schemeClr val="accent6"/>
            </a:solidFill>
            <a:prstDash val="solid"/>
          </a:ln>
          <a:effectLst>
            <a:outerShdw sx="100000" sy="100000" kx="0" ky="0" algn="bl" rotWithShape="0" blurRad="76200" dist="19050" dir="5400000">
              <a:srgbClr val="1B2430">
                <a:alpha val="8000"/>
              </a:srgbClr>
            </a:outerShdw>
          </a:effectLst>
        </p:spPr>
      </p:sp>
      <p:pic>
        <p:nvPicPr>
          <p:cNvPr id="31" name="screenshot" descr="Admin confirming a return with condition Fair">    </p:cNvPr>
          <p:cNvPicPr>
            <a:picLocks noChangeAspect="1"/>
          </p:cNvPicPr>
          <p:nvPr/>
        </p:nvPicPr>
        <p:blipFill>
          <a:blip r:embed="rId1"/>
          <a:stretch>
            <a:fillRect/>
          </a:stretch>
        </p:blipFill>
        <p:spPr>
          <a:xfrm>
            <a:off x="5349240" y="2374053"/>
            <a:ext cx="3337560" cy="160697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400800" cy="566928"/>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Quality Assurance and Testing</a:t>
            </a:r>
            <a:endParaRPr lang="en-US" sz="2600" dirty="0"/>
          </a:p>
        </p:txBody>
      </p:sp>
      <p:sp>
        <p:nvSpPr>
          <p:cNvPr id="3" name="Text 0"/>
          <p:cNvSpPr/>
          <p:nvPr>
            <p:ph idx="101" type="body" hasCustomPrompt="1"/>
          </p:nvPr>
        </p:nvSpPr>
        <p:spPr>
          <a:xfrm>
            <a:off x="457200" y="4645152"/>
            <a:ext cx="8229600" cy="329184"/>
          </a:xfrm>
          <a:prstGeom prst="rect">
            <a:avLst/>
          </a:prstGeom>
          <a:noFill/>
          <a:ln/>
        </p:spPr>
        <p:txBody>
          <a:bodyPr wrap="square" lIns="0" tIns="0" rIns="0" bIns="0" rtlCol="0" anchor="ctr"/>
          <a:lstStyle/>
          <a:p>
            <a:pPr indent="0" marL="0">
              <a:buNone/>
            </a:pPr>
            <a:r>
              <a:rPr lang="en-US" sz="1000" i="1" dirty="0">
                <a:solidFill>
                  <a:schemeClr val="accent5"/>
                </a:solidFill>
                <a:latin typeface="Calibri" pitchFamily="34" charset="0"/>
                <a:ea typeface="Calibri" pitchFamily="34" charset="-122"/>
                <a:cs typeface="Calibri" pitchFamily="34" charset="-120"/>
              </a:rPr>
              <a:t>CI run on main at commit 5c4bcc8, 4 October 2026, which passed every job. STD v0.3 §1.2, §2.5 and §4.2.</a:t>
            </a:r>
            <a:endParaRPr lang="en-US" sz="1000" dirty="0"/>
          </a:p>
        </p:txBody>
      </p:sp>
      <p:sp>
        <p:nvSpPr>
          <p:cNvPr id="4" name="speaker"/>
          <p:cNvSpPr/>
          <p:nvPr/>
        </p:nvSpPr>
        <p:spPr>
          <a:xfrm>
            <a:off x="6949440" y="301752"/>
            <a:ext cx="1737360" cy="429768"/>
          </a:xfrm>
          <a:prstGeom prst="roundRect">
            <a:avLst>
              <a:gd name="adj" fmla="val 17021"/>
            </a:avLst>
          </a:prstGeom>
          <a:solidFill>
            <a:schemeClr val="tx1"/>
          </a:solidFill>
          <a:ln>
            <a:solidFill>
              <a:schemeClr val="tx1"/>
            </a:solid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Alex</a:t>
            </a:r>
            <a:endParaRPr lang="en-US" sz="1200" dirty="0"/>
          </a:p>
        </p:txBody>
      </p:sp>
      <p:sp>
        <p:nvSpPr>
          <p:cNvPr id="5" name="card"/>
          <p:cNvSpPr/>
          <p:nvPr/>
        </p:nvSpPr>
        <p:spPr>
          <a:xfrm>
            <a:off x="457200" y="960120"/>
            <a:ext cx="1965960" cy="960120"/>
          </a:xfrm>
          <a:prstGeom prst="roundRect">
            <a:avLst>
              <a:gd name="adj" fmla="val 5714"/>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6" name="Text 4"/>
          <p:cNvSpPr txBox="1"/>
          <p:nvPr/>
        </p:nvSpPr>
        <p:spPr>
          <a:xfrm>
            <a:off x="457200" y="1005840"/>
            <a:ext cx="1965960" cy="457200"/>
          </a:xfrm>
          <a:prstGeom prst="rect">
            <a:avLst/>
          </a:prstGeom>
          <a:noFill/>
          <a:ln/>
        </p:spPr>
        <p:txBody>
          <a:bodyPr wrap="square" lIns="0" tIns="0" rIns="0" bIns="0" rtlCol="0" anchor="ctr"/>
          <a:lstStyle/>
          <a:p>
            <a:pPr algn="ctr" indent="0" marL="0">
              <a:buNone/>
            </a:pPr>
            <a:r>
              <a:rPr lang="en-US" sz="2600" b="1" dirty="0">
                <a:solidFill>
                  <a:schemeClr val="tx1"/>
                </a:solidFill>
                <a:latin typeface="Cambria" pitchFamily="34" charset="0"/>
                <a:ea typeface="Cambria" pitchFamily="34" charset="-122"/>
                <a:cs typeface="Cambria" pitchFamily="34" charset="-120"/>
              </a:rPr>
              <a:t>1,508</a:t>
            </a:r>
            <a:endParaRPr lang="en-US" sz="2600" dirty="0"/>
          </a:p>
        </p:txBody>
      </p:sp>
      <p:sp>
        <p:nvSpPr>
          <p:cNvPr id="7" name="Text 5"/>
          <p:cNvSpPr txBox="1"/>
          <p:nvPr/>
        </p:nvSpPr>
        <p:spPr>
          <a:xfrm>
            <a:off x="457200" y="1463040"/>
            <a:ext cx="1965960" cy="201168"/>
          </a:xfrm>
          <a:prstGeom prst="rect">
            <a:avLst/>
          </a:prstGeom>
          <a:noFill/>
          <a:ln/>
        </p:spPr>
        <p:txBody>
          <a:bodyPr wrap="square" lIns="0" tIns="0" rIns="0" bIns="0" rtlCol="0" anchor="t"/>
          <a:lstStyle/>
          <a:p>
            <a:pPr algn="ctr" indent="0" marL="0">
              <a:buNone/>
            </a:pPr>
            <a:r>
              <a:rPr lang="en-US" sz="1000" dirty="0">
                <a:solidFill>
                  <a:schemeClr val="accent5"/>
                </a:solidFill>
                <a:latin typeface="Calibri" pitchFamily="34" charset="0"/>
                <a:ea typeface="Calibri" pitchFamily="34" charset="-122"/>
                <a:cs typeface="Calibri" pitchFamily="34" charset="-120"/>
              </a:rPr>
              <a:t>test cases passing</a:t>
            </a:r>
            <a:endParaRPr lang="en-US" sz="1000" dirty="0"/>
          </a:p>
        </p:txBody>
      </p:sp>
      <p:sp>
        <p:nvSpPr>
          <p:cNvPr id="8" name="Text 6"/>
          <p:cNvSpPr txBox="1"/>
          <p:nvPr/>
        </p:nvSpPr>
        <p:spPr>
          <a:xfrm>
            <a:off x="457200" y="1664208"/>
            <a:ext cx="1965960" cy="201168"/>
          </a:xfrm>
          <a:prstGeom prst="rect">
            <a:avLst/>
          </a:prstGeom>
          <a:noFill/>
          <a:ln/>
        </p:spPr>
        <p:txBody>
          <a:bodyPr wrap="square" lIns="0" tIns="0" rIns="0" bIns="0" rtlCol="0" anchor="t"/>
          <a:lstStyle/>
          <a:p>
            <a:pPr algn="ctr" indent="0" marL="0">
              <a:buNone/>
            </a:pPr>
            <a:r>
              <a:rPr lang="en-US" sz="950" b="1" dirty="0">
                <a:solidFill>
                  <a:schemeClr val="accent3"/>
                </a:solidFill>
                <a:latin typeface="Calibri" pitchFamily="34" charset="0"/>
                <a:ea typeface="Calibri" pitchFamily="34" charset="-122"/>
                <a:cs typeface="Calibri" pitchFamily="34" charset="-120"/>
              </a:rPr>
              <a:t>+587 since Iteration 1</a:t>
            </a:r>
            <a:endParaRPr lang="en-US" sz="950" dirty="0"/>
          </a:p>
        </p:txBody>
      </p:sp>
      <p:sp>
        <p:nvSpPr>
          <p:cNvPr id="9" name="card"/>
          <p:cNvSpPr/>
          <p:nvPr/>
        </p:nvSpPr>
        <p:spPr>
          <a:xfrm>
            <a:off x="2551176" y="960120"/>
            <a:ext cx="1965960" cy="960120"/>
          </a:xfrm>
          <a:prstGeom prst="roundRect">
            <a:avLst>
              <a:gd name="adj" fmla="val 5714"/>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10" name="Text 8"/>
          <p:cNvSpPr txBox="1"/>
          <p:nvPr/>
        </p:nvSpPr>
        <p:spPr>
          <a:xfrm>
            <a:off x="2551176" y="1005840"/>
            <a:ext cx="1965960" cy="457200"/>
          </a:xfrm>
          <a:prstGeom prst="rect">
            <a:avLst/>
          </a:prstGeom>
          <a:noFill/>
          <a:ln/>
        </p:spPr>
        <p:txBody>
          <a:bodyPr wrap="square" lIns="0" tIns="0" rIns="0" bIns="0" rtlCol="0" anchor="ctr"/>
          <a:lstStyle/>
          <a:p>
            <a:pPr algn="ctr" indent="0" marL="0">
              <a:buNone/>
            </a:pPr>
            <a:r>
              <a:rPr lang="en-US" sz="2600" b="1" dirty="0">
                <a:solidFill>
                  <a:schemeClr val="tx1"/>
                </a:solidFill>
                <a:latin typeface="Cambria" pitchFamily="34" charset="0"/>
                <a:ea typeface="Cambria" pitchFamily="34" charset="-122"/>
                <a:cs typeface="Cambria" pitchFamily="34" charset="-120"/>
              </a:rPr>
              <a:t>95.2%</a:t>
            </a:r>
            <a:endParaRPr lang="en-US" sz="2600" dirty="0"/>
          </a:p>
        </p:txBody>
      </p:sp>
      <p:sp>
        <p:nvSpPr>
          <p:cNvPr id="11" name="Text 9"/>
          <p:cNvSpPr txBox="1"/>
          <p:nvPr/>
        </p:nvSpPr>
        <p:spPr>
          <a:xfrm>
            <a:off x="2551176" y="1463040"/>
            <a:ext cx="1965960" cy="201168"/>
          </a:xfrm>
          <a:prstGeom prst="rect">
            <a:avLst/>
          </a:prstGeom>
          <a:noFill/>
          <a:ln/>
        </p:spPr>
        <p:txBody>
          <a:bodyPr wrap="square" lIns="0" tIns="0" rIns="0" bIns="0" rtlCol="0" anchor="t"/>
          <a:lstStyle/>
          <a:p>
            <a:pPr algn="ctr" indent="0" marL="0">
              <a:buNone/>
            </a:pPr>
            <a:r>
              <a:rPr lang="en-US" sz="1000" dirty="0">
                <a:solidFill>
                  <a:schemeClr val="accent5"/>
                </a:solidFill>
                <a:latin typeface="Calibri" pitchFamily="34" charset="0"/>
                <a:ea typeface="Calibri" pitchFamily="34" charset="-122"/>
                <a:cs typeface="Calibri" pitchFamily="34" charset="-120"/>
              </a:rPr>
              <a:t>backend line coverage</a:t>
            </a:r>
            <a:endParaRPr lang="en-US" sz="1000" dirty="0"/>
          </a:p>
        </p:txBody>
      </p:sp>
      <p:sp>
        <p:nvSpPr>
          <p:cNvPr id="12" name="Text 10"/>
          <p:cNvSpPr txBox="1"/>
          <p:nvPr/>
        </p:nvSpPr>
        <p:spPr>
          <a:xfrm>
            <a:off x="2551176" y="1664208"/>
            <a:ext cx="1965960" cy="201168"/>
          </a:xfrm>
          <a:prstGeom prst="rect">
            <a:avLst/>
          </a:prstGeom>
          <a:noFill/>
          <a:ln/>
        </p:spPr>
        <p:txBody>
          <a:bodyPr wrap="square" lIns="0" tIns="0" rIns="0" bIns="0" rtlCol="0" anchor="t"/>
          <a:lstStyle/>
          <a:p>
            <a:pPr algn="ctr" indent="0" marL="0">
              <a:buNone/>
            </a:pPr>
            <a:r>
              <a:rPr lang="en-US" sz="950" b="1" dirty="0">
                <a:solidFill>
                  <a:schemeClr val="accent3"/>
                </a:solidFill>
                <a:latin typeface="Calibri" pitchFamily="34" charset="0"/>
                <a:ea typeface="Calibri" pitchFamily="34" charset="-122"/>
                <a:cs typeface="Calibri" pitchFamily="34" charset="-120"/>
              </a:rPr>
              <a:t>gate fails below 80%</a:t>
            </a:r>
            <a:endParaRPr lang="en-US" sz="950" dirty="0"/>
          </a:p>
        </p:txBody>
      </p:sp>
      <p:sp>
        <p:nvSpPr>
          <p:cNvPr id="13" name="card"/>
          <p:cNvSpPr/>
          <p:nvPr/>
        </p:nvSpPr>
        <p:spPr>
          <a:xfrm>
            <a:off x="4645152" y="960120"/>
            <a:ext cx="1965960" cy="960120"/>
          </a:xfrm>
          <a:prstGeom prst="roundRect">
            <a:avLst>
              <a:gd name="adj" fmla="val 5714"/>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14" name="Text 12"/>
          <p:cNvSpPr txBox="1"/>
          <p:nvPr/>
        </p:nvSpPr>
        <p:spPr>
          <a:xfrm>
            <a:off x="4645152" y="1005840"/>
            <a:ext cx="1965960" cy="457200"/>
          </a:xfrm>
          <a:prstGeom prst="rect">
            <a:avLst/>
          </a:prstGeom>
          <a:noFill/>
          <a:ln/>
        </p:spPr>
        <p:txBody>
          <a:bodyPr wrap="square" lIns="0" tIns="0" rIns="0" bIns="0" rtlCol="0" anchor="ctr"/>
          <a:lstStyle/>
          <a:p>
            <a:pPr algn="ctr" indent="0" marL="0">
              <a:buNone/>
            </a:pPr>
            <a:r>
              <a:rPr lang="en-US" sz="2600" b="1" dirty="0">
                <a:solidFill>
                  <a:schemeClr val="tx1"/>
                </a:solidFill>
                <a:latin typeface="Cambria" pitchFamily="34" charset="0"/>
                <a:ea typeface="Cambria" pitchFamily="34" charset="-122"/>
                <a:cs typeface="Cambria" pitchFamily="34" charset="-120"/>
              </a:rPr>
              <a:t>97.8%</a:t>
            </a:r>
            <a:endParaRPr lang="en-US" sz="2600" dirty="0"/>
          </a:p>
        </p:txBody>
      </p:sp>
      <p:sp>
        <p:nvSpPr>
          <p:cNvPr id="15" name="Text 13"/>
          <p:cNvSpPr txBox="1"/>
          <p:nvPr/>
        </p:nvSpPr>
        <p:spPr>
          <a:xfrm>
            <a:off x="4645152" y="1463040"/>
            <a:ext cx="1965960" cy="201168"/>
          </a:xfrm>
          <a:prstGeom prst="rect">
            <a:avLst/>
          </a:prstGeom>
          <a:noFill/>
          <a:ln/>
        </p:spPr>
        <p:txBody>
          <a:bodyPr wrap="square" lIns="0" tIns="0" rIns="0" bIns="0" rtlCol="0" anchor="t"/>
          <a:lstStyle/>
          <a:p>
            <a:pPr algn="ctr" indent="0" marL="0">
              <a:buNone/>
            </a:pPr>
            <a:r>
              <a:rPr lang="en-US" sz="1000" dirty="0">
                <a:solidFill>
                  <a:schemeClr val="accent5"/>
                </a:solidFill>
                <a:latin typeface="Calibri" pitchFamily="34" charset="0"/>
                <a:ea typeface="Calibri" pitchFamily="34" charset="-122"/>
                <a:cs typeface="Calibri" pitchFamily="34" charset="-120"/>
              </a:rPr>
              <a:t>frontend line coverage</a:t>
            </a:r>
            <a:endParaRPr lang="en-US" sz="1000" dirty="0"/>
          </a:p>
        </p:txBody>
      </p:sp>
      <p:sp>
        <p:nvSpPr>
          <p:cNvPr id="16" name="Text 14"/>
          <p:cNvSpPr txBox="1"/>
          <p:nvPr/>
        </p:nvSpPr>
        <p:spPr>
          <a:xfrm>
            <a:off x="4645152" y="1664208"/>
            <a:ext cx="1965960" cy="201168"/>
          </a:xfrm>
          <a:prstGeom prst="rect">
            <a:avLst/>
          </a:prstGeom>
          <a:noFill/>
          <a:ln/>
        </p:spPr>
        <p:txBody>
          <a:bodyPr wrap="square" lIns="0" tIns="0" rIns="0" bIns="0" rtlCol="0" anchor="t"/>
          <a:lstStyle/>
          <a:p>
            <a:pPr algn="ctr" indent="0" marL="0">
              <a:buNone/>
            </a:pPr>
            <a:r>
              <a:rPr lang="en-US" sz="950" b="1" dirty="0">
                <a:solidFill>
                  <a:schemeClr val="accent3"/>
                </a:solidFill>
                <a:latin typeface="Calibri" pitchFamily="34" charset="0"/>
                <a:ea typeface="Calibri" pitchFamily="34" charset="-122"/>
                <a:cs typeface="Calibri" pitchFamily="34" charset="-120"/>
              </a:rPr>
              <a:t>gate fails below 80%</a:t>
            </a:r>
            <a:endParaRPr lang="en-US" sz="950" dirty="0"/>
          </a:p>
        </p:txBody>
      </p:sp>
      <p:sp>
        <p:nvSpPr>
          <p:cNvPr id="17" name="card"/>
          <p:cNvSpPr/>
          <p:nvPr/>
        </p:nvSpPr>
        <p:spPr>
          <a:xfrm>
            <a:off x="6739128" y="960120"/>
            <a:ext cx="1965960" cy="960120"/>
          </a:xfrm>
          <a:prstGeom prst="roundRect">
            <a:avLst>
              <a:gd name="adj" fmla="val 5714"/>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18" name="Text 16"/>
          <p:cNvSpPr txBox="1"/>
          <p:nvPr/>
        </p:nvSpPr>
        <p:spPr>
          <a:xfrm>
            <a:off x="6739128" y="1005840"/>
            <a:ext cx="1965960" cy="457200"/>
          </a:xfrm>
          <a:prstGeom prst="rect">
            <a:avLst/>
          </a:prstGeom>
          <a:noFill/>
          <a:ln/>
        </p:spPr>
        <p:txBody>
          <a:bodyPr wrap="square" lIns="0" tIns="0" rIns="0" bIns="0" rtlCol="0" anchor="ctr"/>
          <a:lstStyle/>
          <a:p>
            <a:pPr algn="ctr" indent="0" marL="0">
              <a:buNone/>
            </a:pPr>
            <a:r>
              <a:rPr lang="en-US" sz="2600" b="1" dirty="0">
                <a:solidFill>
                  <a:schemeClr val="tx1"/>
                </a:solidFill>
                <a:latin typeface="Cambria" pitchFamily="34" charset="0"/>
                <a:ea typeface="Cambria" pitchFamily="34" charset="-122"/>
                <a:cs typeface="Cambria" pitchFamily="34" charset="-120"/>
              </a:rPr>
              <a:t>0</a:t>
            </a:r>
            <a:endParaRPr lang="en-US" sz="2600" dirty="0"/>
          </a:p>
        </p:txBody>
      </p:sp>
      <p:sp>
        <p:nvSpPr>
          <p:cNvPr id="19" name="Text 17"/>
          <p:cNvSpPr txBox="1"/>
          <p:nvPr/>
        </p:nvSpPr>
        <p:spPr>
          <a:xfrm>
            <a:off x="6739128" y="1463040"/>
            <a:ext cx="1965960" cy="201168"/>
          </a:xfrm>
          <a:prstGeom prst="rect">
            <a:avLst/>
          </a:prstGeom>
          <a:noFill/>
          <a:ln/>
        </p:spPr>
        <p:txBody>
          <a:bodyPr wrap="square" lIns="0" tIns="0" rIns="0" bIns="0" rtlCol="0" anchor="t"/>
          <a:lstStyle/>
          <a:p>
            <a:pPr algn="ctr" indent="0" marL="0">
              <a:buNone/>
            </a:pPr>
            <a:r>
              <a:rPr lang="en-US" sz="1000" dirty="0">
                <a:solidFill>
                  <a:schemeClr val="accent5"/>
                </a:solidFill>
                <a:latin typeface="Calibri" pitchFamily="34" charset="0"/>
                <a:ea typeface="Calibri" pitchFamily="34" charset="-122"/>
                <a:cs typeface="Calibri" pitchFamily="34" charset="-120"/>
              </a:rPr>
              <a:t>npm audit findings</a:t>
            </a:r>
            <a:endParaRPr lang="en-US" sz="1000" dirty="0"/>
          </a:p>
        </p:txBody>
      </p:sp>
      <p:sp>
        <p:nvSpPr>
          <p:cNvPr id="20" name="Text 18"/>
          <p:cNvSpPr txBox="1"/>
          <p:nvPr/>
        </p:nvSpPr>
        <p:spPr>
          <a:xfrm>
            <a:off x="6739128" y="1664208"/>
            <a:ext cx="1965960" cy="201168"/>
          </a:xfrm>
          <a:prstGeom prst="rect">
            <a:avLst/>
          </a:prstGeom>
          <a:noFill/>
          <a:ln/>
        </p:spPr>
        <p:txBody>
          <a:bodyPr wrap="square" lIns="0" tIns="0" rIns="0" bIns="0" rtlCol="0" anchor="t"/>
          <a:lstStyle/>
          <a:p>
            <a:pPr algn="ctr" indent="0" marL="0">
              <a:buNone/>
            </a:pPr>
            <a:r>
              <a:rPr lang="en-US" sz="950" b="1" dirty="0">
                <a:solidFill>
                  <a:schemeClr val="accent3"/>
                </a:solidFill>
                <a:latin typeface="Calibri" pitchFamily="34" charset="0"/>
                <a:ea typeface="Calibri" pitchFamily="34" charset="-122"/>
                <a:cs typeface="Calibri" pitchFamily="34" charset="-120"/>
              </a:rPr>
              <a:t>at high or above</a:t>
            </a:r>
            <a:endParaRPr lang="en-US" sz="950" dirty="0"/>
          </a:p>
        </p:txBody>
      </p:sp>
      <p:sp>
        <p:nvSpPr>
          <p:cNvPr id="21" name="card"/>
          <p:cNvSpPr/>
          <p:nvPr/>
        </p:nvSpPr>
        <p:spPr>
          <a:xfrm>
            <a:off x="457200" y="2103120"/>
            <a:ext cx="3977640" cy="2395728"/>
          </a:xfrm>
          <a:prstGeom prst="roundRect">
            <a:avLst>
              <a:gd name="adj" fmla="val 2290"/>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22" name="Text 20"/>
          <p:cNvSpPr txBox="1"/>
          <p:nvPr/>
        </p:nvSpPr>
        <p:spPr>
          <a:xfrm>
            <a:off x="640080" y="2212848"/>
            <a:ext cx="3657600" cy="292608"/>
          </a:xfrm>
          <a:prstGeom prst="rect">
            <a:avLst/>
          </a:prstGeom>
          <a:noFill/>
          <a:ln/>
        </p:spPr>
        <p:txBody>
          <a:bodyPr wrap="square" lIns="0" tIns="0" rIns="0" bIns="0" rtlCol="0" anchor="t"/>
          <a:lstStyle/>
          <a:p>
            <a:pPr indent="0" marL="0">
              <a:buNone/>
            </a:pPr>
            <a:r>
              <a:rPr lang="en-US" sz="1400" b="1" dirty="0">
                <a:solidFill>
                  <a:schemeClr val="tx1"/>
                </a:solidFill>
                <a:latin typeface="Cambria" pitchFamily="34" charset="0"/>
                <a:ea typeface="Cambria" pitchFamily="34" charset="-122"/>
                <a:cs typeface="Cambria" pitchFamily="34" charset="-120"/>
              </a:rPr>
              <a:t>Built test-first</a:t>
            </a:r>
            <a:endParaRPr lang="en-US" sz="1400" dirty="0"/>
          </a:p>
        </p:txBody>
      </p:sp>
      <p:sp>
        <p:nvSpPr>
          <p:cNvPr id="23" name="Text 21"/>
          <p:cNvSpPr txBox="1"/>
          <p:nvPr/>
        </p:nvSpPr>
        <p:spPr>
          <a:xfrm>
            <a:off x="640080" y="2542032"/>
            <a:ext cx="3611880" cy="640080"/>
          </a:xfrm>
          <a:prstGeom prst="rect">
            <a:avLst/>
          </a:prstGeom>
          <a:noFill/>
          <a:ln/>
        </p:spPr>
        <p:txBody>
          <a:bodyPr wrap="square" lIns="0" tIns="0" rIns="0" bIns="0" rtlCol="0" anchor="t"/>
          <a:lstStyle/>
          <a:p>
            <a:pPr indent="0" marL="0">
              <a:buNone/>
            </a:pPr>
            <a:r>
              <a:rPr lang="en-US" sz="1050" dirty="0">
                <a:solidFill>
                  <a:schemeClr val="tx1"/>
                </a:solidFill>
                <a:latin typeface="Calibri" pitchFamily="34" charset="0"/>
                <a:ea typeface="Calibri" pitchFamily="34" charset="-122"/>
                <a:cs typeface="Calibri" pitchFamily="34" charset="-120"/>
              </a:rPr>
              <a:t>Most stories committed each acceptance criterion as a failing test before the code. The history shows the red and green commits in pairs.</a:t>
            </a:r>
            <a:endParaRPr lang="en-US" sz="1050" dirty="0"/>
          </a:p>
        </p:txBody>
      </p:sp>
      <p:sp>
        <p:nvSpPr>
          <p:cNvPr id="24" name="Text 22"/>
          <p:cNvSpPr txBox="1"/>
          <p:nvPr/>
        </p:nvSpPr>
        <p:spPr>
          <a:xfrm>
            <a:off x="640080" y="3200400"/>
            <a:ext cx="2377440" cy="228600"/>
          </a:xfrm>
          <a:prstGeom prst="rect">
            <a:avLst/>
          </a:prstGeom>
          <a:noFill/>
          <a:ln/>
        </p:spPr>
        <p:txBody>
          <a:bodyPr wrap="square" lIns="0" tIns="0" rIns="0" bIns="0" rtlCol="0" anchor="t"/>
          <a:lstStyle/>
          <a:p>
            <a:pPr indent="0" marL="0">
              <a:buNone/>
            </a:pPr>
            <a:r>
              <a:rPr lang="en-US" sz="1000" dirty="0">
                <a:solidFill>
                  <a:schemeClr val="tx1"/>
                </a:solidFill>
                <a:latin typeface="Calibri" pitchFamily="34" charset="0"/>
                <a:ea typeface="Calibri" pitchFamily="34" charset="-122"/>
                <a:cs typeface="Calibri" pitchFamily="34" charset="-120"/>
              </a:rPr>
              <a:t>custodyConfirmation</a:t>
            </a:r>
            <a:endParaRPr lang="en-US" sz="1000" dirty="0"/>
          </a:p>
        </p:txBody>
      </p:sp>
      <p:sp>
        <p:nvSpPr>
          <p:cNvPr id="25" name="suite-bar"/>
          <p:cNvSpPr/>
          <p:nvPr/>
        </p:nvSpPr>
        <p:spPr>
          <a:xfrm>
            <a:off x="2514600" y="3246120"/>
            <a:ext cx="1463040" cy="137160"/>
          </a:xfrm>
          <a:prstGeom prst="rect">
            <a:avLst/>
          </a:prstGeom>
          <a:solidFill>
            <a:schemeClr val="accent2"/>
          </a:solidFill>
          <a:ln w="12700">
            <a:solidFill>
              <a:schemeClr val="accent2"/>
            </a:solidFill>
            <a:prstDash val="solid"/>
          </a:ln>
        </p:spPr>
      </p:sp>
      <p:sp>
        <p:nvSpPr>
          <p:cNvPr id="26" name="Text 24"/>
          <p:cNvSpPr txBox="1"/>
          <p:nvPr/>
        </p:nvSpPr>
        <p:spPr>
          <a:xfrm>
            <a:off x="4023360" y="3200400"/>
            <a:ext cx="365760" cy="228600"/>
          </a:xfrm>
          <a:prstGeom prst="rect">
            <a:avLst/>
          </a:prstGeom>
          <a:noFill/>
          <a:ln/>
        </p:spPr>
        <p:txBody>
          <a:bodyPr wrap="square" lIns="0" tIns="0" rIns="0" bIns="0" rtlCol="0" anchor="t"/>
          <a:lstStyle/>
          <a:p>
            <a:pPr indent="0" marL="0">
              <a:buNone/>
            </a:pPr>
            <a:r>
              <a:rPr lang="en-US" sz="1000" b="1" dirty="0">
                <a:solidFill>
                  <a:schemeClr val="tx1"/>
                </a:solidFill>
                <a:latin typeface="Calibri" pitchFamily="34" charset="0"/>
                <a:ea typeface="Calibri" pitchFamily="34" charset="-122"/>
                <a:cs typeface="Calibri" pitchFamily="34" charset="-120"/>
              </a:rPr>
              <a:t>51</a:t>
            </a:r>
            <a:endParaRPr lang="en-US" sz="1000" dirty="0"/>
          </a:p>
        </p:txBody>
      </p:sp>
      <p:sp>
        <p:nvSpPr>
          <p:cNvPr id="27" name="Text 25"/>
          <p:cNvSpPr txBox="1"/>
          <p:nvPr/>
        </p:nvSpPr>
        <p:spPr>
          <a:xfrm>
            <a:off x="640080" y="3447288"/>
            <a:ext cx="2377440" cy="228600"/>
          </a:xfrm>
          <a:prstGeom prst="rect">
            <a:avLst/>
          </a:prstGeom>
          <a:noFill/>
          <a:ln/>
        </p:spPr>
        <p:txBody>
          <a:bodyPr wrap="square" lIns="0" tIns="0" rIns="0" bIns="0" rtlCol="0" anchor="t"/>
          <a:lstStyle/>
          <a:p>
            <a:pPr indent="0" marL="0">
              <a:buNone/>
            </a:pPr>
            <a:r>
              <a:rPr lang="en-US" sz="1000" dirty="0">
                <a:solidFill>
                  <a:schemeClr val="tx1"/>
                </a:solidFill>
                <a:latin typeface="Calibri" pitchFamily="34" charset="0"/>
                <a:ea typeface="Calibri" pitchFamily="34" charset="-122"/>
                <a:cs typeface="Calibri" pitchFamily="34" charset="-120"/>
              </a:rPr>
              <a:t>groups</a:t>
            </a:r>
            <a:endParaRPr lang="en-US" sz="1000" dirty="0"/>
          </a:p>
        </p:txBody>
      </p:sp>
      <p:sp>
        <p:nvSpPr>
          <p:cNvPr id="28" name="suite-bar"/>
          <p:cNvSpPr/>
          <p:nvPr/>
        </p:nvSpPr>
        <p:spPr>
          <a:xfrm>
            <a:off x="2514600" y="3493008"/>
            <a:ext cx="1176169" cy="137160"/>
          </a:xfrm>
          <a:prstGeom prst="rect">
            <a:avLst/>
          </a:prstGeom>
          <a:solidFill>
            <a:schemeClr val="accent2"/>
          </a:solidFill>
          <a:ln w="12700">
            <a:solidFill>
              <a:schemeClr val="accent2"/>
            </a:solidFill>
            <a:prstDash val="solid"/>
          </a:ln>
        </p:spPr>
      </p:sp>
      <p:sp>
        <p:nvSpPr>
          <p:cNvPr id="29" name="Text 27"/>
          <p:cNvSpPr txBox="1"/>
          <p:nvPr/>
        </p:nvSpPr>
        <p:spPr>
          <a:xfrm>
            <a:off x="3736489" y="3447288"/>
            <a:ext cx="365760" cy="228600"/>
          </a:xfrm>
          <a:prstGeom prst="rect">
            <a:avLst/>
          </a:prstGeom>
          <a:noFill/>
          <a:ln/>
        </p:spPr>
        <p:txBody>
          <a:bodyPr wrap="square" lIns="0" tIns="0" rIns="0" bIns="0" rtlCol="0" anchor="t"/>
          <a:lstStyle/>
          <a:p>
            <a:pPr indent="0" marL="0">
              <a:buNone/>
            </a:pPr>
            <a:r>
              <a:rPr lang="en-US" sz="1000" b="1" dirty="0">
                <a:solidFill>
                  <a:schemeClr val="tx1"/>
                </a:solidFill>
                <a:latin typeface="Calibri" pitchFamily="34" charset="0"/>
                <a:ea typeface="Calibri" pitchFamily="34" charset="-122"/>
                <a:cs typeface="Calibri" pitchFamily="34" charset="-120"/>
              </a:rPr>
              <a:t>41</a:t>
            </a:r>
            <a:endParaRPr lang="en-US" sz="1000" dirty="0"/>
          </a:p>
        </p:txBody>
      </p:sp>
      <p:sp>
        <p:nvSpPr>
          <p:cNvPr id="30" name="Text 28"/>
          <p:cNvSpPr txBox="1"/>
          <p:nvPr/>
        </p:nvSpPr>
        <p:spPr>
          <a:xfrm>
            <a:off x="640080" y="3694176"/>
            <a:ext cx="2377440" cy="228600"/>
          </a:xfrm>
          <a:prstGeom prst="rect">
            <a:avLst/>
          </a:prstGeom>
          <a:noFill/>
          <a:ln/>
        </p:spPr>
        <p:txBody>
          <a:bodyPr wrap="square" lIns="0" tIns="0" rIns="0" bIns="0" rtlCol="0" anchor="t"/>
          <a:lstStyle/>
          <a:p>
            <a:pPr indent="0" marL="0">
              <a:buNone/>
            </a:pPr>
            <a:r>
              <a:rPr lang="en-US" sz="1000" dirty="0">
                <a:solidFill>
                  <a:schemeClr val="tx1"/>
                </a:solidFill>
                <a:latin typeface="Calibri" pitchFamily="34" charset="0"/>
                <a:ea typeface="Calibri" pitchFamily="34" charset="-122"/>
                <a:cs typeface="Calibri" pitchFamily="34" charset="-120"/>
              </a:rPr>
              <a:t>approvalSettings</a:t>
            </a:r>
            <a:endParaRPr lang="en-US" sz="1000" dirty="0"/>
          </a:p>
        </p:txBody>
      </p:sp>
      <p:sp>
        <p:nvSpPr>
          <p:cNvPr id="31" name="suite-bar"/>
          <p:cNvSpPr/>
          <p:nvPr/>
        </p:nvSpPr>
        <p:spPr>
          <a:xfrm>
            <a:off x="2514600" y="3739896"/>
            <a:ext cx="860612" cy="137160"/>
          </a:xfrm>
          <a:prstGeom prst="rect">
            <a:avLst/>
          </a:prstGeom>
          <a:solidFill>
            <a:schemeClr val="accent2"/>
          </a:solidFill>
          <a:ln w="12700">
            <a:solidFill>
              <a:schemeClr val="accent2"/>
            </a:solidFill>
            <a:prstDash val="solid"/>
          </a:ln>
        </p:spPr>
      </p:sp>
      <p:sp>
        <p:nvSpPr>
          <p:cNvPr id="32" name="Text 30"/>
          <p:cNvSpPr txBox="1"/>
          <p:nvPr/>
        </p:nvSpPr>
        <p:spPr>
          <a:xfrm>
            <a:off x="3420932" y="3694176"/>
            <a:ext cx="365760" cy="228600"/>
          </a:xfrm>
          <a:prstGeom prst="rect">
            <a:avLst/>
          </a:prstGeom>
          <a:noFill/>
          <a:ln/>
        </p:spPr>
        <p:txBody>
          <a:bodyPr wrap="square" lIns="0" tIns="0" rIns="0" bIns="0" rtlCol="0" anchor="t"/>
          <a:lstStyle/>
          <a:p>
            <a:pPr indent="0" marL="0">
              <a:buNone/>
            </a:pPr>
            <a:r>
              <a:rPr lang="en-US" sz="1000" b="1" dirty="0">
                <a:solidFill>
                  <a:schemeClr val="tx1"/>
                </a:solidFill>
                <a:latin typeface="Calibri" pitchFamily="34" charset="0"/>
                <a:ea typeface="Calibri" pitchFamily="34" charset="-122"/>
                <a:cs typeface="Calibri" pitchFamily="34" charset="-120"/>
              </a:rPr>
              <a:t>30</a:t>
            </a:r>
            <a:endParaRPr lang="en-US" sz="1000" dirty="0"/>
          </a:p>
        </p:txBody>
      </p:sp>
      <p:sp>
        <p:nvSpPr>
          <p:cNvPr id="33" name="Text 31"/>
          <p:cNvSpPr txBox="1"/>
          <p:nvPr/>
        </p:nvSpPr>
        <p:spPr>
          <a:xfrm>
            <a:off x="640080" y="3941064"/>
            <a:ext cx="2377440" cy="228600"/>
          </a:xfrm>
          <a:prstGeom prst="rect">
            <a:avLst/>
          </a:prstGeom>
          <a:noFill/>
          <a:ln/>
        </p:spPr>
        <p:txBody>
          <a:bodyPr wrap="square" lIns="0" tIns="0" rIns="0" bIns="0" rtlCol="0" anchor="t"/>
          <a:lstStyle/>
          <a:p>
            <a:pPr indent="0" marL="0">
              <a:buNone/>
            </a:pPr>
            <a:r>
              <a:rPr lang="en-US" sz="1000" dirty="0">
                <a:solidFill>
                  <a:schemeClr val="tx1"/>
                </a:solidFill>
                <a:latin typeface="Calibri" pitchFamily="34" charset="0"/>
                <a:ea typeface="Calibri" pitchFamily="34" charset="-122"/>
                <a:cs typeface="Calibri" pitchFamily="34" charset="-120"/>
              </a:rPr>
              <a:t>SCRUM-151 alternatives</a:t>
            </a:r>
            <a:endParaRPr lang="en-US" sz="1000" dirty="0"/>
          </a:p>
        </p:txBody>
      </p:sp>
      <p:sp>
        <p:nvSpPr>
          <p:cNvPr id="34" name="suite-bar"/>
          <p:cNvSpPr/>
          <p:nvPr/>
        </p:nvSpPr>
        <p:spPr>
          <a:xfrm>
            <a:off x="2514600" y="3986784"/>
            <a:ext cx="831925" cy="137160"/>
          </a:xfrm>
          <a:prstGeom prst="rect">
            <a:avLst/>
          </a:prstGeom>
          <a:solidFill>
            <a:schemeClr val="accent2"/>
          </a:solidFill>
          <a:ln w="12700">
            <a:solidFill>
              <a:schemeClr val="accent2"/>
            </a:solidFill>
            <a:prstDash val="solid"/>
          </a:ln>
        </p:spPr>
      </p:sp>
      <p:sp>
        <p:nvSpPr>
          <p:cNvPr id="35" name="Text 33"/>
          <p:cNvSpPr txBox="1"/>
          <p:nvPr/>
        </p:nvSpPr>
        <p:spPr>
          <a:xfrm>
            <a:off x="3392245" y="3941064"/>
            <a:ext cx="365760" cy="228600"/>
          </a:xfrm>
          <a:prstGeom prst="rect">
            <a:avLst/>
          </a:prstGeom>
          <a:noFill/>
          <a:ln/>
        </p:spPr>
        <p:txBody>
          <a:bodyPr wrap="square" lIns="0" tIns="0" rIns="0" bIns="0" rtlCol="0" anchor="t"/>
          <a:lstStyle/>
          <a:p>
            <a:pPr indent="0" marL="0">
              <a:buNone/>
            </a:pPr>
            <a:r>
              <a:rPr lang="en-US" sz="1000" b="1" dirty="0">
                <a:solidFill>
                  <a:schemeClr val="tx1"/>
                </a:solidFill>
                <a:latin typeface="Calibri" pitchFamily="34" charset="0"/>
                <a:ea typeface="Calibri" pitchFamily="34" charset="-122"/>
                <a:cs typeface="Calibri" pitchFamily="34" charset="-120"/>
              </a:rPr>
              <a:t>29</a:t>
            </a:r>
            <a:endParaRPr lang="en-US" sz="1000" dirty="0"/>
          </a:p>
        </p:txBody>
      </p:sp>
      <p:sp>
        <p:nvSpPr>
          <p:cNvPr id="36" name="Text 34"/>
          <p:cNvSpPr txBox="1"/>
          <p:nvPr/>
        </p:nvSpPr>
        <p:spPr>
          <a:xfrm>
            <a:off x="640080" y="4187952"/>
            <a:ext cx="2377440" cy="228600"/>
          </a:xfrm>
          <a:prstGeom prst="rect">
            <a:avLst/>
          </a:prstGeom>
          <a:noFill/>
          <a:ln/>
        </p:spPr>
        <p:txBody>
          <a:bodyPr wrap="square" lIns="0" tIns="0" rIns="0" bIns="0" rtlCol="0" anchor="t"/>
          <a:lstStyle/>
          <a:p>
            <a:pPr indent="0" marL="0">
              <a:buNone/>
            </a:pPr>
            <a:r>
              <a:rPr lang="en-US" sz="1000" dirty="0">
                <a:solidFill>
                  <a:schemeClr val="tx1"/>
                </a:solidFill>
                <a:latin typeface="Calibri" pitchFamily="34" charset="0"/>
                <a:ea typeface="Calibri" pitchFamily="34" charset="-122"/>
                <a:cs typeface="Calibri" pitchFamily="34" charset="-120"/>
              </a:rPr>
              <a:t>overdue</a:t>
            </a:r>
            <a:endParaRPr lang="en-US" sz="1000" dirty="0"/>
          </a:p>
        </p:txBody>
      </p:sp>
      <p:sp>
        <p:nvSpPr>
          <p:cNvPr id="37" name="suite-bar"/>
          <p:cNvSpPr/>
          <p:nvPr/>
        </p:nvSpPr>
        <p:spPr>
          <a:xfrm>
            <a:off x="2514600" y="4233672"/>
            <a:ext cx="659802" cy="137160"/>
          </a:xfrm>
          <a:prstGeom prst="rect">
            <a:avLst/>
          </a:prstGeom>
          <a:solidFill>
            <a:schemeClr val="accent2"/>
          </a:solidFill>
          <a:ln w="12700">
            <a:solidFill>
              <a:schemeClr val="accent2"/>
            </a:solidFill>
            <a:prstDash val="solid"/>
          </a:ln>
        </p:spPr>
      </p:sp>
      <p:sp>
        <p:nvSpPr>
          <p:cNvPr id="38" name="Text 36"/>
          <p:cNvSpPr txBox="1"/>
          <p:nvPr/>
        </p:nvSpPr>
        <p:spPr>
          <a:xfrm>
            <a:off x="3220122" y="4187952"/>
            <a:ext cx="365760" cy="228600"/>
          </a:xfrm>
          <a:prstGeom prst="rect">
            <a:avLst/>
          </a:prstGeom>
          <a:noFill/>
          <a:ln/>
        </p:spPr>
        <p:txBody>
          <a:bodyPr wrap="square" lIns="0" tIns="0" rIns="0" bIns="0" rtlCol="0" anchor="t"/>
          <a:lstStyle/>
          <a:p>
            <a:pPr indent="0" marL="0">
              <a:buNone/>
            </a:pPr>
            <a:r>
              <a:rPr lang="en-US" sz="1000" b="1" dirty="0">
                <a:solidFill>
                  <a:schemeClr val="tx1"/>
                </a:solidFill>
                <a:latin typeface="Calibri" pitchFamily="34" charset="0"/>
                <a:ea typeface="Calibri" pitchFamily="34" charset="-122"/>
                <a:cs typeface="Calibri" pitchFamily="34" charset="-120"/>
              </a:rPr>
              <a:t>23</a:t>
            </a:r>
            <a:endParaRPr lang="en-US" sz="1000" dirty="0"/>
          </a:p>
        </p:txBody>
      </p:sp>
      <p:sp>
        <p:nvSpPr>
          <p:cNvPr id="39" name="card"/>
          <p:cNvSpPr/>
          <p:nvPr/>
        </p:nvSpPr>
        <p:spPr>
          <a:xfrm>
            <a:off x="4663440" y="2103120"/>
            <a:ext cx="4023360" cy="2395728"/>
          </a:xfrm>
          <a:prstGeom prst="roundRect">
            <a:avLst>
              <a:gd name="adj" fmla="val 2290"/>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40" name="Text 38"/>
          <p:cNvSpPr txBox="1"/>
          <p:nvPr/>
        </p:nvSpPr>
        <p:spPr>
          <a:xfrm>
            <a:off x="4846320" y="2212848"/>
            <a:ext cx="3657600" cy="292608"/>
          </a:xfrm>
          <a:prstGeom prst="rect">
            <a:avLst/>
          </a:prstGeom>
          <a:noFill/>
          <a:ln/>
        </p:spPr>
        <p:txBody>
          <a:bodyPr wrap="square" lIns="0" tIns="0" rIns="0" bIns="0" rtlCol="0" anchor="t"/>
          <a:lstStyle/>
          <a:p>
            <a:pPr indent="0" marL="0">
              <a:buNone/>
            </a:pPr>
            <a:r>
              <a:rPr lang="en-US" sz="1400" b="1" dirty="0">
                <a:solidFill>
                  <a:schemeClr val="tx1"/>
                </a:solidFill>
                <a:latin typeface="Cambria" pitchFamily="34" charset="0"/>
                <a:ea typeface="Cambria" pitchFamily="34" charset="-122"/>
                <a:cs typeface="Cambria" pitchFamily="34" charset="-120"/>
              </a:rPr>
              <a:t>Manual tests, now recorded</a:t>
            </a:r>
            <a:endParaRPr lang="en-US" sz="1400" dirty="0"/>
          </a:p>
        </p:txBody>
      </p:sp>
      <p:sp>
        <p:nvSpPr>
          <p:cNvPr id="41" name="Text 39"/>
          <p:cNvSpPr txBox="1"/>
          <p:nvPr/>
        </p:nvSpPr>
        <p:spPr>
          <a:xfrm>
            <a:off x="4846320" y="2542032"/>
            <a:ext cx="3657600" cy="457200"/>
          </a:xfrm>
          <a:prstGeom prst="rect">
            <a:avLst/>
          </a:prstGeom>
          <a:noFill/>
          <a:ln/>
        </p:spPr>
        <p:txBody>
          <a:bodyPr wrap="square" lIns="0" tIns="0" rIns="0" bIns="0" rtlCol="0" anchor="t"/>
          <a:lstStyle/>
          <a:p>
            <a:pPr indent="0" marL="0">
              <a:buNone/>
            </a:pPr>
            <a:r>
              <a:rPr lang="en-US" sz="1050" dirty="0">
                <a:solidFill>
                  <a:schemeClr val="tx1"/>
                </a:solidFill>
                <a:latin typeface="Calibri" pitchFamily="34" charset="0"/>
                <a:ea typeface="Calibri" pitchFamily="34" charset="-122"/>
                <a:cs typeface="Calibri" pitchFamily="34" charset="-120"/>
              </a:rPr>
              <a:t>MT-19 to MT-35 each have steps and an expected result, run against the seeded stack. 15 pass, 2 partial:</a:t>
            </a:r>
            <a:endParaRPr lang="en-US" sz="1050" dirty="0"/>
          </a:p>
        </p:txBody>
      </p:sp>
      <p:sp>
        <p:nvSpPr>
          <p:cNvPr id="42" name="badge"/>
          <p:cNvSpPr/>
          <p:nvPr/>
        </p:nvSpPr>
        <p:spPr>
          <a:xfrm>
            <a:off x="4846320" y="3108960"/>
            <a:ext cx="685800" cy="219456"/>
          </a:xfrm>
          <a:prstGeom prst="roundRect">
            <a:avLst>
              <a:gd name="adj" fmla="val 50000"/>
            </a:avLst>
          </a:prstGeom>
          <a:solidFill>
            <a:schemeClr val="accent3"/>
          </a:solidFill>
          <a:ln>
            <a:solidFill>
              <a:schemeClr val="accent3"/>
            </a:solidFill>
          </a:ln>
        </p:spPr>
        <p:txBody>
          <a:bodyPr wrap="square" lIns="0" tIns="0" rIns="0" bIns="0" rtlCol="0" anchor="ctr"/>
          <a:lstStyle/>
          <a:p>
            <a:pPr algn="ctr" indent="0" marL="0">
              <a:buNone/>
            </a:pPr>
            <a:r>
              <a:rPr lang="en-US" sz="800" b="1" dirty="0">
                <a:solidFill>
                  <a:schemeClr val="bg1"/>
                </a:solidFill>
                <a:latin typeface="Calibri" pitchFamily="34" charset="0"/>
                <a:ea typeface="Calibri" pitchFamily="34" charset="-122"/>
                <a:cs typeface="Calibri" pitchFamily="34" charset="-120"/>
              </a:rPr>
              <a:t>PARTIAL</a:t>
            </a:r>
            <a:endParaRPr lang="en-US" sz="800" dirty="0"/>
          </a:p>
        </p:txBody>
      </p:sp>
      <p:sp>
        <p:nvSpPr>
          <p:cNvPr id="43" name="Text 41"/>
          <p:cNvSpPr txBox="1"/>
          <p:nvPr/>
        </p:nvSpPr>
        <p:spPr>
          <a:xfrm>
            <a:off x="5623560" y="3081528"/>
            <a:ext cx="2926080" cy="457200"/>
          </a:xfrm>
          <a:prstGeom prst="rect">
            <a:avLst/>
          </a:prstGeom>
          <a:noFill/>
          <a:ln/>
        </p:spPr>
        <p:txBody>
          <a:bodyPr wrap="square" lIns="0" tIns="0" rIns="0" bIns="0" rtlCol="0" anchor="t"/>
          <a:lstStyle/>
          <a:p>
            <a:pPr indent="0" marL="0">
              <a:buNone/>
            </a:pPr>
            <a:r>
              <a:rPr lang="en-US" sz="1000" dirty="0">
                <a:solidFill>
                  <a:schemeClr val="tx1"/>
                </a:solidFill>
                <a:latin typeface="Calibri" pitchFamily="34" charset="0"/>
                <a:ea typeface="Calibri" pitchFamily="34" charset="-122"/>
                <a:cs typeface="Calibri" pitchFamily="34" charset="-120"/>
              </a:rPr>
              <a:t>MT-19: the dashboard's Available count lags after a unit leaves maintenance.</a:t>
            </a:r>
            <a:endParaRPr lang="en-US" sz="1000" dirty="0"/>
          </a:p>
        </p:txBody>
      </p:sp>
      <p:sp>
        <p:nvSpPr>
          <p:cNvPr id="44" name="badge"/>
          <p:cNvSpPr/>
          <p:nvPr/>
        </p:nvSpPr>
        <p:spPr>
          <a:xfrm>
            <a:off x="4846320" y="3639312"/>
            <a:ext cx="685800" cy="219456"/>
          </a:xfrm>
          <a:prstGeom prst="roundRect">
            <a:avLst>
              <a:gd name="adj" fmla="val 50000"/>
            </a:avLst>
          </a:prstGeom>
          <a:solidFill>
            <a:schemeClr val="accent3"/>
          </a:solidFill>
          <a:ln>
            <a:solidFill>
              <a:schemeClr val="accent3"/>
            </a:solidFill>
          </a:ln>
        </p:spPr>
        <p:txBody>
          <a:bodyPr wrap="square" lIns="0" tIns="0" rIns="0" bIns="0" rtlCol="0" anchor="ctr"/>
          <a:lstStyle/>
          <a:p>
            <a:pPr algn="ctr" indent="0" marL="0">
              <a:buNone/>
            </a:pPr>
            <a:r>
              <a:rPr lang="en-US" sz="800" b="1" dirty="0">
                <a:solidFill>
                  <a:schemeClr val="bg1"/>
                </a:solidFill>
                <a:latin typeface="Calibri" pitchFamily="34" charset="0"/>
                <a:ea typeface="Calibri" pitchFamily="34" charset="-122"/>
                <a:cs typeface="Calibri" pitchFamily="34" charset="-120"/>
              </a:rPr>
              <a:t>PARTIAL</a:t>
            </a:r>
            <a:endParaRPr lang="en-US" sz="800" dirty="0"/>
          </a:p>
        </p:txBody>
      </p:sp>
      <p:sp>
        <p:nvSpPr>
          <p:cNvPr id="45" name="Text 43"/>
          <p:cNvSpPr txBox="1"/>
          <p:nvPr/>
        </p:nvSpPr>
        <p:spPr>
          <a:xfrm>
            <a:off x="5623560" y="3611880"/>
            <a:ext cx="2926080" cy="457200"/>
          </a:xfrm>
          <a:prstGeom prst="rect">
            <a:avLst/>
          </a:prstGeom>
          <a:noFill/>
          <a:ln/>
        </p:spPr>
        <p:txBody>
          <a:bodyPr wrap="square" lIns="0" tIns="0" rIns="0" bIns="0" rtlCol="0" anchor="t"/>
          <a:lstStyle/>
          <a:p>
            <a:pPr indent="0" marL="0">
              <a:buNone/>
            </a:pPr>
            <a:r>
              <a:rPr lang="en-US" sz="1000" dirty="0">
                <a:solidFill>
                  <a:schemeClr val="tx1"/>
                </a:solidFill>
                <a:latin typeface="Calibri" pitchFamily="34" charset="0"/>
                <a:ea typeface="Calibri" pitchFamily="34" charset="-122"/>
                <a:cs typeface="Calibri" pitchFamily="34" charset="-120"/>
              </a:rPr>
              <a:t>MT-21: request dates shift between input, storage and display (time zones).</a:t>
            </a:r>
            <a:endParaRPr lang="en-US" sz="1000" dirty="0"/>
          </a:p>
        </p:txBody>
      </p:sp>
      <p:sp>
        <p:nvSpPr>
          <p:cNvPr id="46" name="Text 44"/>
          <p:cNvSpPr txBox="1"/>
          <p:nvPr/>
        </p:nvSpPr>
        <p:spPr>
          <a:xfrm>
            <a:off x="4846320" y="4069080"/>
            <a:ext cx="3657600" cy="384048"/>
          </a:xfrm>
          <a:prstGeom prst="rect">
            <a:avLst/>
          </a:prstGeom>
          <a:noFill/>
          <a:ln/>
        </p:spPr>
        <p:txBody>
          <a:bodyPr wrap="square" lIns="0" tIns="0" rIns="0" bIns="0" rtlCol="0" anchor="t"/>
          <a:lstStyle/>
          <a:p>
            <a:pPr indent="0" marL="0">
              <a:buNone/>
            </a:pPr>
            <a:r>
              <a:rPr lang="en-US" sz="950" i="1" dirty="0">
                <a:solidFill>
                  <a:schemeClr val="accent5"/>
                </a:solidFill>
                <a:latin typeface="Calibri" pitchFamily="34" charset="0"/>
                <a:ea typeface="Calibri" pitchFamily="34" charset="-122"/>
                <a:cs typeface="Calibri" pitchFamily="34" charset="-120"/>
              </a:rPr>
              <a:t>One defect fixed in-iteration: PR #64, "Unknown user" rows in the approval queue, with 9 regression cases.</a:t>
            </a:r>
            <a:endParaRPr lang="en-US" sz="950" dirty="0"/>
          </a:p>
        </p:txBody>
      </p:sp>
      <p:sp>
        <p:nvSpPr>
          <p:cNvPr id="25" name="Slide Number Placeholder 0"/>
          <p:cNvSpPr>
            <a:spLocks noGrp="1"/>
          </p:cNvSpPr>
          <p:nvPr>
            <p:ph type="sldNum" sz="quarter" idx="4294967295"/>
          </p:nvPr>
        </p:nvSpPr>
        <p:spPr>
          <a:xfrm>
            <a:off x="8458200" y="473659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400800" cy="566928"/>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Configuration and Delivery</a:t>
            </a:r>
            <a:endParaRPr lang="en-US" sz="2600" dirty="0"/>
          </a:p>
        </p:txBody>
      </p:sp>
      <p:sp>
        <p:nvSpPr>
          <p:cNvPr id="3" name="Text 0"/>
          <p:cNvSpPr/>
          <p:nvPr>
            <p:ph idx="101" type="body" hasCustomPrompt="1"/>
          </p:nvPr>
        </p:nvSpPr>
        <p:spPr>
          <a:xfrm>
            <a:off x="457200" y="4645152"/>
            <a:ext cx="8229600" cy="329184"/>
          </a:xfrm>
          <a:prstGeom prst="rect">
            <a:avLst/>
          </a:prstGeom>
          <a:noFill/>
          <a:ln/>
        </p:spPr>
        <p:txBody>
          <a:bodyPr wrap="square" lIns="0" tIns="0" rIns="0" bIns="0" rtlCol="0" anchor="ctr"/>
          <a:lstStyle/>
          <a:p>
            <a:pPr indent="0" marL="0">
              <a:buNone/>
            </a:pPr>
            <a:r>
              <a:rPr lang="en-US" sz="1000" i="1" dirty="0">
                <a:solidFill>
                  <a:schemeClr val="accent5"/>
                </a:solidFill>
                <a:latin typeface="Calibri" pitchFamily="34" charset="0"/>
                <a:ea typeface="Calibri" pitchFamily="34" charset="-122"/>
                <a:cs typeface="Calibri" pitchFamily="34" charset="-120"/>
              </a:rPr>
              <a:t>Pipeline items checked in the repository at commit 5c4bcc8. Staging: safe-drop-five.vercel.app and safedrop-ony6.onrender.com.</a:t>
            </a:r>
            <a:endParaRPr lang="en-US" sz="1000" dirty="0"/>
          </a:p>
        </p:txBody>
      </p:sp>
      <p:sp>
        <p:nvSpPr>
          <p:cNvPr id="4" name="speaker"/>
          <p:cNvSpPr/>
          <p:nvPr/>
        </p:nvSpPr>
        <p:spPr>
          <a:xfrm>
            <a:off x="6949440" y="301752"/>
            <a:ext cx="1737360" cy="429768"/>
          </a:xfrm>
          <a:prstGeom prst="roundRect">
            <a:avLst>
              <a:gd name="adj" fmla="val 17021"/>
            </a:avLst>
          </a:prstGeom>
          <a:solidFill>
            <a:schemeClr val="tx1"/>
          </a:solidFill>
          <a:ln>
            <a:solidFill>
              <a:schemeClr val="tx1"/>
            </a:solid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Alex</a:t>
            </a:r>
            <a:endParaRPr lang="en-US" sz="1200" dirty="0"/>
          </a:p>
        </p:txBody>
      </p:sp>
      <p:sp>
        <p:nvSpPr>
          <p:cNvPr id="5" name="card"/>
          <p:cNvSpPr/>
          <p:nvPr/>
        </p:nvSpPr>
        <p:spPr>
          <a:xfrm>
            <a:off x="457200" y="960120"/>
            <a:ext cx="1965960" cy="868680"/>
          </a:xfrm>
          <a:prstGeom prst="roundRect">
            <a:avLst>
              <a:gd name="adj" fmla="val 6316"/>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6" name="Text 4"/>
          <p:cNvSpPr txBox="1"/>
          <p:nvPr/>
        </p:nvSpPr>
        <p:spPr>
          <a:xfrm>
            <a:off x="457200" y="987552"/>
            <a:ext cx="1965960" cy="457200"/>
          </a:xfrm>
          <a:prstGeom prst="rect">
            <a:avLst/>
          </a:prstGeom>
          <a:noFill/>
          <a:ln/>
        </p:spPr>
        <p:txBody>
          <a:bodyPr wrap="square" lIns="0" tIns="0" rIns="0" bIns="0" rtlCol="0" anchor="ctr"/>
          <a:lstStyle/>
          <a:p>
            <a:pPr algn="ctr" indent="0" marL="0">
              <a:buNone/>
            </a:pPr>
            <a:r>
              <a:rPr lang="en-US" sz="2600" b="1" dirty="0">
                <a:solidFill>
                  <a:schemeClr val="tx1"/>
                </a:solidFill>
                <a:latin typeface="Cambria" pitchFamily="34" charset="0"/>
                <a:ea typeface="Cambria" pitchFamily="34" charset="-122"/>
                <a:cs typeface="Cambria" pitchFamily="34" charset="-120"/>
              </a:rPr>
              <a:t>16</a:t>
            </a:r>
            <a:endParaRPr lang="en-US" sz="2600" dirty="0"/>
          </a:p>
        </p:txBody>
      </p:sp>
      <p:sp>
        <p:nvSpPr>
          <p:cNvPr id="7" name="Text 5"/>
          <p:cNvSpPr txBox="1"/>
          <p:nvPr/>
        </p:nvSpPr>
        <p:spPr>
          <a:xfrm>
            <a:off x="457200" y="1463040"/>
            <a:ext cx="1965960" cy="228600"/>
          </a:xfrm>
          <a:prstGeom prst="rect">
            <a:avLst/>
          </a:prstGeom>
          <a:noFill/>
          <a:ln/>
        </p:spPr>
        <p:txBody>
          <a:bodyPr wrap="square" lIns="0" tIns="0" rIns="0" bIns="0" rtlCol="0" anchor="t"/>
          <a:lstStyle/>
          <a:p>
            <a:pPr algn="ctr" indent="0" marL="0">
              <a:buNone/>
            </a:pPr>
            <a:r>
              <a:rPr lang="en-US" sz="1000" dirty="0">
                <a:solidFill>
                  <a:schemeClr val="accent5"/>
                </a:solidFill>
                <a:latin typeface="Calibri" pitchFamily="34" charset="0"/>
                <a:ea typeface="Calibri" pitchFamily="34" charset="-122"/>
                <a:cs typeface="Calibri" pitchFamily="34" charset="-120"/>
              </a:rPr>
              <a:t>pull requests merged</a:t>
            </a:r>
            <a:endParaRPr lang="en-US" sz="1000" dirty="0"/>
          </a:p>
        </p:txBody>
      </p:sp>
      <p:sp>
        <p:nvSpPr>
          <p:cNvPr id="8" name="card"/>
          <p:cNvSpPr/>
          <p:nvPr/>
        </p:nvSpPr>
        <p:spPr>
          <a:xfrm>
            <a:off x="2551176" y="960120"/>
            <a:ext cx="1965960" cy="868680"/>
          </a:xfrm>
          <a:prstGeom prst="roundRect">
            <a:avLst>
              <a:gd name="adj" fmla="val 6316"/>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9" name="Text 7"/>
          <p:cNvSpPr txBox="1"/>
          <p:nvPr/>
        </p:nvSpPr>
        <p:spPr>
          <a:xfrm>
            <a:off x="2551176" y="987552"/>
            <a:ext cx="1965960" cy="457200"/>
          </a:xfrm>
          <a:prstGeom prst="rect">
            <a:avLst/>
          </a:prstGeom>
          <a:noFill/>
          <a:ln/>
        </p:spPr>
        <p:txBody>
          <a:bodyPr wrap="square" lIns="0" tIns="0" rIns="0" bIns="0" rtlCol="0" anchor="ctr"/>
          <a:lstStyle/>
          <a:p>
            <a:pPr algn="ctr" indent="0" marL="0">
              <a:buNone/>
            </a:pPr>
            <a:r>
              <a:rPr lang="en-US" sz="2600" b="1" dirty="0">
                <a:solidFill>
                  <a:schemeClr val="tx1"/>
                </a:solidFill>
                <a:latin typeface="Cambria" pitchFamily="34" charset="0"/>
                <a:ea typeface="Cambria" pitchFamily="34" charset="-122"/>
                <a:cs typeface="Cambria" pitchFamily="34" charset="-120"/>
              </a:rPr>
              <a:t>0</a:t>
            </a:r>
            <a:endParaRPr lang="en-US" sz="2600" dirty="0"/>
          </a:p>
        </p:txBody>
      </p:sp>
      <p:sp>
        <p:nvSpPr>
          <p:cNvPr id="10" name="Text 8"/>
          <p:cNvSpPr txBox="1"/>
          <p:nvPr/>
        </p:nvSpPr>
        <p:spPr>
          <a:xfrm>
            <a:off x="2551176" y="1463040"/>
            <a:ext cx="1965960" cy="228600"/>
          </a:xfrm>
          <a:prstGeom prst="rect">
            <a:avLst/>
          </a:prstGeom>
          <a:noFill/>
          <a:ln/>
        </p:spPr>
        <p:txBody>
          <a:bodyPr wrap="square" lIns="0" tIns="0" rIns="0" bIns="0" rtlCol="0" anchor="t"/>
          <a:lstStyle/>
          <a:p>
            <a:pPr algn="ctr" indent="0" marL="0">
              <a:buNone/>
            </a:pPr>
            <a:r>
              <a:rPr lang="en-US" sz="1000" dirty="0">
                <a:solidFill>
                  <a:schemeClr val="accent5"/>
                </a:solidFill>
                <a:latin typeface="Calibri" pitchFamily="34" charset="0"/>
                <a:ea typeface="Calibri" pitchFamily="34" charset="-122"/>
                <a:cs typeface="Calibri" pitchFamily="34" charset="-120"/>
              </a:rPr>
              <a:t>direct commits to main</a:t>
            </a:r>
            <a:endParaRPr lang="en-US" sz="1000" dirty="0"/>
          </a:p>
        </p:txBody>
      </p:sp>
      <p:sp>
        <p:nvSpPr>
          <p:cNvPr id="11" name="card"/>
          <p:cNvSpPr/>
          <p:nvPr/>
        </p:nvSpPr>
        <p:spPr>
          <a:xfrm>
            <a:off x="4645152" y="960120"/>
            <a:ext cx="1965960" cy="868680"/>
          </a:xfrm>
          <a:prstGeom prst="roundRect">
            <a:avLst>
              <a:gd name="adj" fmla="val 6316"/>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12" name="Text 10"/>
          <p:cNvSpPr txBox="1"/>
          <p:nvPr/>
        </p:nvSpPr>
        <p:spPr>
          <a:xfrm>
            <a:off x="4645152" y="987552"/>
            <a:ext cx="1965960" cy="457200"/>
          </a:xfrm>
          <a:prstGeom prst="rect">
            <a:avLst/>
          </a:prstGeom>
          <a:noFill/>
          <a:ln/>
        </p:spPr>
        <p:txBody>
          <a:bodyPr wrap="square" lIns="0" tIns="0" rIns="0" bIns="0" rtlCol="0" anchor="ctr"/>
          <a:lstStyle/>
          <a:p>
            <a:pPr algn="ctr" indent="0" marL="0">
              <a:buNone/>
            </a:pPr>
            <a:r>
              <a:rPr lang="en-US" sz="2600" b="1" dirty="0">
                <a:solidFill>
                  <a:schemeClr val="tx1"/>
                </a:solidFill>
                <a:latin typeface="Cambria" pitchFamily="34" charset="0"/>
                <a:ea typeface="Cambria" pitchFamily="34" charset="-122"/>
                <a:cs typeface="Cambria" pitchFamily="34" charset="-120"/>
              </a:rPr>
              <a:t>100</a:t>
            </a:r>
            <a:endParaRPr lang="en-US" sz="2600" dirty="0"/>
          </a:p>
        </p:txBody>
      </p:sp>
      <p:sp>
        <p:nvSpPr>
          <p:cNvPr id="13" name="Text 11"/>
          <p:cNvSpPr txBox="1"/>
          <p:nvPr/>
        </p:nvSpPr>
        <p:spPr>
          <a:xfrm>
            <a:off x="4645152" y="1463040"/>
            <a:ext cx="1965960" cy="228600"/>
          </a:xfrm>
          <a:prstGeom prst="rect">
            <a:avLst/>
          </a:prstGeom>
          <a:noFill/>
          <a:ln/>
        </p:spPr>
        <p:txBody>
          <a:bodyPr wrap="square" lIns="0" tIns="0" rIns="0" bIns="0" rtlCol="0" anchor="t"/>
          <a:lstStyle/>
          <a:p>
            <a:pPr algn="ctr" indent="0" marL="0">
              <a:buNone/>
            </a:pPr>
            <a:r>
              <a:rPr lang="en-US" sz="1000" dirty="0">
                <a:solidFill>
                  <a:schemeClr val="accent5"/>
                </a:solidFill>
                <a:latin typeface="Calibri" pitchFamily="34" charset="0"/>
                <a:ea typeface="Calibri" pitchFamily="34" charset="-122"/>
                <a:cs typeface="Calibri" pitchFamily="34" charset="-120"/>
              </a:rPr>
              <a:t>commits since Iteration1</a:t>
            </a:r>
            <a:endParaRPr lang="en-US" sz="1000" dirty="0"/>
          </a:p>
        </p:txBody>
      </p:sp>
      <p:sp>
        <p:nvSpPr>
          <p:cNvPr id="14" name="card"/>
          <p:cNvSpPr/>
          <p:nvPr/>
        </p:nvSpPr>
        <p:spPr>
          <a:xfrm>
            <a:off x="6739128" y="960120"/>
            <a:ext cx="1965960" cy="868680"/>
          </a:xfrm>
          <a:prstGeom prst="roundRect">
            <a:avLst>
              <a:gd name="adj" fmla="val 6316"/>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15" name="Text 13"/>
          <p:cNvSpPr txBox="1"/>
          <p:nvPr/>
        </p:nvSpPr>
        <p:spPr>
          <a:xfrm>
            <a:off x="6739128" y="987552"/>
            <a:ext cx="1965960" cy="457200"/>
          </a:xfrm>
          <a:prstGeom prst="rect">
            <a:avLst/>
          </a:prstGeom>
          <a:noFill/>
          <a:ln/>
        </p:spPr>
        <p:txBody>
          <a:bodyPr wrap="square" lIns="0" tIns="0" rIns="0" bIns="0" rtlCol="0" anchor="ctr"/>
          <a:lstStyle/>
          <a:p>
            <a:pPr algn="ctr" indent="0" marL="0">
              <a:buNone/>
            </a:pPr>
            <a:r>
              <a:rPr lang="en-US" sz="2600" b="1" dirty="0">
                <a:solidFill>
                  <a:schemeClr val="tx1"/>
                </a:solidFill>
                <a:latin typeface="Cambria" pitchFamily="34" charset="0"/>
                <a:ea typeface="Cambria" pitchFamily="34" charset="-122"/>
                <a:cs typeface="Cambria" pitchFamily="34" charset="-120"/>
              </a:rPr>
              <a:t>6</a:t>
            </a:r>
            <a:endParaRPr lang="en-US" sz="2600" dirty="0"/>
          </a:p>
        </p:txBody>
      </p:sp>
      <p:sp>
        <p:nvSpPr>
          <p:cNvPr id="16" name="Text 14"/>
          <p:cNvSpPr txBox="1"/>
          <p:nvPr/>
        </p:nvSpPr>
        <p:spPr>
          <a:xfrm>
            <a:off x="6739128" y="1463040"/>
            <a:ext cx="1965960" cy="228600"/>
          </a:xfrm>
          <a:prstGeom prst="rect">
            <a:avLst/>
          </a:prstGeom>
          <a:noFill/>
          <a:ln/>
        </p:spPr>
        <p:txBody>
          <a:bodyPr wrap="square" lIns="0" tIns="0" rIns="0" bIns="0" rtlCol="0" anchor="t"/>
          <a:lstStyle/>
          <a:p>
            <a:pPr algn="ctr" indent="0" marL="0">
              <a:buNone/>
            </a:pPr>
            <a:r>
              <a:rPr lang="en-US" sz="1000" dirty="0">
                <a:solidFill>
                  <a:schemeClr val="accent5"/>
                </a:solidFill>
                <a:latin typeface="Calibri" pitchFamily="34" charset="0"/>
                <a:ea typeface="Calibri" pitchFamily="34" charset="-122"/>
                <a:cs typeface="Calibri" pitchFamily="34" charset="-120"/>
              </a:rPr>
              <a:t>CI jobs on every push</a:t>
            </a:r>
            <a:endParaRPr lang="en-US" sz="1000" dirty="0"/>
          </a:p>
        </p:txBody>
      </p:sp>
      <p:sp>
        <p:nvSpPr>
          <p:cNvPr id="17" name="card"/>
          <p:cNvSpPr/>
          <p:nvPr/>
        </p:nvSpPr>
        <p:spPr>
          <a:xfrm>
            <a:off x="457200" y="2011680"/>
            <a:ext cx="3977640" cy="2487168"/>
          </a:xfrm>
          <a:prstGeom prst="roundRect">
            <a:avLst>
              <a:gd name="adj" fmla="val 2206"/>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18" name="Text 16"/>
          <p:cNvSpPr txBox="1"/>
          <p:nvPr/>
        </p:nvSpPr>
        <p:spPr>
          <a:xfrm>
            <a:off x="640080" y="2121408"/>
            <a:ext cx="3657600" cy="292608"/>
          </a:xfrm>
          <a:prstGeom prst="rect">
            <a:avLst/>
          </a:prstGeom>
          <a:noFill/>
          <a:ln/>
        </p:spPr>
        <p:txBody>
          <a:bodyPr wrap="square" lIns="0" tIns="0" rIns="0" bIns="0" rtlCol="0" anchor="t"/>
          <a:lstStyle/>
          <a:p>
            <a:pPr indent="0" marL="0">
              <a:buNone/>
            </a:pPr>
            <a:r>
              <a:rPr lang="en-US" sz="1400" b="1" dirty="0">
                <a:solidFill>
                  <a:schemeClr val="tx1"/>
                </a:solidFill>
                <a:latin typeface="Cambria" pitchFamily="34" charset="0"/>
                <a:ea typeface="Cambria" pitchFamily="34" charset="-122"/>
                <a:cs typeface="Cambria" pitchFamily="34" charset="-120"/>
              </a:rPr>
              <a:t>What held</a:t>
            </a:r>
            <a:endParaRPr lang="en-US" sz="1400" dirty="0"/>
          </a:p>
        </p:txBody>
      </p:sp>
      <p:sp>
        <p:nvSpPr>
          <p:cNvPr id="19" name="Text 17"/>
          <p:cNvSpPr txBox="1"/>
          <p:nvPr/>
        </p:nvSpPr>
        <p:spPr>
          <a:xfrm>
            <a:off x="640080" y="2468880"/>
            <a:ext cx="3611880" cy="196596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chemeClr val="tx1"/>
                </a:solidFill>
                <a:latin typeface="Calibri" pitchFamily="34" charset="0"/>
                <a:ea typeface="Calibri" pitchFamily="34" charset="-122"/>
                <a:cs typeface="Calibri" pitchFamily="34" charset="-120"/>
              </a:rPr>
              <a:t>Every change reached main through a pull request with CI green, including the Lab 3 work.</a:t>
            </a:r>
            <a:endParaRPr lang="en-US" sz="1100" dirty="0"/>
          </a:p>
          <a:p>
            <a:pPr marL="152400" indent="-152400">
              <a:spcAft>
                <a:spcPts val="500"/>
              </a:spcAft>
              <a:buSzPct val="100000"/>
              <a:buChar char="•"/>
            </a:pPr>
            <a:r>
              <a:rPr lang="en-US" sz="1100" dirty="0">
                <a:solidFill>
                  <a:schemeClr val="tx1"/>
                </a:solidFill>
                <a:latin typeface="Calibri" pitchFamily="34" charset="0"/>
                <a:ea typeface="Calibri" pitchFamily="34" charset="-122"/>
                <a:cs typeface="Calibri" pitchFamily="34" charset="-120"/>
              </a:rPr>
              <a:t>Local, CI and staging still run the same Docker images, and staging deployed every merge.</a:t>
            </a:r>
            <a:endParaRPr lang="en-US" sz="1100" dirty="0"/>
          </a:p>
          <a:p>
            <a:pPr marL="152400" indent="-152400">
              <a:spcAft>
                <a:spcPts val="500"/>
              </a:spcAft>
              <a:buSzPct val="100000"/>
              <a:buChar char="•"/>
            </a:pPr>
            <a:r>
              <a:rPr lang="en-US" sz="1100" dirty="0">
                <a:solidFill>
                  <a:schemeClr val="tx1"/>
                </a:solidFill>
                <a:latin typeface="Calibri" pitchFamily="34" charset="0"/>
                <a:ea typeface="Calibri" pitchFamily="34" charset="-122"/>
                <a:cs typeface="Calibri" pitchFamily="34" charset="-120"/>
              </a:rPr>
              <a:t>The demo was recorded against staging, not a local build.</a:t>
            </a:r>
            <a:endParaRPr lang="en-US" sz="1100" dirty="0"/>
          </a:p>
        </p:txBody>
      </p:sp>
      <p:sp>
        <p:nvSpPr>
          <p:cNvPr id="20" name="card"/>
          <p:cNvSpPr/>
          <p:nvPr/>
        </p:nvSpPr>
        <p:spPr>
          <a:xfrm>
            <a:off x="4663440" y="2011680"/>
            <a:ext cx="4023360" cy="2487168"/>
          </a:xfrm>
          <a:prstGeom prst="roundRect">
            <a:avLst>
              <a:gd name="adj" fmla="val 2206"/>
            </a:avLst>
          </a:prstGeom>
          <a:solidFill>
            <a:srgbClr val="FFF8EE"/>
          </a:solidFill>
          <a:ln w="12700">
            <a:solidFill>
              <a:srgbClr val="FFF8EE"/>
            </a:solidFill>
            <a:prstDash val="solid"/>
          </a:ln>
          <a:effectLst>
            <a:outerShdw sx="100000" sy="100000" kx="0" ky="0" algn="bl" rotWithShape="0" blurRad="76200" dist="19050" dir="5400000">
              <a:srgbClr val="1B2430">
                <a:alpha val="8000"/>
              </a:srgbClr>
            </a:outerShdw>
          </a:effectLst>
        </p:spPr>
      </p:sp>
      <p:sp>
        <p:nvSpPr>
          <p:cNvPr id="21" name="Text 19"/>
          <p:cNvSpPr txBox="1"/>
          <p:nvPr/>
        </p:nvSpPr>
        <p:spPr>
          <a:xfrm>
            <a:off x="4846320" y="2121408"/>
            <a:ext cx="3703320" cy="292608"/>
          </a:xfrm>
          <a:prstGeom prst="rect">
            <a:avLst/>
          </a:prstGeom>
          <a:noFill/>
          <a:ln/>
        </p:spPr>
        <p:txBody>
          <a:bodyPr wrap="square" lIns="0" tIns="0" rIns="0" bIns="0" rtlCol="0" anchor="t"/>
          <a:lstStyle/>
          <a:p>
            <a:pPr indent="0" marL="0">
              <a:buNone/>
            </a:pPr>
            <a:r>
              <a:rPr lang="en-US" sz="1250" b="1" dirty="0">
                <a:solidFill>
                  <a:schemeClr val="tx1"/>
                </a:solidFill>
                <a:latin typeface="Cambria" pitchFamily="34" charset="0"/>
                <a:ea typeface="Cambria" pitchFamily="34" charset="-122"/>
                <a:cs typeface="Cambria" pitchFamily="34" charset="-120"/>
              </a:rPr>
              <a:t>Still open from last review's pipeline notes</a:t>
            </a:r>
            <a:endParaRPr lang="en-US" sz="1250" dirty="0"/>
          </a:p>
        </p:txBody>
      </p:sp>
      <p:sp>
        <p:nvSpPr>
          <p:cNvPr id="22" name="Text 20"/>
          <p:cNvSpPr txBox="1"/>
          <p:nvPr/>
        </p:nvSpPr>
        <p:spPr>
          <a:xfrm>
            <a:off x="4846320" y="2487168"/>
            <a:ext cx="3703320" cy="196596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chemeClr val="tx1"/>
                </a:solidFill>
                <a:latin typeface="Calibri" pitchFamily="34" charset="0"/>
                <a:ea typeface="Calibri" pitchFamily="34" charset="-122"/>
                <a:cs typeface="Calibri" pitchFamily="34" charset="-120"/>
              </a:rPr>
              <a:t>Release tags (Iteration*) still don't trigger the ZAP scan or production job, which key on v*.</a:t>
            </a:r>
            <a:endParaRPr lang="en-US" sz="1050" dirty="0"/>
          </a:p>
          <a:p>
            <a:pPr marL="152400" indent="-152400">
              <a:spcAft>
                <a:spcPts val="500"/>
              </a:spcAft>
              <a:buSzPct val="100000"/>
              <a:buChar char="•"/>
            </a:pPr>
            <a:r>
              <a:rPr lang="en-US" sz="1050" dirty="0">
                <a:solidFill>
                  <a:schemeClr val="tx1"/>
                </a:solidFill>
                <a:latin typeface="Calibri" pitchFamily="34" charset="0"/>
                <a:ea typeface="Calibri" pitchFamily="34" charset="-122"/>
                <a:cs typeface="Calibri" pitchFamily="34" charset="-120"/>
              </a:rPr>
              <a:t>The frontend production build (vite build) is not yet a CI step.</a:t>
            </a:r>
            <a:endParaRPr lang="en-US" sz="1050" dirty="0"/>
          </a:p>
          <a:p>
            <a:pPr marL="152400" indent="-152400">
              <a:spcAft>
                <a:spcPts val="500"/>
              </a:spcAft>
              <a:buSzPct val="100000"/>
              <a:buChar char="•"/>
            </a:pPr>
            <a:r>
              <a:rPr lang="en-US" sz="1050" dirty="0">
                <a:solidFill>
                  <a:schemeClr val="tx1"/>
                </a:solidFill>
                <a:latin typeface="Calibri" pitchFamily="34" charset="0"/>
                <a:ea typeface="Calibri" pitchFamily="34" charset="-122"/>
                <a:cs typeface="Calibri" pitchFamily="34" charset="-120"/>
              </a:rPr>
              <a:t>The stray safedrop-code: file:.. dependency is still in both package.json files.</a:t>
            </a:r>
            <a:endParaRPr lang="en-US" sz="1050" dirty="0"/>
          </a:p>
          <a:p>
            <a:pPr marL="152400" indent="-152400">
              <a:spcAft>
                <a:spcPts val="500"/>
              </a:spcAft>
              <a:buSzPct val="100000"/>
              <a:buChar char="•"/>
            </a:pPr>
            <a:r>
              <a:rPr lang="en-US" sz="1050" dirty="0">
                <a:solidFill>
                  <a:schemeClr val="tx1"/>
                </a:solidFill>
                <a:latin typeface="Calibri" pitchFamily="34" charset="0"/>
                <a:ea typeface="Calibri" pitchFamily="34" charset="-122"/>
                <a:cs typeface="Calibri" pitchFamily="34" charset="-120"/>
              </a:rPr>
              <a:t>The README still says Node 20; the engines field needs 22.12.</a:t>
            </a:r>
            <a:endParaRPr lang="en-US" sz="1050" dirty="0"/>
          </a:p>
        </p:txBody>
      </p:sp>
      <p:sp>
        <p:nvSpPr>
          <p:cNvPr id="25" name="Slide Number Placeholder 0"/>
          <p:cNvSpPr>
            <a:spLocks noGrp="1"/>
          </p:cNvSpPr>
          <p:nvPr>
            <p:ph type="sldNum" sz="quarter" idx="4294967295"/>
          </p:nvPr>
        </p:nvSpPr>
        <p:spPr>
          <a:xfrm>
            <a:off x="8458200" y="473659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400800" cy="566928"/>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Iteration 1 Feedback: What We Did</a:t>
            </a:r>
            <a:endParaRPr lang="en-US" sz="2600" dirty="0"/>
          </a:p>
        </p:txBody>
      </p:sp>
      <p:sp>
        <p:nvSpPr>
          <p:cNvPr id="3" name="Text 0"/>
          <p:cNvSpPr/>
          <p:nvPr>
            <p:ph idx="101" type="body" hasCustomPrompt="1"/>
          </p:nvPr>
        </p:nvSpPr>
        <p:spPr>
          <a:xfrm>
            <a:off x="457200" y="4645152"/>
            <a:ext cx="8229600" cy="329184"/>
          </a:xfrm>
          <a:prstGeom prst="rect">
            <a:avLst/>
          </a:prstGeom>
          <a:noFill/>
          <a:ln/>
        </p:spPr>
        <p:txBody>
          <a:bodyPr wrap="square" lIns="0" tIns="0" rIns="0" bIns="0" rtlCol="0" anchor="ctr"/>
          <a:lstStyle/>
          <a:p>
            <a:pPr indent="0" marL="0">
              <a:buNone/>
            </a:pPr>
            <a:r>
              <a:rPr lang="en-US" sz="1000" i="1" dirty="0">
                <a:solidFill>
                  <a:schemeClr val="accent5"/>
                </a:solidFill>
                <a:latin typeface="Calibri" pitchFamily="34" charset="0"/>
                <a:ea typeface="Calibri" pitchFamily="34" charset="-122"/>
                <a:cs typeface="Calibri" pitchFamily="34" charset="-120"/>
              </a:rPr>
              <a:t>The eight "Before Iteration 2" items from our Iteration 1 feedback, status as of this recording.</a:t>
            </a:r>
            <a:endParaRPr lang="en-US" sz="1000" dirty="0"/>
          </a:p>
        </p:txBody>
      </p:sp>
      <p:sp>
        <p:nvSpPr>
          <p:cNvPr id="4" name="speaker"/>
          <p:cNvSpPr/>
          <p:nvPr/>
        </p:nvSpPr>
        <p:spPr>
          <a:xfrm>
            <a:off x="6949440" y="301752"/>
            <a:ext cx="1737360" cy="429768"/>
          </a:xfrm>
          <a:prstGeom prst="roundRect">
            <a:avLst>
              <a:gd name="adj" fmla="val 17021"/>
            </a:avLst>
          </a:prstGeom>
          <a:solidFill>
            <a:schemeClr val="tx1"/>
          </a:solidFill>
          <a:ln>
            <a:solidFill>
              <a:schemeClr val="tx1"/>
            </a:solid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Amber</a:t>
            </a:r>
            <a:endParaRPr lang="en-US" sz="1200" dirty="0"/>
          </a:p>
        </p:txBody>
      </p:sp>
      <p:sp>
        <p:nvSpPr>
          <p:cNvPr id="5" name="card"/>
          <p:cNvSpPr/>
          <p:nvPr/>
        </p:nvSpPr>
        <p:spPr>
          <a:xfrm>
            <a:off x="457200" y="960120"/>
            <a:ext cx="8229600" cy="361188"/>
          </a:xfrm>
          <a:prstGeom prst="roundRect">
            <a:avLst>
              <a:gd name="adj" fmla="val 15190"/>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6" name="Text 4"/>
          <p:cNvSpPr txBox="1"/>
          <p:nvPr/>
        </p:nvSpPr>
        <p:spPr>
          <a:xfrm>
            <a:off x="594360" y="960120"/>
            <a:ext cx="3429000" cy="361188"/>
          </a:xfrm>
          <a:prstGeom prst="rect">
            <a:avLst/>
          </a:prstGeom>
          <a:noFill/>
          <a:ln/>
        </p:spPr>
        <p:txBody>
          <a:bodyPr wrap="square" lIns="0" tIns="0" rIns="0" bIns="0" rtlCol="0" anchor="ctr"/>
          <a:lstStyle/>
          <a:p>
            <a:pPr indent="0" marL="0">
              <a:buNone/>
            </a:pPr>
            <a:r>
              <a:rPr lang="en-US" sz="1050" b="1" dirty="0">
                <a:solidFill>
                  <a:schemeClr val="tx1"/>
                </a:solidFill>
                <a:latin typeface="Calibri" pitchFamily="34" charset="0"/>
                <a:ea typeface="Calibri" pitchFamily="34" charset="-122"/>
                <a:cs typeface="Calibri" pitchFamily="34" charset="-120"/>
              </a:rPr>
              <a:t>Show the app running in the demo</a:t>
            </a:r>
            <a:endParaRPr lang="en-US" sz="1050" dirty="0"/>
          </a:p>
        </p:txBody>
      </p:sp>
      <p:sp>
        <p:nvSpPr>
          <p:cNvPr id="7" name="Text 5"/>
          <p:cNvSpPr txBox="1"/>
          <p:nvPr/>
        </p:nvSpPr>
        <p:spPr>
          <a:xfrm>
            <a:off x="4069080" y="960120"/>
            <a:ext cx="3520440" cy="361188"/>
          </a:xfrm>
          <a:prstGeom prst="rect">
            <a:avLst/>
          </a:prstGeom>
          <a:noFill/>
          <a:ln/>
        </p:spPr>
        <p:txBody>
          <a:bodyPr wrap="square" lIns="0" tIns="0" rIns="0" bIns="0" rtlCol="0" anchor="ctr"/>
          <a:lstStyle/>
          <a:p>
            <a:pPr indent="0" marL="0">
              <a:buNone/>
            </a:pPr>
            <a:r>
              <a:rPr lang="en-US" sz="1000" dirty="0">
                <a:solidFill>
                  <a:schemeClr val="tx1"/>
                </a:solidFill>
                <a:latin typeface="Calibri" pitchFamily="34" charset="0"/>
                <a:ea typeface="Calibri" pitchFamily="34" charset="-122"/>
                <a:cs typeface="Calibri" pitchFamily="34" charset="-120"/>
              </a:rPr>
              <a:t>11-minute demo recorded live on staging</a:t>
            </a:r>
            <a:endParaRPr lang="en-US" sz="1000" dirty="0"/>
          </a:p>
        </p:txBody>
      </p:sp>
      <p:sp>
        <p:nvSpPr>
          <p:cNvPr id="8" name="badge"/>
          <p:cNvSpPr/>
          <p:nvPr/>
        </p:nvSpPr>
        <p:spPr>
          <a:xfrm>
            <a:off x="7662672" y="1021842"/>
            <a:ext cx="932688" cy="237744"/>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800" b="1" dirty="0">
                <a:solidFill>
                  <a:schemeClr val="bg1"/>
                </a:solidFill>
                <a:latin typeface="Calibri" pitchFamily="34" charset="0"/>
                <a:ea typeface="Calibri" pitchFamily="34" charset="-122"/>
                <a:cs typeface="Calibri" pitchFamily="34" charset="-120"/>
              </a:rPr>
              <a:t>DONE</a:t>
            </a:r>
            <a:endParaRPr lang="en-US" sz="800" dirty="0"/>
          </a:p>
        </p:txBody>
      </p:sp>
      <p:sp>
        <p:nvSpPr>
          <p:cNvPr id="9" name="card"/>
          <p:cNvSpPr/>
          <p:nvPr/>
        </p:nvSpPr>
        <p:spPr>
          <a:xfrm>
            <a:off x="457200" y="1385316"/>
            <a:ext cx="8229600" cy="361188"/>
          </a:xfrm>
          <a:prstGeom prst="roundRect">
            <a:avLst>
              <a:gd name="adj" fmla="val 15190"/>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10" name="Text 8"/>
          <p:cNvSpPr txBox="1"/>
          <p:nvPr/>
        </p:nvSpPr>
        <p:spPr>
          <a:xfrm>
            <a:off x="594360" y="1385316"/>
            <a:ext cx="3429000" cy="361188"/>
          </a:xfrm>
          <a:prstGeom prst="rect">
            <a:avLst/>
          </a:prstGeom>
          <a:noFill/>
          <a:ln/>
        </p:spPr>
        <p:txBody>
          <a:bodyPr wrap="square" lIns="0" tIns="0" rIns="0" bIns="0" rtlCol="0" anchor="ctr"/>
          <a:lstStyle/>
          <a:p>
            <a:pPr indent="0" marL="0">
              <a:buNone/>
            </a:pPr>
            <a:r>
              <a:rPr lang="en-US" sz="1050" b="1" dirty="0">
                <a:solidFill>
                  <a:schemeClr val="tx1"/>
                </a:solidFill>
                <a:latin typeface="Calibri" pitchFamily="34" charset="0"/>
                <a:ea typeface="Calibri" pitchFamily="34" charset="-122"/>
                <a:cs typeface="Calibri" pitchFamily="34" charset="-120"/>
              </a:rPr>
              <a:t>Add a product vision slide</a:t>
            </a:r>
            <a:endParaRPr lang="en-US" sz="1050" dirty="0"/>
          </a:p>
        </p:txBody>
      </p:sp>
      <p:sp>
        <p:nvSpPr>
          <p:cNvPr id="11" name="Text 9"/>
          <p:cNvSpPr txBox="1"/>
          <p:nvPr/>
        </p:nvSpPr>
        <p:spPr>
          <a:xfrm>
            <a:off x="4069080" y="1385316"/>
            <a:ext cx="3520440" cy="361188"/>
          </a:xfrm>
          <a:prstGeom prst="rect">
            <a:avLst/>
          </a:prstGeom>
          <a:noFill/>
          <a:ln/>
        </p:spPr>
        <p:txBody>
          <a:bodyPr wrap="square" lIns="0" tIns="0" rIns="0" bIns="0" rtlCol="0" anchor="ctr"/>
          <a:lstStyle/>
          <a:p>
            <a:pPr indent="0" marL="0">
              <a:buNone/>
            </a:pPr>
            <a:r>
              <a:rPr lang="en-US" sz="1000" dirty="0">
                <a:solidFill>
                  <a:schemeClr val="tx1"/>
                </a:solidFill>
                <a:latin typeface="Calibri" pitchFamily="34" charset="0"/>
                <a:ea typeface="Calibri" pitchFamily="34" charset="-122"/>
                <a:cs typeface="Calibri" pitchFamily="34" charset="-120"/>
              </a:rPr>
              <a:t>Slide 2</a:t>
            </a:r>
            <a:endParaRPr lang="en-US" sz="1000" dirty="0"/>
          </a:p>
        </p:txBody>
      </p:sp>
      <p:sp>
        <p:nvSpPr>
          <p:cNvPr id="12" name="badge"/>
          <p:cNvSpPr/>
          <p:nvPr/>
        </p:nvSpPr>
        <p:spPr>
          <a:xfrm>
            <a:off x="7662672" y="1447038"/>
            <a:ext cx="932688" cy="237744"/>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800" b="1" dirty="0">
                <a:solidFill>
                  <a:schemeClr val="bg1"/>
                </a:solidFill>
                <a:latin typeface="Calibri" pitchFamily="34" charset="0"/>
                <a:ea typeface="Calibri" pitchFamily="34" charset="-122"/>
                <a:cs typeface="Calibri" pitchFamily="34" charset="-120"/>
              </a:rPr>
              <a:t>DONE</a:t>
            </a:r>
            <a:endParaRPr lang="en-US" sz="800" dirty="0"/>
          </a:p>
        </p:txBody>
      </p:sp>
      <p:sp>
        <p:nvSpPr>
          <p:cNvPr id="13" name="card"/>
          <p:cNvSpPr/>
          <p:nvPr/>
        </p:nvSpPr>
        <p:spPr>
          <a:xfrm>
            <a:off x="457200" y="1810512"/>
            <a:ext cx="8229600" cy="361188"/>
          </a:xfrm>
          <a:prstGeom prst="roundRect">
            <a:avLst>
              <a:gd name="adj" fmla="val 15190"/>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14" name="Text 12"/>
          <p:cNvSpPr txBox="1"/>
          <p:nvPr/>
        </p:nvSpPr>
        <p:spPr>
          <a:xfrm>
            <a:off x="594360" y="1810512"/>
            <a:ext cx="3429000" cy="361188"/>
          </a:xfrm>
          <a:prstGeom prst="rect">
            <a:avLst/>
          </a:prstGeom>
          <a:noFill/>
          <a:ln/>
        </p:spPr>
        <p:txBody>
          <a:bodyPr wrap="square" lIns="0" tIns="0" rIns="0" bIns="0" rtlCol="0" anchor="ctr"/>
          <a:lstStyle/>
          <a:p>
            <a:pPr indent="0" marL="0">
              <a:buNone/>
            </a:pPr>
            <a:r>
              <a:rPr lang="en-US" sz="1050" b="1" dirty="0">
                <a:solidFill>
                  <a:schemeClr val="tx1"/>
                </a:solidFill>
                <a:latin typeface="Calibri" pitchFamily="34" charset="0"/>
                <a:ea typeface="Calibri" pitchFamily="34" charset="-122"/>
                <a:cs typeface="Calibri" pitchFamily="34" charset="-120"/>
              </a:rPr>
              <a:t>Record manual test steps and results</a:t>
            </a:r>
            <a:endParaRPr lang="en-US" sz="1050" dirty="0"/>
          </a:p>
        </p:txBody>
      </p:sp>
      <p:sp>
        <p:nvSpPr>
          <p:cNvPr id="15" name="Text 13"/>
          <p:cNvSpPr txBox="1"/>
          <p:nvPr/>
        </p:nvSpPr>
        <p:spPr>
          <a:xfrm>
            <a:off x="4069080" y="1810512"/>
            <a:ext cx="3520440" cy="361188"/>
          </a:xfrm>
          <a:prstGeom prst="rect">
            <a:avLst/>
          </a:prstGeom>
          <a:noFill/>
          <a:ln/>
        </p:spPr>
        <p:txBody>
          <a:bodyPr wrap="square" lIns="0" tIns="0" rIns="0" bIns="0" rtlCol="0" anchor="ctr"/>
          <a:lstStyle/>
          <a:p>
            <a:pPr indent="0" marL="0">
              <a:buNone/>
            </a:pPr>
            <a:r>
              <a:rPr lang="en-US" sz="1000" dirty="0">
                <a:solidFill>
                  <a:schemeClr val="tx1"/>
                </a:solidFill>
                <a:latin typeface="Calibri" pitchFamily="34" charset="0"/>
                <a:ea typeface="Calibri" pitchFamily="34" charset="-122"/>
                <a:cs typeface="Calibri" pitchFamily="34" charset="-120"/>
              </a:rPr>
              <a:t>MT-19 to MT-35 with steps and expected results</a:t>
            </a:r>
            <a:endParaRPr lang="en-US" sz="1000" dirty="0"/>
          </a:p>
        </p:txBody>
      </p:sp>
      <p:sp>
        <p:nvSpPr>
          <p:cNvPr id="16" name="badge"/>
          <p:cNvSpPr/>
          <p:nvPr/>
        </p:nvSpPr>
        <p:spPr>
          <a:xfrm>
            <a:off x="7662672" y="1872234"/>
            <a:ext cx="932688" cy="237744"/>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800" b="1" dirty="0">
                <a:solidFill>
                  <a:schemeClr val="bg1"/>
                </a:solidFill>
                <a:latin typeface="Calibri" pitchFamily="34" charset="0"/>
                <a:ea typeface="Calibri" pitchFamily="34" charset="-122"/>
                <a:cs typeface="Calibri" pitchFamily="34" charset="-120"/>
              </a:rPr>
              <a:t>DONE</a:t>
            </a:r>
            <a:endParaRPr lang="en-US" sz="800" dirty="0"/>
          </a:p>
        </p:txBody>
      </p:sp>
      <p:sp>
        <p:nvSpPr>
          <p:cNvPr id="17" name="card"/>
          <p:cNvSpPr/>
          <p:nvPr/>
        </p:nvSpPr>
        <p:spPr>
          <a:xfrm>
            <a:off x="457200" y="2235708"/>
            <a:ext cx="8229600" cy="361188"/>
          </a:xfrm>
          <a:prstGeom prst="roundRect">
            <a:avLst>
              <a:gd name="adj" fmla="val 15190"/>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18" name="Text 16"/>
          <p:cNvSpPr txBox="1"/>
          <p:nvPr/>
        </p:nvSpPr>
        <p:spPr>
          <a:xfrm>
            <a:off x="594360" y="2235708"/>
            <a:ext cx="3429000" cy="361188"/>
          </a:xfrm>
          <a:prstGeom prst="rect">
            <a:avLst/>
          </a:prstGeom>
          <a:noFill/>
          <a:ln/>
        </p:spPr>
        <p:txBody>
          <a:bodyPr wrap="square" lIns="0" tIns="0" rIns="0" bIns="0" rtlCol="0" anchor="ctr"/>
          <a:lstStyle/>
          <a:p>
            <a:pPr indent="0" marL="0">
              <a:buNone/>
            </a:pPr>
            <a:r>
              <a:rPr lang="en-US" sz="1050" b="1" dirty="0">
                <a:solidFill>
                  <a:schemeClr val="tx1"/>
                </a:solidFill>
                <a:latin typeface="Calibri" pitchFamily="34" charset="0"/>
                <a:ea typeface="Calibri" pitchFamily="34" charset="-122"/>
                <a:cs typeface="Calibri" pitchFamily="34" charset="-120"/>
              </a:rPr>
              <a:t>Move the Members page forms to src/components</a:t>
            </a:r>
            <a:endParaRPr lang="en-US" sz="1050" dirty="0"/>
          </a:p>
        </p:txBody>
      </p:sp>
      <p:sp>
        <p:nvSpPr>
          <p:cNvPr id="19" name="Text 17"/>
          <p:cNvSpPr txBox="1"/>
          <p:nvPr/>
        </p:nvSpPr>
        <p:spPr>
          <a:xfrm>
            <a:off x="4069080" y="2235708"/>
            <a:ext cx="3520440" cy="361188"/>
          </a:xfrm>
          <a:prstGeom prst="rect">
            <a:avLst/>
          </a:prstGeom>
          <a:noFill/>
          <a:ln/>
        </p:spPr>
        <p:txBody>
          <a:bodyPr wrap="square" lIns="0" tIns="0" rIns="0" bIns="0" rtlCol="0" anchor="ctr"/>
          <a:lstStyle/>
          <a:p>
            <a:pPr indent="0" marL="0">
              <a:buNone/>
            </a:pPr>
            <a:r>
              <a:rPr lang="en-US" sz="1000" dirty="0">
                <a:solidFill>
                  <a:schemeClr val="tx1"/>
                </a:solidFill>
                <a:latin typeface="Calibri" pitchFamily="34" charset="0"/>
                <a:ea typeface="Calibri" pitchFamily="34" charset="-122"/>
                <a:cs typeface="Calibri" pitchFamily="34" charset="-120"/>
              </a:rPr>
              <a:t>InviteForm and ResetPasswordForm extracted</a:t>
            </a:r>
            <a:endParaRPr lang="en-US" sz="1000" dirty="0"/>
          </a:p>
        </p:txBody>
      </p:sp>
      <p:sp>
        <p:nvSpPr>
          <p:cNvPr id="20" name="badge"/>
          <p:cNvSpPr/>
          <p:nvPr/>
        </p:nvSpPr>
        <p:spPr>
          <a:xfrm>
            <a:off x="7662672" y="2297430"/>
            <a:ext cx="932688" cy="237744"/>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800" b="1" dirty="0">
                <a:solidFill>
                  <a:schemeClr val="bg1"/>
                </a:solidFill>
                <a:latin typeface="Calibri" pitchFamily="34" charset="0"/>
                <a:ea typeface="Calibri" pitchFamily="34" charset="-122"/>
                <a:cs typeface="Calibri" pitchFamily="34" charset="-120"/>
              </a:rPr>
              <a:t>DONE</a:t>
            </a:r>
            <a:endParaRPr lang="en-US" sz="800" dirty="0"/>
          </a:p>
        </p:txBody>
      </p:sp>
      <p:sp>
        <p:nvSpPr>
          <p:cNvPr id="21" name="card"/>
          <p:cNvSpPr/>
          <p:nvPr/>
        </p:nvSpPr>
        <p:spPr>
          <a:xfrm>
            <a:off x="457200" y="2660904"/>
            <a:ext cx="8229600" cy="361188"/>
          </a:xfrm>
          <a:prstGeom prst="roundRect">
            <a:avLst>
              <a:gd name="adj" fmla="val 15190"/>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22" name="Text 20"/>
          <p:cNvSpPr txBox="1"/>
          <p:nvPr/>
        </p:nvSpPr>
        <p:spPr>
          <a:xfrm>
            <a:off x="594360" y="2660904"/>
            <a:ext cx="3429000" cy="361188"/>
          </a:xfrm>
          <a:prstGeom prst="rect">
            <a:avLst/>
          </a:prstGeom>
          <a:noFill/>
          <a:ln/>
        </p:spPr>
        <p:txBody>
          <a:bodyPr wrap="square" lIns="0" tIns="0" rIns="0" bIns="0" rtlCol="0" anchor="ctr"/>
          <a:lstStyle/>
          <a:p>
            <a:pPr indent="0" marL="0">
              <a:buNone/>
            </a:pPr>
            <a:r>
              <a:rPr lang="en-US" sz="1050" b="1" dirty="0">
                <a:solidFill>
                  <a:schemeClr val="tx1"/>
                </a:solidFill>
                <a:latin typeface="Calibri" pitchFamily="34" charset="0"/>
                <a:ea typeface="Calibri" pitchFamily="34" charset="-122"/>
                <a:cs typeface="Calibri" pitchFamily="34" charset="-120"/>
              </a:rPr>
              <a:t>Approval on every PR; nothing straight to main</a:t>
            </a:r>
            <a:endParaRPr lang="en-US" sz="1050" dirty="0"/>
          </a:p>
        </p:txBody>
      </p:sp>
      <p:sp>
        <p:nvSpPr>
          <p:cNvPr id="23" name="Text 21"/>
          <p:cNvSpPr txBox="1"/>
          <p:nvPr/>
        </p:nvSpPr>
        <p:spPr>
          <a:xfrm>
            <a:off x="4069080" y="2660904"/>
            <a:ext cx="3520440" cy="361188"/>
          </a:xfrm>
          <a:prstGeom prst="rect">
            <a:avLst/>
          </a:prstGeom>
          <a:noFill/>
          <a:ln/>
        </p:spPr>
        <p:txBody>
          <a:bodyPr wrap="square" lIns="0" tIns="0" rIns="0" bIns="0" rtlCol="0" anchor="ctr"/>
          <a:lstStyle/>
          <a:p>
            <a:pPr indent="0" marL="0">
              <a:buNone/>
            </a:pPr>
            <a:r>
              <a:rPr lang="en-US" sz="1000" dirty="0">
                <a:solidFill>
                  <a:schemeClr val="tx1"/>
                </a:solidFill>
                <a:latin typeface="Calibri" pitchFamily="34" charset="0"/>
                <a:ea typeface="Calibri" pitchFamily="34" charset="-122"/>
                <a:cs typeface="Calibri" pitchFamily="34" charset="-120"/>
              </a:rPr>
              <a:t>16 PRs, 0 direct commits to main</a:t>
            </a:r>
            <a:endParaRPr lang="en-US" sz="1000" dirty="0"/>
          </a:p>
        </p:txBody>
      </p:sp>
      <p:sp>
        <p:nvSpPr>
          <p:cNvPr id="24" name="badge"/>
          <p:cNvSpPr/>
          <p:nvPr/>
        </p:nvSpPr>
        <p:spPr>
          <a:xfrm>
            <a:off x="7662672" y="2722626"/>
            <a:ext cx="932688" cy="237744"/>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800" b="1" dirty="0">
                <a:solidFill>
                  <a:schemeClr val="bg1"/>
                </a:solidFill>
                <a:latin typeface="Calibri" pitchFamily="34" charset="0"/>
                <a:ea typeface="Calibri" pitchFamily="34" charset="-122"/>
                <a:cs typeface="Calibri" pitchFamily="34" charset="-120"/>
              </a:rPr>
              <a:t>IMPROVED</a:t>
            </a:r>
            <a:endParaRPr lang="en-US" sz="800" dirty="0"/>
          </a:p>
        </p:txBody>
      </p:sp>
      <p:sp>
        <p:nvSpPr>
          <p:cNvPr id="25" name="card"/>
          <p:cNvSpPr/>
          <p:nvPr/>
        </p:nvSpPr>
        <p:spPr>
          <a:xfrm>
            <a:off x="457200" y="3086100"/>
            <a:ext cx="8229600" cy="361188"/>
          </a:xfrm>
          <a:prstGeom prst="roundRect">
            <a:avLst>
              <a:gd name="adj" fmla="val 15190"/>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26" name="Text 24"/>
          <p:cNvSpPr txBox="1"/>
          <p:nvPr/>
        </p:nvSpPr>
        <p:spPr>
          <a:xfrm>
            <a:off x="594360" y="3086100"/>
            <a:ext cx="3429000" cy="361188"/>
          </a:xfrm>
          <a:prstGeom prst="rect">
            <a:avLst/>
          </a:prstGeom>
          <a:noFill/>
          <a:ln/>
        </p:spPr>
        <p:txBody>
          <a:bodyPr wrap="square" lIns="0" tIns="0" rIns="0" bIns="0" rtlCol="0" anchor="ctr"/>
          <a:lstStyle/>
          <a:p>
            <a:pPr indent="0" marL="0">
              <a:buNone/>
            </a:pPr>
            <a:r>
              <a:rPr lang="en-US" sz="1050" b="1" dirty="0">
                <a:solidFill>
                  <a:schemeClr val="tx1"/>
                </a:solidFill>
                <a:latin typeface="Calibri" pitchFamily="34" charset="0"/>
                <a:ea typeface="Calibri" pitchFamily="34" charset="-122"/>
                <a:cs typeface="Calibri" pitchFamily="34" charset="-120"/>
              </a:rPr>
              <a:t>Point every story; close finished subtasks</a:t>
            </a:r>
            <a:endParaRPr lang="en-US" sz="1050" dirty="0"/>
          </a:p>
        </p:txBody>
      </p:sp>
      <p:sp>
        <p:nvSpPr>
          <p:cNvPr id="27" name="Text 25"/>
          <p:cNvSpPr txBox="1"/>
          <p:nvPr/>
        </p:nvSpPr>
        <p:spPr>
          <a:xfrm>
            <a:off x="4069080" y="3086100"/>
            <a:ext cx="3520440" cy="361188"/>
          </a:xfrm>
          <a:prstGeom prst="rect">
            <a:avLst/>
          </a:prstGeom>
          <a:noFill/>
          <a:ln/>
        </p:spPr>
        <p:txBody>
          <a:bodyPr wrap="square" lIns="0" tIns="0" rIns="0" bIns="0" rtlCol="0" anchor="ctr"/>
          <a:lstStyle/>
          <a:p>
            <a:pPr indent="0" marL="0">
              <a:buNone/>
            </a:pPr>
            <a:r>
              <a:rPr lang="en-US" sz="1000" dirty="0">
                <a:solidFill>
                  <a:schemeClr val="tx1"/>
                </a:solidFill>
                <a:latin typeface="Calibri" pitchFamily="34" charset="0"/>
                <a:ea typeface="Calibri" pitchFamily="34" charset="-122"/>
                <a:cs typeface="Calibri" pitchFamily="34" charset="-120"/>
              </a:rPr>
              <a:t>Iteration 2 stories pointed; tasks and Lab 3 stories not</a:t>
            </a:r>
            <a:endParaRPr lang="en-US" sz="1000" dirty="0"/>
          </a:p>
        </p:txBody>
      </p:sp>
      <p:sp>
        <p:nvSpPr>
          <p:cNvPr id="28" name="badge"/>
          <p:cNvSpPr/>
          <p:nvPr/>
        </p:nvSpPr>
        <p:spPr>
          <a:xfrm>
            <a:off x="7662672" y="3147822"/>
            <a:ext cx="932688" cy="237744"/>
          </a:xfrm>
          <a:prstGeom prst="roundRect">
            <a:avLst>
              <a:gd name="adj" fmla="val 50000"/>
            </a:avLst>
          </a:prstGeom>
          <a:solidFill>
            <a:schemeClr val="accent3"/>
          </a:solidFill>
          <a:ln>
            <a:solidFill>
              <a:schemeClr val="accent3"/>
            </a:solidFill>
          </a:ln>
        </p:spPr>
        <p:txBody>
          <a:bodyPr wrap="square" lIns="0" tIns="0" rIns="0" bIns="0" rtlCol="0" anchor="ctr"/>
          <a:lstStyle/>
          <a:p>
            <a:pPr algn="ctr" indent="0" marL="0">
              <a:buNone/>
            </a:pPr>
            <a:r>
              <a:rPr lang="en-US" sz="800" b="1" dirty="0">
                <a:solidFill>
                  <a:schemeClr val="bg1"/>
                </a:solidFill>
                <a:latin typeface="Calibri" pitchFamily="34" charset="0"/>
                <a:ea typeface="Calibri" pitchFamily="34" charset="-122"/>
                <a:cs typeface="Calibri" pitchFamily="34" charset="-120"/>
              </a:rPr>
              <a:t>PARTIAL</a:t>
            </a:r>
            <a:endParaRPr lang="en-US" sz="800" dirty="0"/>
          </a:p>
        </p:txBody>
      </p:sp>
      <p:sp>
        <p:nvSpPr>
          <p:cNvPr id="29" name="card"/>
          <p:cNvSpPr/>
          <p:nvPr/>
        </p:nvSpPr>
        <p:spPr>
          <a:xfrm>
            <a:off x="457200" y="3511296"/>
            <a:ext cx="8229600" cy="361188"/>
          </a:xfrm>
          <a:prstGeom prst="roundRect">
            <a:avLst>
              <a:gd name="adj" fmla="val 15190"/>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30" name="Text 28"/>
          <p:cNvSpPr txBox="1"/>
          <p:nvPr/>
        </p:nvSpPr>
        <p:spPr>
          <a:xfrm>
            <a:off x="594360" y="3511296"/>
            <a:ext cx="3429000" cy="361188"/>
          </a:xfrm>
          <a:prstGeom prst="rect">
            <a:avLst/>
          </a:prstGeom>
          <a:noFill/>
          <a:ln/>
        </p:spPr>
        <p:txBody>
          <a:bodyPr wrap="square" lIns="0" tIns="0" rIns="0" bIns="0" rtlCol="0" anchor="ctr"/>
          <a:lstStyle/>
          <a:p>
            <a:pPr indent="0" marL="0">
              <a:buNone/>
            </a:pPr>
            <a:r>
              <a:rPr lang="en-US" sz="1050" b="1" dirty="0">
                <a:solidFill>
                  <a:schemeClr val="tx1"/>
                </a:solidFill>
                <a:latin typeface="Calibri" pitchFamily="34" charset="0"/>
                <a:ea typeface="Calibri" pitchFamily="34" charset="-122"/>
                <a:cs typeface="Calibri" pitchFamily="34" charset="-120"/>
              </a:rPr>
              <a:t>Risk register in release, NFR-5 number, "Verified by"</a:t>
            </a:r>
            <a:endParaRPr lang="en-US" sz="1050" dirty="0"/>
          </a:p>
        </p:txBody>
      </p:sp>
      <p:sp>
        <p:nvSpPr>
          <p:cNvPr id="31" name="Text 29"/>
          <p:cNvSpPr txBox="1"/>
          <p:nvPr/>
        </p:nvSpPr>
        <p:spPr>
          <a:xfrm>
            <a:off x="4069080" y="3511296"/>
            <a:ext cx="3520440" cy="361188"/>
          </a:xfrm>
          <a:prstGeom prst="rect">
            <a:avLst/>
          </a:prstGeom>
          <a:noFill/>
          <a:ln/>
        </p:spPr>
        <p:txBody>
          <a:bodyPr wrap="square" lIns="0" tIns="0" rIns="0" bIns="0" rtlCol="0" anchor="ctr"/>
          <a:lstStyle/>
          <a:p>
            <a:pPr indent="0" marL="0">
              <a:buNone/>
            </a:pPr>
            <a:r>
              <a:rPr lang="en-US" sz="1000" dirty="0">
                <a:solidFill>
                  <a:schemeClr val="tx1"/>
                </a:solidFill>
                <a:latin typeface="Calibri" pitchFamily="34" charset="0"/>
                <a:ea typeface="Calibri" pitchFamily="34" charset="-122"/>
                <a:cs typeface="Calibri" pitchFamily="34" charset="-120"/>
              </a:rPr>
              <a:t>"Verified by" filled (SPPP v1.2); NFR-5 still TBD; register not updated</a:t>
            </a:r>
            <a:endParaRPr lang="en-US" sz="1000" dirty="0"/>
          </a:p>
        </p:txBody>
      </p:sp>
      <p:sp>
        <p:nvSpPr>
          <p:cNvPr id="32" name="badge"/>
          <p:cNvSpPr/>
          <p:nvPr/>
        </p:nvSpPr>
        <p:spPr>
          <a:xfrm>
            <a:off x="7662672" y="3573018"/>
            <a:ext cx="932688" cy="237744"/>
          </a:xfrm>
          <a:prstGeom prst="roundRect">
            <a:avLst>
              <a:gd name="adj" fmla="val 50000"/>
            </a:avLst>
          </a:prstGeom>
          <a:solidFill>
            <a:schemeClr val="accent3"/>
          </a:solidFill>
          <a:ln>
            <a:solidFill>
              <a:schemeClr val="accent3"/>
            </a:solidFill>
          </a:ln>
        </p:spPr>
        <p:txBody>
          <a:bodyPr wrap="square" lIns="0" tIns="0" rIns="0" bIns="0" rtlCol="0" anchor="ctr"/>
          <a:lstStyle/>
          <a:p>
            <a:pPr algn="ctr" indent="0" marL="0">
              <a:buNone/>
            </a:pPr>
            <a:r>
              <a:rPr lang="en-US" sz="800" b="1" dirty="0">
                <a:solidFill>
                  <a:schemeClr val="bg1"/>
                </a:solidFill>
                <a:latin typeface="Calibri" pitchFamily="34" charset="0"/>
                <a:ea typeface="Calibri" pitchFamily="34" charset="-122"/>
                <a:cs typeface="Calibri" pitchFamily="34" charset="-120"/>
              </a:rPr>
              <a:t>PARTIAL</a:t>
            </a:r>
            <a:endParaRPr lang="en-US" sz="800" dirty="0"/>
          </a:p>
        </p:txBody>
      </p:sp>
      <p:sp>
        <p:nvSpPr>
          <p:cNvPr id="33" name="card"/>
          <p:cNvSpPr/>
          <p:nvPr/>
        </p:nvSpPr>
        <p:spPr>
          <a:xfrm>
            <a:off x="457200" y="3936492"/>
            <a:ext cx="8229600" cy="361188"/>
          </a:xfrm>
          <a:prstGeom prst="roundRect">
            <a:avLst>
              <a:gd name="adj" fmla="val 15190"/>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34" name="Text 32"/>
          <p:cNvSpPr txBox="1"/>
          <p:nvPr/>
        </p:nvSpPr>
        <p:spPr>
          <a:xfrm>
            <a:off x="594360" y="3936492"/>
            <a:ext cx="3429000" cy="361188"/>
          </a:xfrm>
          <a:prstGeom prst="rect">
            <a:avLst/>
          </a:prstGeom>
          <a:noFill/>
          <a:ln/>
        </p:spPr>
        <p:txBody>
          <a:bodyPr wrap="square" lIns="0" tIns="0" rIns="0" bIns="0" rtlCol="0" anchor="ctr"/>
          <a:lstStyle/>
          <a:p>
            <a:pPr indent="0" marL="0">
              <a:buNone/>
            </a:pPr>
            <a:r>
              <a:rPr lang="en-US" sz="1050" b="1" dirty="0">
                <a:solidFill>
                  <a:schemeClr val="tx1"/>
                </a:solidFill>
                <a:latin typeface="Calibri" pitchFamily="34" charset="0"/>
                <a:ea typeface="Calibri" pitchFamily="34" charset="-122"/>
                <a:cs typeface="Calibri" pitchFamily="34" charset="-120"/>
              </a:rPr>
              <a:t>Fix progress report hours and re-export</a:t>
            </a:r>
            <a:endParaRPr lang="en-US" sz="1050" dirty="0"/>
          </a:p>
        </p:txBody>
      </p:sp>
      <p:sp>
        <p:nvSpPr>
          <p:cNvPr id="35" name="Text 33"/>
          <p:cNvSpPr txBox="1"/>
          <p:nvPr/>
        </p:nvSpPr>
        <p:spPr>
          <a:xfrm>
            <a:off x="4069080" y="3936492"/>
            <a:ext cx="3520440" cy="361188"/>
          </a:xfrm>
          <a:prstGeom prst="rect">
            <a:avLst/>
          </a:prstGeom>
          <a:noFill/>
          <a:ln/>
        </p:spPr>
        <p:txBody>
          <a:bodyPr wrap="square" lIns="0" tIns="0" rIns="0" bIns="0" rtlCol="0" anchor="ctr"/>
          <a:lstStyle/>
          <a:p>
            <a:pPr indent="0" marL="0">
              <a:buNone/>
            </a:pPr>
            <a:r>
              <a:rPr lang="en-US" sz="1000" dirty="0">
                <a:solidFill>
                  <a:schemeClr val="tx1"/>
                </a:solidFill>
                <a:latin typeface="Calibri" pitchFamily="34" charset="0"/>
                <a:ea typeface="Calibri" pitchFamily="34" charset="-122"/>
                <a:cs typeface="Calibri" pitchFamily="34" charset="-120"/>
              </a:rPr>
              <a:t>Iteration 2 summary row not yet filled</a:t>
            </a:r>
            <a:endParaRPr lang="en-US" sz="1000" dirty="0"/>
          </a:p>
        </p:txBody>
      </p:sp>
      <p:sp>
        <p:nvSpPr>
          <p:cNvPr id="36" name="badge"/>
          <p:cNvSpPr/>
          <p:nvPr/>
        </p:nvSpPr>
        <p:spPr>
          <a:xfrm>
            <a:off x="7662672" y="3998214"/>
            <a:ext cx="932688" cy="237744"/>
          </a:xfrm>
          <a:prstGeom prst="roundRect">
            <a:avLst>
              <a:gd name="adj" fmla="val 50000"/>
            </a:avLst>
          </a:prstGeom>
          <a:solidFill>
            <a:schemeClr val="accent4"/>
          </a:solidFill>
          <a:ln>
            <a:solidFill>
              <a:schemeClr val="accent4"/>
            </a:solidFill>
          </a:ln>
        </p:spPr>
        <p:txBody>
          <a:bodyPr wrap="square" lIns="0" tIns="0" rIns="0" bIns="0" rtlCol="0" anchor="ctr"/>
          <a:lstStyle/>
          <a:p>
            <a:pPr algn="ctr" indent="0" marL="0">
              <a:buNone/>
            </a:pPr>
            <a:r>
              <a:rPr lang="en-US" sz="800" b="1" dirty="0">
                <a:solidFill>
                  <a:schemeClr val="bg1"/>
                </a:solidFill>
                <a:latin typeface="Calibri" pitchFamily="34" charset="0"/>
                <a:ea typeface="Calibri" pitchFamily="34" charset="-122"/>
                <a:cs typeface="Calibri" pitchFamily="34" charset="-120"/>
              </a:rPr>
              <a:t>OPEN</a:t>
            </a:r>
            <a:endParaRPr lang="en-US" sz="800" dirty="0"/>
          </a:p>
        </p:txBody>
      </p:sp>
      <p:sp>
        <p:nvSpPr>
          <p:cNvPr id="25" name="Slide Number Placeholder 0"/>
          <p:cNvSpPr>
            <a:spLocks noGrp="1"/>
          </p:cNvSpPr>
          <p:nvPr>
            <p:ph type="sldNum" sz="quarter" idx="4294967295"/>
          </p:nvPr>
        </p:nvSpPr>
        <p:spPr>
          <a:xfrm>
            <a:off x="8458200" y="473659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400800" cy="566928"/>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How the Iteration Ran</a:t>
            </a:r>
            <a:endParaRPr lang="en-US" sz="2600" dirty="0"/>
          </a:p>
        </p:txBody>
      </p:sp>
      <p:sp>
        <p:nvSpPr>
          <p:cNvPr id="3" name="Text 0"/>
          <p:cNvSpPr/>
          <p:nvPr>
            <p:ph idx="101" type="body" hasCustomPrompt="1"/>
          </p:nvPr>
        </p:nvSpPr>
        <p:spPr>
          <a:xfrm>
            <a:off x="457200" y="4645152"/>
            <a:ext cx="8229600" cy="329184"/>
          </a:xfrm>
          <a:prstGeom prst="rect">
            <a:avLst/>
          </a:prstGeom>
          <a:noFill/>
          <a:ln/>
        </p:spPr>
        <p:txBody>
          <a:bodyPr wrap="square" lIns="0" tIns="0" rIns="0" bIns="0" rtlCol="0" anchor="ctr"/>
          <a:lstStyle/>
          <a:p>
            <a:pPr indent="0" marL="0">
              <a:buNone/>
            </a:pPr>
            <a:r>
              <a:rPr lang="en-US" sz="1000" i="1" dirty="0">
                <a:solidFill>
                  <a:schemeClr val="accent5"/>
                </a:solidFill>
                <a:latin typeface="Calibri" pitchFamily="34" charset="0"/>
                <a:ea typeface="Calibri" pitchFamily="34" charset="-122"/>
                <a:cs typeface="Calibri" pitchFamily="34" charset="-120"/>
              </a:rPr>
              <a:t>Sprint "Iteration 2" in Jira, 1–6 October, after the Lab 3 work from 22 September. Points are Jira story point estimates.</a:t>
            </a:r>
            <a:endParaRPr lang="en-US" sz="1000" dirty="0"/>
          </a:p>
        </p:txBody>
      </p:sp>
      <p:sp>
        <p:nvSpPr>
          <p:cNvPr id="4" name="speaker"/>
          <p:cNvSpPr/>
          <p:nvPr/>
        </p:nvSpPr>
        <p:spPr>
          <a:xfrm>
            <a:off x="6949440" y="301752"/>
            <a:ext cx="1737360" cy="429768"/>
          </a:xfrm>
          <a:prstGeom prst="roundRect">
            <a:avLst>
              <a:gd name="adj" fmla="val 17021"/>
            </a:avLst>
          </a:prstGeom>
          <a:solidFill>
            <a:schemeClr val="tx1"/>
          </a:solidFill>
          <a:ln>
            <a:solidFill>
              <a:schemeClr val="tx1"/>
            </a:solid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Alexa</a:t>
            </a:r>
            <a:endParaRPr lang="en-US" sz="1200" dirty="0"/>
          </a:p>
        </p:txBody>
      </p:sp>
      <p:sp>
        <p:nvSpPr>
          <p:cNvPr id="5" name="card"/>
          <p:cNvSpPr/>
          <p:nvPr/>
        </p:nvSpPr>
        <p:spPr>
          <a:xfrm>
            <a:off x="457200" y="960120"/>
            <a:ext cx="1965960" cy="868680"/>
          </a:xfrm>
          <a:prstGeom prst="roundRect">
            <a:avLst>
              <a:gd name="adj" fmla="val 6316"/>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6" name="Text 4"/>
          <p:cNvSpPr txBox="1"/>
          <p:nvPr/>
        </p:nvSpPr>
        <p:spPr>
          <a:xfrm>
            <a:off x="457200" y="987552"/>
            <a:ext cx="1965960" cy="457200"/>
          </a:xfrm>
          <a:prstGeom prst="rect">
            <a:avLst/>
          </a:prstGeom>
          <a:noFill/>
          <a:ln/>
        </p:spPr>
        <p:txBody>
          <a:bodyPr wrap="square" lIns="0" tIns="0" rIns="0" bIns="0" rtlCol="0" anchor="ctr"/>
          <a:lstStyle/>
          <a:p>
            <a:pPr algn="ctr" indent="0" marL="0">
              <a:buNone/>
            </a:pPr>
            <a:r>
              <a:rPr lang="en-US" sz="2400" b="1" dirty="0">
                <a:solidFill>
                  <a:schemeClr val="tx1"/>
                </a:solidFill>
                <a:latin typeface="Cambria" pitchFamily="34" charset="0"/>
                <a:ea typeface="Cambria" pitchFamily="34" charset="-122"/>
                <a:cs typeface="Cambria" pitchFamily="34" charset="-120"/>
              </a:rPr>
              <a:t>30 / 48</a:t>
            </a:r>
            <a:endParaRPr lang="en-US" sz="2400" dirty="0"/>
          </a:p>
        </p:txBody>
      </p:sp>
      <p:sp>
        <p:nvSpPr>
          <p:cNvPr id="7" name="Text 5"/>
          <p:cNvSpPr txBox="1"/>
          <p:nvPr/>
        </p:nvSpPr>
        <p:spPr>
          <a:xfrm>
            <a:off x="457200" y="1463040"/>
            <a:ext cx="1965960" cy="228600"/>
          </a:xfrm>
          <a:prstGeom prst="rect">
            <a:avLst/>
          </a:prstGeom>
          <a:noFill/>
          <a:ln/>
        </p:spPr>
        <p:txBody>
          <a:bodyPr wrap="square" lIns="0" tIns="0" rIns="0" bIns="0" rtlCol="0" anchor="t"/>
          <a:lstStyle/>
          <a:p>
            <a:pPr algn="ctr" indent="0" marL="0">
              <a:buNone/>
            </a:pPr>
            <a:r>
              <a:rPr lang="en-US" sz="1000" dirty="0">
                <a:solidFill>
                  <a:schemeClr val="accent5"/>
                </a:solidFill>
                <a:latin typeface="Calibri" pitchFamily="34" charset="0"/>
                <a:ea typeface="Calibri" pitchFamily="34" charset="-122"/>
                <a:cs typeface="Calibri" pitchFamily="34" charset="-120"/>
              </a:rPr>
              <a:t>new story points shipped</a:t>
            </a:r>
            <a:endParaRPr lang="en-US" sz="1000" dirty="0"/>
          </a:p>
        </p:txBody>
      </p:sp>
      <p:sp>
        <p:nvSpPr>
          <p:cNvPr id="8" name="card"/>
          <p:cNvSpPr/>
          <p:nvPr/>
        </p:nvSpPr>
        <p:spPr>
          <a:xfrm>
            <a:off x="2551176" y="960120"/>
            <a:ext cx="1965960" cy="868680"/>
          </a:xfrm>
          <a:prstGeom prst="roundRect">
            <a:avLst>
              <a:gd name="adj" fmla="val 6316"/>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9" name="Text 7"/>
          <p:cNvSpPr txBox="1"/>
          <p:nvPr/>
        </p:nvSpPr>
        <p:spPr>
          <a:xfrm>
            <a:off x="2551176" y="987552"/>
            <a:ext cx="1965960" cy="457200"/>
          </a:xfrm>
          <a:prstGeom prst="rect">
            <a:avLst/>
          </a:prstGeom>
          <a:noFill/>
          <a:ln/>
        </p:spPr>
        <p:txBody>
          <a:bodyPr wrap="square" lIns="0" tIns="0" rIns="0" bIns="0" rtlCol="0" anchor="ctr"/>
          <a:lstStyle/>
          <a:p>
            <a:pPr algn="ctr" indent="0" marL="0">
              <a:buNone/>
            </a:pPr>
            <a:r>
              <a:rPr lang="en-US" sz="2400" b="1" dirty="0">
                <a:solidFill>
                  <a:schemeClr val="tx1"/>
                </a:solidFill>
                <a:latin typeface="Cambria" pitchFamily="34" charset="0"/>
                <a:ea typeface="Cambria" pitchFamily="34" charset="-122"/>
                <a:cs typeface="Cambria" pitchFamily="34" charset="-120"/>
              </a:rPr>
              <a:t>6 of 8</a:t>
            </a:r>
            <a:endParaRPr lang="en-US" sz="2400" dirty="0"/>
          </a:p>
        </p:txBody>
      </p:sp>
      <p:sp>
        <p:nvSpPr>
          <p:cNvPr id="10" name="Text 8"/>
          <p:cNvSpPr txBox="1"/>
          <p:nvPr/>
        </p:nvSpPr>
        <p:spPr>
          <a:xfrm>
            <a:off x="2551176" y="1463040"/>
            <a:ext cx="1965960" cy="228600"/>
          </a:xfrm>
          <a:prstGeom prst="rect">
            <a:avLst/>
          </a:prstGeom>
          <a:noFill/>
          <a:ln/>
        </p:spPr>
        <p:txBody>
          <a:bodyPr wrap="square" lIns="0" tIns="0" rIns="0" bIns="0" rtlCol="0" anchor="t"/>
          <a:lstStyle/>
          <a:p>
            <a:pPr algn="ctr" indent="0" marL="0">
              <a:buNone/>
            </a:pPr>
            <a:r>
              <a:rPr lang="en-US" sz="1000" dirty="0">
                <a:solidFill>
                  <a:schemeClr val="accent5"/>
                </a:solidFill>
                <a:latin typeface="Calibri" pitchFamily="34" charset="0"/>
                <a:ea typeface="Calibri" pitchFamily="34" charset="-122"/>
                <a:cs typeface="Calibri" pitchFamily="34" charset="-120"/>
              </a:rPr>
              <a:t>desirable stories done</a:t>
            </a:r>
            <a:endParaRPr lang="en-US" sz="1000" dirty="0"/>
          </a:p>
        </p:txBody>
      </p:sp>
      <p:sp>
        <p:nvSpPr>
          <p:cNvPr id="11" name="card"/>
          <p:cNvSpPr/>
          <p:nvPr/>
        </p:nvSpPr>
        <p:spPr>
          <a:xfrm>
            <a:off x="4645152" y="960120"/>
            <a:ext cx="1965960" cy="868680"/>
          </a:xfrm>
          <a:prstGeom prst="roundRect">
            <a:avLst>
              <a:gd name="adj" fmla="val 6316"/>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12" name="Text 10"/>
          <p:cNvSpPr txBox="1"/>
          <p:nvPr/>
        </p:nvSpPr>
        <p:spPr>
          <a:xfrm>
            <a:off x="4645152" y="987552"/>
            <a:ext cx="1965960" cy="457200"/>
          </a:xfrm>
          <a:prstGeom prst="rect">
            <a:avLst/>
          </a:prstGeom>
          <a:noFill/>
          <a:ln/>
        </p:spPr>
        <p:txBody>
          <a:bodyPr wrap="square" lIns="0" tIns="0" rIns="0" bIns="0" rtlCol="0" anchor="ctr"/>
          <a:lstStyle/>
          <a:p>
            <a:pPr algn="ctr" indent="0" marL="0">
              <a:buNone/>
            </a:pPr>
            <a:r>
              <a:rPr lang="en-US" sz="2400" b="1" dirty="0">
                <a:solidFill>
                  <a:schemeClr val="tx1"/>
                </a:solidFill>
                <a:latin typeface="Cambria" pitchFamily="34" charset="0"/>
                <a:ea typeface="Cambria" pitchFamily="34" charset="-122"/>
                <a:cs typeface="Cambria" pitchFamily="34" charset="-120"/>
              </a:rPr>
              <a:t>4</a:t>
            </a:r>
            <a:endParaRPr lang="en-US" sz="2400" dirty="0"/>
          </a:p>
        </p:txBody>
      </p:sp>
      <p:sp>
        <p:nvSpPr>
          <p:cNvPr id="13" name="Text 11"/>
          <p:cNvSpPr txBox="1"/>
          <p:nvPr/>
        </p:nvSpPr>
        <p:spPr>
          <a:xfrm>
            <a:off x="4645152" y="1463040"/>
            <a:ext cx="1965960" cy="228600"/>
          </a:xfrm>
          <a:prstGeom prst="rect">
            <a:avLst/>
          </a:prstGeom>
          <a:noFill/>
          <a:ln/>
        </p:spPr>
        <p:txBody>
          <a:bodyPr wrap="square" lIns="0" tIns="0" rIns="0" bIns="0" rtlCol="0" anchor="t"/>
          <a:lstStyle/>
          <a:p>
            <a:pPr algn="ctr" indent="0" marL="0">
              <a:buNone/>
            </a:pPr>
            <a:r>
              <a:rPr lang="en-US" sz="1000" dirty="0">
                <a:solidFill>
                  <a:schemeClr val="accent5"/>
                </a:solidFill>
                <a:latin typeface="Calibri" pitchFamily="34" charset="0"/>
                <a:ea typeface="Calibri" pitchFamily="34" charset="-122"/>
                <a:cs typeface="Calibri" pitchFamily="34" charset="-120"/>
              </a:rPr>
              <a:t>Lab 3 features merged</a:t>
            </a:r>
            <a:endParaRPr lang="en-US" sz="1000" dirty="0"/>
          </a:p>
        </p:txBody>
      </p:sp>
      <p:sp>
        <p:nvSpPr>
          <p:cNvPr id="14" name="card"/>
          <p:cNvSpPr/>
          <p:nvPr/>
        </p:nvSpPr>
        <p:spPr>
          <a:xfrm>
            <a:off x="6739128" y="960120"/>
            <a:ext cx="1965960" cy="868680"/>
          </a:xfrm>
          <a:prstGeom prst="roundRect">
            <a:avLst>
              <a:gd name="adj" fmla="val 6316"/>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15" name="Text 13"/>
          <p:cNvSpPr txBox="1"/>
          <p:nvPr/>
        </p:nvSpPr>
        <p:spPr>
          <a:xfrm>
            <a:off x="6739128" y="987552"/>
            <a:ext cx="1965960" cy="457200"/>
          </a:xfrm>
          <a:prstGeom prst="rect">
            <a:avLst/>
          </a:prstGeom>
          <a:noFill/>
          <a:ln/>
        </p:spPr>
        <p:txBody>
          <a:bodyPr wrap="square" lIns="0" tIns="0" rIns="0" bIns="0" rtlCol="0" anchor="ctr"/>
          <a:lstStyle/>
          <a:p>
            <a:pPr algn="ctr" indent="0" marL="0">
              <a:buNone/>
            </a:pPr>
            <a:r>
              <a:rPr lang="en-US" sz="2400" b="1" dirty="0">
                <a:solidFill>
                  <a:schemeClr val="tx1"/>
                </a:solidFill>
                <a:latin typeface="Cambria" pitchFamily="34" charset="0"/>
                <a:ea typeface="Cambria" pitchFamily="34" charset="-122"/>
                <a:cs typeface="Cambria" pitchFamily="34" charset="-120"/>
              </a:rPr>
              <a:t>17</a:t>
            </a:r>
            <a:endParaRPr lang="en-US" sz="2400" dirty="0"/>
          </a:p>
        </p:txBody>
      </p:sp>
      <p:sp>
        <p:nvSpPr>
          <p:cNvPr id="16" name="Text 14"/>
          <p:cNvSpPr txBox="1"/>
          <p:nvPr/>
        </p:nvSpPr>
        <p:spPr>
          <a:xfrm>
            <a:off x="6739128" y="1463040"/>
            <a:ext cx="1965960" cy="228600"/>
          </a:xfrm>
          <a:prstGeom prst="rect">
            <a:avLst/>
          </a:prstGeom>
          <a:noFill/>
          <a:ln/>
        </p:spPr>
        <p:txBody>
          <a:bodyPr wrap="square" lIns="0" tIns="0" rIns="0" bIns="0" rtlCol="0" anchor="t"/>
          <a:lstStyle/>
          <a:p>
            <a:pPr algn="ctr" indent="0" marL="0">
              <a:buNone/>
            </a:pPr>
            <a:r>
              <a:rPr lang="en-US" sz="1000" dirty="0">
                <a:solidFill>
                  <a:schemeClr val="accent5"/>
                </a:solidFill>
                <a:latin typeface="Calibri" pitchFamily="34" charset="0"/>
                <a:ea typeface="Calibri" pitchFamily="34" charset="-122"/>
                <a:cs typeface="Calibri" pitchFamily="34" charset="-120"/>
              </a:rPr>
              <a:t>manual test cases run</a:t>
            </a:r>
            <a:endParaRPr lang="en-US" sz="1000" dirty="0"/>
          </a:p>
        </p:txBody>
      </p:sp>
      <p:sp>
        <p:nvSpPr>
          <p:cNvPr id="17" name="card"/>
          <p:cNvSpPr/>
          <p:nvPr/>
        </p:nvSpPr>
        <p:spPr>
          <a:xfrm>
            <a:off x="457200" y="2011680"/>
            <a:ext cx="3977640" cy="2487168"/>
          </a:xfrm>
          <a:prstGeom prst="roundRect">
            <a:avLst>
              <a:gd name="adj" fmla="val 2206"/>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18" name="Text 16"/>
          <p:cNvSpPr txBox="1"/>
          <p:nvPr/>
        </p:nvSpPr>
        <p:spPr>
          <a:xfrm>
            <a:off x="640080" y="2121408"/>
            <a:ext cx="3657600" cy="292608"/>
          </a:xfrm>
          <a:prstGeom prst="rect">
            <a:avLst/>
          </a:prstGeom>
          <a:noFill/>
          <a:ln/>
        </p:spPr>
        <p:txBody>
          <a:bodyPr wrap="square" lIns="0" tIns="0" rIns="0" bIns="0" rtlCol="0" anchor="t"/>
          <a:lstStyle/>
          <a:p>
            <a:pPr indent="0" marL="0">
              <a:buNone/>
            </a:pPr>
            <a:r>
              <a:rPr lang="en-US" sz="1400" b="1" dirty="0">
                <a:solidFill>
                  <a:schemeClr val="tx1"/>
                </a:solidFill>
                <a:latin typeface="Cambria" pitchFamily="34" charset="0"/>
                <a:ea typeface="Cambria" pitchFamily="34" charset="-122"/>
                <a:cs typeface="Cambria" pitchFamily="34" charset="-120"/>
              </a:rPr>
              <a:t>The board drifted from the code</a:t>
            </a:r>
            <a:endParaRPr lang="en-US" sz="1400" dirty="0"/>
          </a:p>
        </p:txBody>
      </p:sp>
      <p:sp>
        <p:nvSpPr>
          <p:cNvPr id="19" name="Text 17"/>
          <p:cNvSpPr txBox="1"/>
          <p:nvPr/>
        </p:nvSpPr>
        <p:spPr>
          <a:xfrm>
            <a:off x="640080" y="2450592"/>
            <a:ext cx="3611880" cy="228600"/>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Found while preparing this review:</a:t>
            </a:r>
            <a:endParaRPr lang="en-US" sz="1100" dirty="0"/>
          </a:p>
        </p:txBody>
      </p:sp>
      <p:sp>
        <p:nvSpPr>
          <p:cNvPr id="20" name="Text 18"/>
          <p:cNvSpPr txBox="1"/>
          <p:nvPr/>
        </p:nvSpPr>
        <p:spPr>
          <a:xfrm>
            <a:off x="640080" y="2724912"/>
            <a:ext cx="3611880" cy="1737360"/>
          </a:xfrm>
          <a:prstGeom prst="rect">
            <a:avLst/>
          </a:prstGeom>
          <a:noFill/>
          <a:ln/>
        </p:spPr>
        <p:txBody>
          <a:bodyPr wrap="square" lIns="0" tIns="0" rIns="0" bIns="0" rtlCol="0" anchor="t"/>
          <a:lstStyle/>
          <a:p>
            <a:pPr marL="152400" indent="-152400">
              <a:spcAft>
                <a:spcPts val="500"/>
              </a:spcAft>
              <a:buSzPct val="100000"/>
              <a:buChar char="•"/>
            </a:pPr>
            <a:r>
              <a:rPr lang="en-US" sz="1100" b="1" dirty="0">
                <a:solidFill>
                  <a:schemeClr val="tx1"/>
                </a:solidFill>
                <a:latin typeface="Calibri" pitchFamily="34" charset="0"/>
                <a:ea typeface="Calibri" pitchFamily="34" charset="-122"/>
                <a:cs typeface="Calibri" pitchFamily="34" charset="-120"/>
              </a:rPr>
              <a:t>Fixed: </a:t>
            </a:r>
            <a:pPr indent="0" marL="0">
              <a:spcAft>
                <a:spcPts val="500"/>
              </a:spcAft>
              <a:buNone/>
            </a:pPr>
            <a:r>
              <a:rPr lang="en-US" sz="1100" dirty="0">
                <a:solidFill>
                  <a:schemeClr val="tx1"/>
                </a:solidFill>
                <a:latin typeface="Calibri" pitchFamily="34" charset="0"/>
                <a:ea typeface="Calibri" pitchFamily="34" charset="-122"/>
                <a:cs typeface="Calibri" pitchFamily="34" charset="-120"/>
              </a:rPr>
              <a:t>SCRUM-147 was Done but not in main. Reopened, moved to Iteration 3.</a:t>
            </a:r>
            <a:endParaRPr lang="en-US" sz="1100" dirty="0"/>
          </a:p>
          <a:p>
            <a:pPr marL="152400" indent="-152400">
              <a:spcAft>
                <a:spcPts val="500"/>
              </a:spcAft>
              <a:buSzPct val="100000"/>
              <a:buChar char="•"/>
            </a:pPr>
            <a:r>
              <a:rPr lang="en-US" sz="1100" b="1" dirty="0">
                <a:solidFill>
                  <a:schemeClr val="tx1"/>
                </a:solidFill>
                <a:latin typeface="Calibri" pitchFamily="34" charset="0"/>
                <a:ea typeface="Calibri" pitchFamily="34" charset="-122"/>
                <a:cs typeface="Calibri" pitchFamily="34" charset="-120"/>
              </a:rPr>
              <a:t>Fixed: </a:t>
            </a:r>
            <a:pPr indent="0" marL="0">
              <a:spcAft>
                <a:spcPts val="500"/>
              </a:spcAft>
              <a:buNone/>
            </a:pPr>
            <a:r>
              <a:rPr lang="en-US" sz="1100" dirty="0">
                <a:solidFill>
                  <a:schemeClr val="tx1"/>
                </a:solidFill>
                <a:latin typeface="Calibri" pitchFamily="34" charset="0"/>
                <a:ea typeface="Calibri" pitchFamily="34" charset="-122"/>
                <a:cs typeface="Calibri" pitchFamily="34" charset="-120"/>
              </a:rPr>
              <a:t>SCRUM-200 and 201 sat In Review though merged. Closed.</a:t>
            </a:r>
            <a:endParaRPr lang="en-US" sz="1100" dirty="0"/>
          </a:p>
          <a:p>
            <a:pPr marL="152400" indent="-152400">
              <a:spcAft>
                <a:spcPts val="500"/>
              </a:spcAft>
              <a:buSzPct val="100000"/>
              <a:buChar char="•"/>
            </a:pPr>
            <a:r>
              <a:rPr lang="en-US" sz="1100" b="1" dirty="0">
                <a:solidFill>
                  <a:schemeClr val="tx1"/>
                </a:solidFill>
                <a:latin typeface="Calibri" pitchFamily="34" charset="0"/>
                <a:ea typeface="Calibri" pitchFamily="34" charset="-122"/>
                <a:cs typeface="Calibri" pitchFamily="34" charset="-120"/>
              </a:rPr>
              <a:t>Open: </a:t>
            </a:r>
            <a:pPr indent="0" marL="0">
              <a:spcAft>
                <a:spcPts val="500"/>
              </a:spcAft>
              <a:buNone/>
            </a:pPr>
            <a:r>
              <a:rPr lang="en-US" sz="1100" dirty="0">
                <a:solidFill>
                  <a:schemeClr val="tx1"/>
                </a:solidFill>
                <a:latin typeface="Calibri" pitchFamily="34" charset="0"/>
                <a:ea typeface="Calibri" pitchFamily="34" charset="-122"/>
                <a:cs typeface="Calibri" pitchFamily="34" charset="-120"/>
              </a:rPr>
              <a:t>SCRUM-125 shows Done while SR-8 is open.</a:t>
            </a:r>
            <a:endParaRPr lang="en-US" sz="1100" dirty="0"/>
          </a:p>
          <a:p>
            <a:pPr marL="152400" indent="-152400">
              <a:spcAft>
                <a:spcPts val="500"/>
              </a:spcAft>
              <a:buSzPct val="100000"/>
              <a:buChar char="•"/>
            </a:pPr>
            <a:r>
              <a:rPr lang="en-US" sz="1100" b="1" dirty="0">
                <a:solidFill>
                  <a:schemeClr val="tx1"/>
                </a:solidFill>
                <a:latin typeface="Calibri" pitchFamily="34" charset="0"/>
                <a:ea typeface="Calibri" pitchFamily="34" charset="-122"/>
                <a:cs typeface="Calibri" pitchFamily="34" charset="-120"/>
              </a:rPr>
              <a:t>Open: </a:t>
            </a:r>
            <a:pPr indent="0" marL="0">
              <a:spcAft>
                <a:spcPts val="500"/>
              </a:spcAft>
              <a:buNone/>
            </a:pPr>
            <a:r>
              <a:rPr lang="en-US" sz="1100" dirty="0">
                <a:solidFill>
                  <a:schemeClr val="tx1"/>
                </a:solidFill>
                <a:latin typeface="Calibri" pitchFamily="34" charset="0"/>
                <a:ea typeface="Calibri" pitchFamily="34" charset="-122"/>
                <a:cs typeface="Calibri" pitchFamily="34" charset="-120"/>
              </a:rPr>
              <a:t>Iteration 1 stories carried into the Iteration 2 sprint.</a:t>
            </a:r>
            <a:endParaRPr lang="en-US" sz="1100" dirty="0"/>
          </a:p>
        </p:txBody>
      </p:sp>
      <p:sp>
        <p:nvSpPr>
          <p:cNvPr id="21" name="card"/>
          <p:cNvSpPr/>
          <p:nvPr/>
        </p:nvSpPr>
        <p:spPr>
          <a:xfrm>
            <a:off x="4663440" y="2011680"/>
            <a:ext cx="4023360" cy="2487168"/>
          </a:xfrm>
          <a:prstGeom prst="roundRect">
            <a:avLst>
              <a:gd name="adj" fmla="val 2206"/>
            </a:avLst>
          </a:prstGeom>
          <a:solidFill>
            <a:schemeClr val="bg1"/>
          </a:solidFill>
          <a:ln w="12700">
            <a:solidFill>
              <a:schemeClr val="bg1"/>
            </a:solidFill>
            <a:prstDash val="solid"/>
          </a:ln>
          <a:effectLst>
            <a:outerShdw sx="100000" sy="100000" kx="0" ky="0" algn="bl" rotWithShape="0" blurRad="76200" dist="19050" dir="5400000">
              <a:srgbClr val="1B2430">
                <a:alpha val="8000"/>
              </a:srgbClr>
            </a:outerShdw>
          </a:effectLst>
        </p:spPr>
      </p:sp>
      <p:sp>
        <p:nvSpPr>
          <p:cNvPr id="22" name="Text 20"/>
          <p:cNvSpPr txBox="1"/>
          <p:nvPr/>
        </p:nvSpPr>
        <p:spPr>
          <a:xfrm>
            <a:off x="4846320" y="2121408"/>
            <a:ext cx="3657600" cy="292608"/>
          </a:xfrm>
          <a:prstGeom prst="rect">
            <a:avLst/>
          </a:prstGeom>
          <a:noFill/>
          <a:ln/>
        </p:spPr>
        <p:txBody>
          <a:bodyPr wrap="square" lIns="0" tIns="0" rIns="0" bIns="0" rtlCol="0" anchor="t"/>
          <a:lstStyle/>
          <a:p>
            <a:pPr indent="0" marL="0">
              <a:buNone/>
            </a:pPr>
            <a:r>
              <a:rPr lang="en-US" sz="1400" b="1" dirty="0">
                <a:solidFill>
                  <a:schemeClr val="tx1"/>
                </a:solidFill>
                <a:latin typeface="Cambria" pitchFamily="34" charset="0"/>
                <a:ea typeface="Cambria" pitchFamily="34" charset="-122"/>
                <a:cs typeface="Cambria" pitchFamily="34" charset="-120"/>
              </a:rPr>
              <a:t>What we change</a:t>
            </a:r>
            <a:endParaRPr lang="en-US" sz="1400" dirty="0"/>
          </a:p>
        </p:txBody>
      </p:sp>
      <p:sp>
        <p:nvSpPr>
          <p:cNvPr id="23" name="Text 21"/>
          <p:cNvSpPr txBox="1"/>
          <p:nvPr/>
        </p:nvSpPr>
        <p:spPr>
          <a:xfrm>
            <a:off x="4846320" y="2468880"/>
            <a:ext cx="3657600" cy="196596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chemeClr val="tx1"/>
                </a:solidFill>
                <a:latin typeface="Calibri" pitchFamily="34" charset="0"/>
                <a:ea typeface="Calibri" pitchFamily="34" charset="-122"/>
                <a:cs typeface="Calibri" pitchFamily="34" charset="-120"/>
              </a:rPr>
              <a:t>A story is Done only when its PR is merged, and the PR is linked on the ticket.</a:t>
            </a:r>
            <a:endParaRPr lang="en-US" sz="1100" dirty="0"/>
          </a:p>
          <a:p>
            <a:pPr marL="152400" indent="-152400">
              <a:spcAft>
                <a:spcPts val="500"/>
              </a:spcAft>
              <a:buSzPct val="100000"/>
              <a:buChar char="•"/>
            </a:pPr>
            <a:r>
              <a:rPr lang="en-US" sz="1100" dirty="0">
                <a:solidFill>
                  <a:schemeClr val="tx1"/>
                </a:solidFill>
                <a:latin typeface="Calibri" pitchFamily="34" charset="0"/>
                <a:ea typeface="Calibri" pitchFamily="34" charset="-122"/>
                <a:cs typeface="Calibri" pitchFamily="34" charset="-120"/>
              </a:rPr>
              <a:t>Before every review, someone checks the board against main, not from memory.</a:t>
            </a:r>
            <a:endParaRPr lang="en-US" sz="1100" dirty="0"/>
          </a:p>
          <a:p>
            <a:pPr marL="152400" indent="-152400">
              <a:spcAft>
                <a:spcPts val="500"/>
              </a:spcAft>
              <a:buSzPct val="100000"/>
              <a:buChar char="•"/>
            </a:pPr>
            <a:r>
              <a:rPr lang="en-US" sz="1100" dirty="0">
                <a:solidFill>
                  <a:schemeClr val="tx1"/>
                </a:solidFill>
                <a:latin typeface="Calibri" pitchFamily="34" charset="0"/>
                <a:ea typeface="Calibri" pitchFamily="34" charset="-122"/>
                <a:cs typeface="Calibri" pitchFamily="34" charset="-120"/>
              </a:rPr>
              <a:t>Tasks get points at planning, so Iteration 3 velocity covers all the work.</a:t>
            </a:r>
            <a:endParaRPr lang="en-US" sz="1100" dirty="0"/>
          </a:p>
          <a:p>
            <a:pPr marL="152400" indent="-152400">
              <a:spcAft>
                <a:spcPts val="500"/>
              </a:spcAft>
              <a:buSzPct val="100000"/>
              <a:buChar char="•"/>
            </a:pPr>
            <a:r>
              <a:rPr lang="en-US" sz="1100" dirty="0">
                <a:solidFill>
                  <a:schemeClr val="tx1"/>
                </a:solidFill>
                <a:latin typeface="Calibri" pitchFamily="34" charset="0"/>
                <a:ea typeface="Calibri" pitchFamily="34" charset="-122"/>
                <a:cs typeface="Calibri" pitchFamily="34" charset="-120"/>
              </a:rPr>
              <a:t>Keep the Lab 3 habit: red and green commits for every acceptance test.</a:t>
            </a:r>
            <a:endParaRPr lang="en-US" sz="1100" dirty="0"/>
          </a:p>
        </p:txBody>
      </p:sp>
      <p:sp>
        <p:nvSpPr>
          <p:cNvPr id="25" name="Slide Number Placeholder 0"/>
          <p:cNvSpPr>
            <a:spLocks noGrp="1"/>
          </p:cNvSpPr>
          <p:nvPr>
            <p:ph type="sldNum" sz="quarter" idx="4294967295"/>
          </p:nvPr>
        </p:nvSpPr>
        <p:spPr>
          <a:xfrm>
            <a:off x="8458200" y="473659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badge"/>
          <p:cNvSpPr/>
          <p:nvPr/>
        </p:nvSpPr>
        <p:spPr>
          <a:xfrm>
            <a:off x="457200" y="411480"/>
            <a:ext cx="1737360" cy="292608"/>
          </a:xfrm>
          <a:prstGeom prst="roundRect">
            <a:avLst>
              <a:gd name="adj" fmla="val 50000"/>
            </a:avLst>
          </a:prstGeom>
          <a:solidFill>
            <a:schemeClr val="accent1"/>
          </a:solidFill>
          <a:ln>
            <a:solidFill>
              <a:schemeClr val="accent1"/>
            </a:solidFill>
          </a:ln>
        </p:spPr>
        <p:txBody>
          <a:bodyPr wrap="square" lIns="0" tIns="0" rIns="0" bIns="0" rtlCol="0" anchor="ctr"/>
          <a:lstStyle/>
          <a:p>
            <a:pPr algn="ctr" indent="0" marL="0">
              <a:buNone/>
            </a:pPr>
            <a:r>
              <a:rPr lang="en-US" sz="1000" b="1" dirty="0">
                <a:solidFill>
                  <a:schemeClr val="tx1"/>
                </a:solidFill>
                <a:latin typeface="Calibri" pitchFamily="34" charset="0"/>
                <a:ea typeface="Calibri" pitchFamily="34" charset="-122"/>
                <a:cs typeface="Calibri" pitchFamily="34" charset="-120"/>
              </a:rPr>
              <a:t>NEXT: ITERATION 3</a:t>
            </a:r>
            <a:endParaRPr lang="en-US" sz="1000" dirty="0"/>
          </a:p>
        </p:txBody>
      </p:sp>
      <p:sp>
        <p:nvSpPr>
          <p:cNvPr id="3" name="Text 0"/>
          <p:cNvSpPr/>
          <p:nvPr>
            <p:ph idx="100" type="title" hasCustomPrompt="1"/>
          </p:nvPr>
        </p:nvSpPr>
        <p:spPr>
          <a:xfrm>
            <a:off x="457200" y="777240"/>
            <a:ext cx="8229600" cy="548640"/>
          </a:xfrm>
          <a:prstGeom prst="rect">
            <a:avLst/>
          </a:prstGeom>
          <a:noFill/>
          <a:ln/>
        </p:spPr>
        <p:txBody>
          <a:bodyPr wrap="square" lIns="0" tIns="0" rIns="0" bIns="0" rtlCol="0" anchor="ctr"/>
          <a:lstStyle/>
          <a:p>
            <a:pPr algn="l" indent="0" marL="0">
              <a:buNone/>
            </a:pPr>
            <a:r>
              <a:rPr lang="en-US" sz="2600" b="1" dirty="0">
                <a:solidFill>
                  <a:schemeClr val="bg1"/>
                </a:solidFill>
                <a:latin typeface="Cambria" pitchFamily="34" charset="0"/>
                <a:ea typeface="Cambria" pitchFamily="34" charset="-122"/>
                <a:cs typeface="Cambria" pitchFamily="34" charset="-120"/>
              </a:rPr>
              <a:t>What we take into the final iteration</a:t>
            </a:r>
            <a:endParaRPr lang="en-US" sz="2600" dirty="0"/>
          </a:p>
        </p:txBody>
      </p:sp>
      <p:sp>
        <p:nvSpPr>
          <p:cNvPr id="4" name="card"/>
          <p:cNvSpPr/>
          <p:nvPr/>
        </p:nvSpPr>
        <p:spPr>
          <a:xfrm>
            <a:off x="457200" y="1600200"/>
            <a:ext cx="1965960" cy="1463040"/>
          </a:xfrm>
          <a:prstGeom prst="roundRect">
            <a:avLst>
              <a:gd name="adj" fmla="val 3750"/>
            </a:avLst>
          </a:prstGeom>
          <a:solidFill>
            <a:schemeClr val="tx2"/>
          </a:solidFill>
          <a:ln w="12700">
            <a:solidFill>
              <a:schemeClr val="tx2"/>
            </a:solidFill>
            <a:prstDash val="solid"/>
          </a:ln>
        </p:spPr>
      </p:sp>
      <p:sp>
        <p:nvSpPr>
          <p:cNvPr id="5" name="Text 3"/>
          <p:cNvSpPr txBox="1"/>
          <p:nvPr/>
        </p:nvSpPr>
        <p:spPr>
          <a:xfrm>
            <a:off x="603504" y="1737360"/>
            <a:ext cx="1691640" cy="274320"/>
          </a:xfrm>
          <a:prstGeom prst="rect">
            <a:avLst/>
          </a:prstGeom>
          <a:noFill/>
          <a:ln/>
        </p:spPr>
        <p:txBody>
          <a:bodyPr wrap="square" lIns="0" tIns="0" rIns="0" bIns="0" rtlCol="0" anchor="t"/>
          <a:lstStyle/>
          <a:p>
            <a:pPr indent="0" marL="0">
              <a:buNone/>
            </a:pPr>
            <a:r>
              <a:rPr lang="en-US" sz="1250" b="1" dirty="0">
                <a:solidFill>
                  <a:schemeClr val="accent1"/>
                </a:solidFill>
                <a:latin typeface="Calibri" pitchFamily="34" charset="0"/>
                <a:ea typeface="Calibri" pitchFamily="34" charset="-122"/>
                <a:cs typeface="Calibri" pitchFamily="34" charset="-120"/>
              </a:rPr>
              <a:t>Finish SR-8</a:t>
            </a:r>
            <a:endParaRPr lang="en-US" sz="1250" dirty="0"/>
          </a:p>
        </p:txBody>
      </p:sp>
      <p:sp>
        <p:nvSpPr>
          <p:cNvPr id="6" name="Text 4"/>
          <p:cNvSpPr txBox="1"/>
          <p:nvPr/>
        </p:nvSpPr>
        <p:spPr>
          <a:xfrm>
            <a:off x="603504" y="2084832"/>
            <a:ext cx="1691640" cy="914400"/>
          </a:xfrm>
          <a:prstGeom prst="rect">
            <a:avLst/>
          </a:prstGeom>
          <a:noFill/>
          <a:ln/>
        </p:spPr>
        <p:txBody>
          <a:bodyPr wrap="square" lIns="0" tIns="0" rIns="0" bIns="0" rtlCol="0" anchor="t"/>
          <a:lstStyle/>
          <a:p>
            <a:pPr indent="0" marL="0">
              <a:buNone/>
            </a:pPr>
            <a:r>
              <a:rPr lang="en-US" sz="1050" dirty="0">
                <a:solidFill>
                  <a:schemeClr val="bg1"/>
                </a:solidFill>
                <a:latin typeface="Calibri" pitchFamily="34" charset="0"/>
                <a:ea typeface="Calibri" pitchFamily="34" charset="-122"/>
                <a:cs typeface="Calibri" pitchFamily="34" charset="-120"/>
              </a:rPr>
              <a:t>Apply the insert-only audit role on Atlas and turn the skipped test on</a:t>
            </a:r>
            <a:endParaRPr lang="en-US" sz="1050" dirty="0"/>
          </a:p>
        </p:txBody>
      </p:sp>
      <p:sp>
        <p:nvSpPr>
          <p:cNvPr id="7" name="card"/>
          <p:cNvSpPr/>
          <p:nvPr/>
        </p:nvSpPr>
        <p:spPr>
          <a:xfrm>
            <a:off x="2551176" y="1600200"/>
            <a:ext cx="1965960" cy="1463040"/>
          </a:xfrm>
          <a:prstGeom prst="roundRect">
            <a:avLst>
              <a:gd name="adj" fmla="val 3750"/>
            </a:avLst>
          </a:prstGeom>
          <a:solidFill>
            <a:schemeClr val="tx2"/>
          </a:solidFill>
          <a:ln w="12700">
            <a:solidFill>
              <a:schemeClr val="tx2"/>
            </a:solidFill>
            <a:prstDash val="solid"/>
          </a:ln>
        </p:spPr>
      </p:sp>
      <p:sp>
        <p:nvSpPr>
          <p:cNvPr id="8" name="Text 6"/>
          <p:cNvSpPr txBox="1"/>
          <p:nvPr/>
        </p:nvSpPr>
        <p:spPr>
          <a:xfrm>
            <a:off x="2697480" y="1737360"/>
            <a:ext cx="1691640" cy="274320"/>
          </a:xfrm>
          <a:prstGeom prst="rect">
            <a:avLst/>
          </a:prstGeom>
          <a:noFill/>
          <a:ln/>
        </p:spPr>
        <p:txBody>
          <a:bodyPr wrap="square" lIns="0" tIns="0" rIns="0" bIns="0" rtlCol="0" anchor="t"/>
          <a:lstStyle/>
          <a:p>
            <a:pPr indent="0" marL="0">
              <a:buNone/>
            </a:pPr>
            <a:r>
              <a:rPr lang="en-US" sz="1250" b="1" dirty="0">
                <a:solidFill>
                  <a:schemeClr val="accent1"/>
                </a:solidFill>
                <a:latin typeface="Calibri" pitchFamily="34" charset="0"/>
                <a:ea typeface="Calibri" pitchFamily="34" charset="-122"/>
                <a:cs typeface="Calibri" pitchFamily="34" charset="-120"/>
              </a:rPr>
              <a:t>Semantic search</a:t>
            </a:r>
            <a:endParaRPr lang="en-US" sz="1250" dirty="0"/>
          </a:p>
        </p:txBody>
      </p:sp>
      <p:sp>
        <p:nvSpPr>
          <p:cNvPr id="9" name="Text 7"/>
          <p:cNvSpPr txBox="1"/>
          <p:nvPr/>
        </p:nvSpPr>
        <p:spPr>
          <a:xfrm>
            <a:off x="2697480" y="2084832"/>
            <a:ext cx="1691640" cy="914400"/>
          </a:xfrm>
          <a:prstGeom prst="rect">
            <a:avLst/>
          </a:prstGeom>
          <a:noFill/>
          <a:ln/>
        </p:spPr>
        <p:txBody>
          <a:bodyPr wrap="square" lIns="0" tIns="0" rIns="0" bIns="0" rtlCol="0" anchor="t"/>
          <a:lstStyle/>
          <a:p>
            <a:pPr indent="0" marL="0">
              <a:buNone/>
            </a:pPr>
            <a:r>
              <a:rPr lang="en-US" sz="1050" dirty="0">
                <a:solidFill>
                  <a:schemeClr val="bg1"/>
                </a:solidFill>
                <a:latin typeface="Calibri" pitchFamily="34" charset="0"/>
                <a:ea typeface="Calibri" pitchFamily="34" charset="-122"/>
                <a:cs typeface="Calibri" pitchFamily="34" charset="-120"/>
              </a:rPr>
              <a:t>SCRUM-147 vector retrieval, plus SCRUM-206 telemetry without query text</a:t>
            </a:r>
            <a:endParaRPr lang="en-US" sz="1050" dirty="0"/>
          </a:p>
        </p:txBody>
      </p:sp>
      <p:sp>
        <p:nvSpPr>
          <p:cNvPr id="10" name="card"/>
          <p:cNvSpPr/>
          <p:nvPr/>
        </p:nvSpPr>
        <p:spPr>
          <a:xfrm>
            <a:off x="4645152" y="1600200"/>
            <a:ext cx="1965960" cy="1463040"/>
          </a:xfrm>
          <a:prstGeom prst="roundRect">
            <a:avLst>
              <a:gd name="adj" fmla="val 3750"/>
            </a:avLst>
          </a:prstGeom>
          <a:solidFill>
            <a:schemeClr val="tx2"/>
          </a:solidFill>
          <a:ln w="12700">
            <a:solidFill>
              <a:schemeClr val="tx2"/>
            </a:solidFill>
            <a:prstDash val="solid"/>
          </a:ln>
        </p:spPr>
      </p:sp>
      <p:sp>
        <p:nvSpPr>
          <p:cNvPr id="11" name="Text 9"/>
          <p:cNvSpPr txBox="1"/>
          <p:nvPr/>
        </p:nvSpPr>
        <p:spPr>
          <a:xfrm>
            <a:off x="4791456" y="1737360"/>
            <a:ext cx="1691640" cy="274320"/>
          </a:xfrm>
          <a:prstGeom prst="rect">
            <a:avLst/>
          </a:prstGeom>
          <a:noFill/>
          <a:ln/>
        </p:spPr>
        <p:txBody>
          <a:bodyPr wrap="square" lIns="0" tIns="0" rIns="0" bIns="0" rtlCol="0" anchor="t"/>
          <a:lstStyle/>
          <a:p>
            <a:pPr indent="0" marL="0">
              <a:buNone/>
            </a:pPr>
            <a:r>
              <a:rPr lang="en-US" sz="1250" b="1" dirty="0">
                <a:solidFill>
                  <a:schemeClr val="accent1"/>
                </a:solidFill>
                <a:latin typeface="Calibri" pitchFamily="34" charset="0"/>
                <a:ea typeface="Calibri" pitchFamily="34" charset="-122"/>
                <a:cs typeface="Calibri" pitchFamily="34" charset="-120"/>
              </a:rPr>
              <a:t>Optional AI features</a:t>
            </a:r>
            <a:endParaRPr lang="en-US" sz="1250" dirty="0"/>
          </a:p>
        </p:txBody>
      </p:sp>
      <p:sp>
        <p:nvSpPr>
          <p:cNvPr id="12" name="Text 10"/>
          <p:cNvSpPr txBox="1"/>
          <p:nvPr/>
        </p:nvSpPr>
        <p:spPr>
          <a:xfrm>
            <a:off x="4791456" y="2084832"/>
            <a:ext cx="1691640" cy="914400"/>
          </a:xfrm>
          <a:prstGeom prst="rect">
            <a:avLst/>
          </a:prstGeom>
          <a:noFill/>
          <a:ln/>
        </p:spPr>
        <p:txBody>
          <a:bodyPr wrap="square" lIns="0" tIns="0" rIns="0" bIns="0" rtlCol="0" anchor="t"/>
          <a:lstStyle/>
          <a:p>
            <a:pPr indent="0" marL="0">
              <a:buNone/>
            </a:pPr>
            <a:r>
              <a:rPr lang="en-US" sz="1050" dirty="0">
                <a:solidFill>
                  <a:schemeClr val="bg1"/>
                </a:solidFill>
                <a:latin typeface="Calibri" pitchFamily="34" charset="0"/>
                <a:ea typeface="Calibri" pitchFamily="34" charset="-122"/>
                <a:cs typeface="Calibri" pitchFamily="34" charset="-120"/>
              </a:rPr>
              <a:t>Borrower reliability from audit history, as planned in the SPPP</a:t>
            </a:r>
            <a:endParaRPr lang="en-US" sz="1050" dirty="0"/>
          </a:p>
        </p:txBody>
      </p:sp>
      <p:sp>
        <p:nvSpPr>
          <p:cNvPr id="13" name="card"/>
          <p:cNvSpPr/>
          <p:nvPr/>
        </p:nvSpPr>
        <p:spPr>
          <a:xfrm>
            <a:off x="6739128" y="1600200"/>
            <a:ext cx="1965960" cy="1463040"/>
          </a:xfrm>
          <a:prstGeom prst="roundRect">
            <a:avLst>
              <a:gd name="adj" fmla="val 3750"/>
            </a:avLst>
          </a:prstGeom>
          <a:solidFill>
            <a:schemeClr val="tx2"/>
          </a:solidFill>
          <a:ln w="12700">
            <a:solidFill>
              <a:schemeClr val="tx2"/>
            </a:solidFill>
            <a:prstDash val="solid"/>
          </a:ln>
        </p:spPr>
      </p:sp>
      <p:sp>
        <p:nvSpPr>
          <p:cNvPr id="14" name="Text 12"/>
          <p:cNvSpPr txBox="1"/>
          <p:nvPr/>
        </p:nvSpPr>
        <p:spPr>
          <a:xfrm>
            <a:off x="6885432" y="1737360"/>
            <a:ext cx="1691640" cy="274320"/>
          </a:xfrm>
          <a:prstGeom prst="rect">
            <a:avLst/>
          </a:prstGeom>
          <a:noFill/>
          <a:ln/>
        </p:spPr>
        <p:txBody>
          <a:bodyPr wrap="square" lIns="0" tIns="0" rIns="0" bIns="0" rtlCol="0" anchor="t"/>
          <a:lstStyle/>
          <a:p>
            <a:pPr indent="0" marL="0">
              <a:buNone/>
            </a:pPr>
            <a:r>
              <a:rPr lang="en-US" sz="1250" b="1" dirty="0">
                <a:solidFill>
                  <a:schemeClr val="accent1"/>
                </a:solidFill>
                <a:latin typeface="Calibri" pitchFamily="34" charset="0"/>
                <a:ea typeface="Calibri" pitchFamily="34" charset="-122"/>
                <a:cs typeface="Calibri" pitchFamily="34" charset="-120"/>
              </a:rPr>
              <a:t>Close the loose ends</a:t>
            </a:r>
            <a:endParaRPr lang="en-US" sz="1250" dirty="0"/>
          </a:p>
        </p:txBody>
      </p:sp>
      <p:sp>
        <p:nvSpPr>
          <p:cNvPr id="15" name="Text 13"/>
          <p:cNvSpPr txBox="1"/>
          <p:nvPr/>
        </p:nvSpPr>
        <p:spPr>
          <a:xfrm>
            <a:off x="6885432" y="2084832"/>
            <a:ext cx="1691640" cy="914400"/>
          </a:xfrm>
          <a:prstGeom prst="rect">
            <a:avLst/>
          </a:prstGeom>
          <a:noFill/>
          <a:ln/>
        </p:spPr>
        <p:txBody>
          <a:bodyPr wrap="square" lIns="0" tIns="0" rIns="0" bIns="0" rtlCol="0" anchor="t"/>
          <a:lstStyle/>
          <a:p>
            <a:pPr indent="0" marL="0">
              <a:buNone/>
            </a:pPr>
            <a:r>
              <a:rPr lang="en-US" sz="1050" dirty="0">
                <a:solidFill>
                  <a:schemeClr val="bg1"/>
                </a:solidFill>
                <a:latin typeface="Calibri" pitchFamily="34" charset="0"/>
                <a:ea typeface="Calibri" pitchFamily="34" charset="-122"/>
                <a:cs typeface="Calibri" pitchFamily="34" charset="-120"/>
              </a:rPr>
              <a:t>Release-tag triggers, frontend build in CI, the two partial manual tests</a:t>
            </a:r>
            <a:endParaRPr lang="en-US" sz="1050" dirty="0"/>
          </a:p>
        </p:txBody>
      </p:sp>
      <p:sp>
        <p:nvSpPr>
          <p:cNvPr id="16" name="Text 14"/>
          <p:cNvSpPr txBox="1"/>
          <p:nvPr/>
        </p:nvSpPr>
        <p:spPr>
          <a:xfrm>
            <a:off x="457200" y="3383280"/>
            <a:ext cx="3200400" cy="228600"/>
          </a:xfrm>
          <a:prstGeom prst="rect">
            <a:avLst/>
          </a:prstGeom>
          <a:noFill/>
          <a:ln/>
        </p:spPr>
        <p:txBody>
          <a:bodyPr wrap="square" lIns="0" tIns="0" rIns="0" bIns="0" rtlCol="0" anchor="t"/>
          <a:lstStyle/>
          <a:p>
            <a:pPr indent="0" marL="0">
              <a:buNone/>
            </a:pPr>
            <a:r>
              <a:rPr lang="en-US" sz="1000" b="1" dirty="0">
                <a:solidFill>
                  <a:schemeClr val="accent1"/>
                </a:solidFill>
                <a:latin typeface="Calibri" pitchFamily="34" charset="0"/>
                <a:ea typeface="Calibri" pitchFamily="34" charset="-122"/>
                <a:cs typeface="Calibri" pitchFamily="34" charset="-120"/>
              </a:rPr>
              <a:t>Repository</a:t>
            </a:r>
            <a:endParaRPr lang="en-US" sz="1000" dirty="0"/>
          </a:p>
        </p:txBody>
      </p:sp>
      <p:sp>
        <p:nvSpPr>
          <p:cNvPr id="17" name="Text 15"/>
          <p:cNvSpPr txBox="1"/>
          <p:nvPr/>
        </p:nvSpPr>
        <p:spPr>
          <a:xfrm>
            <a:off x="457200" y="3611880"/>
            <a:ext cx="4114800" cy="256032"/>
          </a:xfrm>
          <a:prstGeom prst="rect">
            <a:avLst/>
          </a:prstGeom>
          <a:noFill/>
          <a:ln/>
        </p:spPr>
        <p:txBody>
          <a:bodyPr wrap="square" lIns="0" tIns="0" rIns="0" bIns="0" rtlCol="0" anchor="t"/>
          <a:lstStyle/>
          <a:p>
            <a:pPr indent="0" marL="0">
              <a:buNone/>
            </a:pPr>
            <a:r>
              <a:rPr lang="en-US" sz="1200" dirty="0">
                <a:solidFill>
                  <a:schemeClr val="bg1"/>
                </a:solidFill>
                <a:latin typeface="Calibri" pitchFamily="34" charset="0"/>
                <a:ea typeface="Calibri" pitchFamily="34" charset="-122"/>
                <a:cs typeface="Calibri" pitchFamily="34" charset="-120"/>
              </a:rPr>
              <a:t>github.com/BUMETCS673/CS673OLF26P3</a:t>
            </a:r>
            <a:endParaRPr lang="en-US" sz="1200" dirty="0"/>
          </a:p>
        </p:txBody>
      </p:sp>
      <p:sp>
        <p:nvSpPr>
          <p:cNvPr id="18" name="Text 16"/>
          <p:cNvSpPr txBox="1"/>
          <p:nvPr/>
        </p:nvSpPr>
        <p:spPr>
          <a:xfrm>
            <a:off x="4572000" y="3383280"/>
            <a:ext cx="3200400" cy="228600"/>
          </a:xfrm>
          <a:prstGeom prst="rect">
            <a:avLst/>
          </a:prstGeom>
          <a:noFill/>
          <a:ln/>
        </p:spPr>
        <p:txBody>
          <a:bodyPr wrap="square" lIns="0" tIns="0" rIns="0" bIns="0" rtlCol="0" anchor="t"/>
          <a:lstStyle/>
          <a:p>
            <a:pPr indent="0" marL="0">
              <a:buNone/>
            </a:pPr>
            <a:r>
              <a:rPr lang="en-US" sz="1000" b="1" dirty="0">
                <a:solidFill>
                  <a:schemeClr val="accent1"/>
                </a:solidFill>
                <a:latin typeface="Calibri" pitchFamily="34" charset="0"/>
                <a:ea typeface="Calibri" pitchFamily="34" charset="-122"/>
                <a:cs typeface="Calibri" pitchFamily="34" charset="-120"/>
              </a:rPr>
              <a:t>Staging</a:t>
            </a:r>
            <a:endParaRPr lang="en-US" sz="1000" dirty="0"/>
          </a:p>
        </p:txBody>
      </p:sp>
      <p:sp>
        <p:nvSpPr>
          <p:cNvPr id="19" name="Text 17"/>
          <p:cNvSpPr txBox="1"/>
          <p:nvPr/>
        </p:nvSpPr>
        <p:spPr>
          <a:xfrm>
            <a:off x="4572000" y="3611880"/>
            <a:ext cx="4114800" cy="256032"/>
          </a:xfrm>
          <a:prstGeom prst="rect">
            <a:avLst/>
          </a:prstGeom>
          <a:noFill/>
          <a:ln/>
        </p:spPr>
        <p:txBody>
          <a:bodyPr wrap="square" lIns="0" tIns="0" rIns="0" bIns="0" rtlCol="0" anchor="t"/>
          <a:lstStyle/>
          <a:p>
            <a:pPr indent="0" marL="0">
              <a:buNone/>
            </a:pPr>
            <a:r>
              <a:rPr lang="en-US" sz="1200" dirty="0">
                <a:solidFill>
                  <a:schemeClr val="bg1"/>
                </a:solidFill>
                <a:latin typeface="Calibri" pitchFamily="34" charset="0"/>
                <a:ea typeface="Calibri" pitchFamily="34" charset="-122"/>
                <a:cs typeface="Calibri" pitchFamily="34" charset="-120"/>
              </a:rPr>
              <a:t>safe-drop-five.vercel.app</a:t>
            </a:r>
            <a:endParaRPr lang="en-US" sz="1200" dirty="0"/>
          </a:p>
        </p:txBody>
      </p:sp>
      <p:sp>
        <p:nvSpPr>
          <p:cNvPr id="20" name="Text 18"/>
          <p:cNvSpPr txBox="1"/>
          <p:nvPr/>
        </p:nvSpPr>
        <p:spPr>
          <a:xfrm>
            <a:off x="457200" y="4206240"/>
            <a:ext cx="8229600" cy="274320"/>
          </a:xfrm>
          <a:prstGeom prst="rect">
            <a:avLst/>
          </a:prstGeom>
          <a:noFill/>
          <a:ln/>
        </p:spPr>
        <p:txBody>
          <a:bodyPr wrap="square" lIns="0" tIns="0" rIns="0" bIns="0" rtlCol="0" anchor="t"/>
          <a:lstStyle/>
          <a:p>
            <a:pPr indent="0" marL="0">
              <a:buNone/>
            </a:pPr>
            <a:r>
              <a:rPr lang="en-US" sz="1300" i="1" dirty="0">
                <a:solidFill>
                  <a:schemeClr val="accent6"/>
                </a:solidFill>
                <a:latin typeface="Calibri" pitchFamily="34" charset="0"/>
                <a:ea typeface="Calibri" pitchFamily="34" charset="-122"/>
                <a:cs typeface="Calibri" pitchFamily="34" charset="-120"/>
              </a:rPr>
              <a:t>Thank you — questions welcome in the discussion thread.</a:t>
            </a:r>
            <a:endParaRPr lang="en-US" sz="1300" dirty="0"/>
          </a:p>
        </p:txBody>
      </p:sp>
    </p:spTree>
  </p:cSld>
  <p:clrMapOvr>
    <a:masterClrMapping/>
  </p:clrMapOvr>
</p:sld>
</file>

<file path=ppt/theme/theme1.xml><?xml version="1.0" encoding="utf-8"?>
<a:theme xmlns:a="http://schemas.openxmlformats.org/drawingml/2006/main" name="SafeDrop Iteration">
  <a:themeElements>
    <a:clrScheme name="SafeDrop Iteration">
      <a:dk1>
        <a:srgbClr val="1B2430"/>
      </a:dk1>
      <a:lt1>
        <a:srgbClr val="FFFFFF"/>
      </a:lt1>
      <a:dk2>
        <a:srgbClr val="2E3F57"/>
      </a:dk2>
      <a:lt2>
        <a:srgbClr val="F4F6F8"/>
      </a:lt2>
      <a:accent1>
        <a:srgbClr val="E0A458"/>
      </a:accent1>
      <a:accent2>
        <a:srgbClr val="2F7D75"/>
      </a:accent2>
      <a:accent3>
        <a:srgbClr val="A8763A"/>
      </a:accent3>
      <a:accent4>
        <a:srgbClr val="B5473A"/>
      </a:accent4>
      <a:accent5>
        <a:srgbClr val="5A6674"/>
      </a:accent5>
      <a:accent6>
        <a:srgbClr val="C9D2DC"/>
      </a:accent6>
      <a:hlink>
        <a:srgbClr val="2F7D75"/>
      </a:hlink>
      <a:folHlink>
        <a:srgbClr val="A8763A"/>
      </a:folHlink>
    </a:clrScheme>
    <a:fontScheme name="SafeDrop Itera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SafeDrop - Iteration 2 Review</dc:title>
  <dc:subject>PptxGenJS Presentation</dc:subject>
  <dc:creator>Team 3</dc:creator>
  <cp:lastModifiedBy>Team 3</cp:lastModifiedBy>
  <cp:revision>1</cp:revision>
  <dcterms:created xsi:type="dcterms:W3CDTF">2026-10-05T20:29:58Z</dcterms:created>
  <dcterms:modified xsi:type="dcterms:W3CDTF">2026-10-05T20:29:58Z</dcterms:modified>
</cp:coreProperties>
</file>